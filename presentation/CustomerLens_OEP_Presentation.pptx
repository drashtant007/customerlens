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7A6B69D-7FD6-EC33-BF79-44BDE2EE5624}">
          <p14:sldIdLst>
            <p14:sldId id="256"/>
            <p14:sldId id="257"/>
            <p14:sldId id="258"/>
          </p14:sldIdLst>
        </p14:section>
        <p14:section name="Data" id="{77DE3797-B47E-A1FD-495C-553B3119DFB2}">
          <p14:sldIdLst>
            <p14:sldId id="259"/>
            <p14:sldId id="260"/>
          </p14:sldIdLst>
        </p14:section>
        <p14:section name="Method" id="{09164FA8-D4C9-7A0B-C2B9-14DD8A8CD293}">
          <p14:sldIdLst>
            <p14:sldId id="261"/>
            <p14:sldId id="262"/>
          </p14:sldIdLst>
        </p14:section>
        <p14:section name="Results" id="{2C0BC0F2-DB90-DFC7-F245-41925DBF300B}">
          <p14:sldIdLst>
            <p14:sldId id="263"/>
            <p14:sldId id="264"/>
            <p14:sldId id="265"/>
            <p14:sldId id="266"/>
          </p14:sldIdLst>
        </p14:section>
        <p14:section name="Interpretation" id="{52652EE3-ADEB-F29E-B977-EF1675EA035C}">
          <p14:sldIdLst>
            <p14:sldId id="267"/>
          </p14:sldIdLst>
        </p14:section>
        <p14:section name="Application" id="{0FC7CBFF-0E27-8438-7024-B1E982FDED1C}">
          <p14:sldIdLst>
            <p14:sldId id="268"/>
            <p14:sldId id="269"/>
          </p14:sldIdLst>
        </p14:section>
        <p14:section name="Validation" id="{40825F12-93C3-6146-96F1-3996D6820989}">
          <p14:sldIdLst>
            <p14:sldId id="270"/>
          </p14:sldIdLst>
        </p14:section>
        <p14:section name="Conclusion" id="{1F326629-93D2-CFB8-9935-940E5D6B0FCC}">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1396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CustomerLens segments 200 mall customers with K-Means and K-Medoids (PAM) using Annual Income and Spending Score, selects K with several validity measures, and exposes the validated results through a Streamlit app and a React dashboard. The picture is the real K-Means result from the project. The department is inferred from the 'CO' code in the faculty template footer; the division should be confirmed before submission.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 segmentation divides customers into groups with similar characteristics. The dataset has no class labels, so this is an unsupervised problem — clustering is the appropriate tool. CustomerLens uses two features, Annual Income and Spending Score, so results can be visualised in 2D. The segments are descriptive interpretations of cluster characteristics, not ground-truth categories, and the system does not predict future behaviour.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nine objectives map directly onto the OEP task list: preprocessing, clustering, K-Means, K-Medoids, the Elbow/bend-in-the-knee analysis for K, and the 2D Income vs Spending Score scatter plot colour-coded by cluster. We additionally added cluster profiling, algorithm comparison and interactive analytics.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uses the Mall Customer Segmentation dataset: 200 customers, five columns. There are no missing values and no duplicates. Annual Income and Spending Score are the clustering features; CustomerID is only an identifier and is excluded, while Gender and Age are kept to profile the clusters afterwards. Important caveat: Spending Score is a behavioural score supplied by the dataset, not raw expenditure.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quality: no missing values and no duplicate IDs. We keep only Annual Income and Spending Score for clustering. Because K-Means and K-Medoids are distance based, we standardise with StandardScaler so both features contribute comparably. There is no train/test split because clustering is unsupervised. The heatmap shows income and spending are essentially uncorrelated (0.01), so any structure is non-linear grouping, which is exactly what clustering can find. Age has a mild negative correlation (-0.33) with spending score.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pipeline left to right, top row then bottom row. The key design choice is that both algorithms use the same standardised Income/Spending matrix, the same candidate range K=2..10 and the same validity measures, so the comparison is fair. The dashboard only displays validated outputs exported from the Python pipeline.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evaluated K from 2 to 10 for both algorithms. Silhouette measures how well each point fits its own cluster compared with the nearest other cluster — higher is better. Davies-Bouldin measures average similarity between each cluster and its most similar cluster — lower is better. Both measures agree on K=5 for both algorithms. The right-hand plot is the elbow-style curve: K-Means inertia is a sum of squared distances, K-Medoids cost is a sum of distances to medoids, so the two curves are different objectives and must not be compared as the same quantity. The elbow alone does not prove K=5; the multiple measures together do. The Davies-Bouldin values in the table come from the project's optimal-K result files.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required OEP visualisation: Annual Income on x, Spending Score on y, points coloured by K-Means cluster, with centroids as black crosses. Colours in the legend match the dots in the plot. The five groups: top-right is high income and high spending; top-left is low income and high spending; the centre is moderate on both; bottom-right is high income but low spending; bottom-left is low on both. Names are descriptive interpretations, not ground truth. Clustering was done on standardised data; the plot is drawn in original units.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K-Medoids uses actual data points, medoids, as cluster representatives, so it is less sensitive to extreme values than a mean-based centroid. We implemented PAM with NumPy on a pairwise Euclidean distance matrix of the standardised features: BUILD picks initial medoids greedily, SWAP improves them. The medoids for K=5 are real customers with IDs 81, 162, 177, 16 and 25. The medoid cost (100.72) is a sum of distances, whereas K-Means inertia (65.57) is a sum of squared distances — different objectives, so they are not compared. Cluster numbering is independent of K-Means numbering.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actual cluster statistics from final_business_segment_profile.csv. Income is in thousands of dollars; spending is the dataset's 1-100 behavioural score. Cluster IDs are arbitrary identifiers; the labels are descriptive names we gave based on where each cluster's averages lie. Note that cluster 0 averages 55.3 income and 49.5 spending, close to the overall means (60.6 and 50.2), which is why we call it Balanced / Moderate.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Silhouette: higher is better; K-Medoids 0.5562 vs K-Means 0.5547. Davies-Bouldin: lower is better; K-Medoids 0.5661 vs K-Means 0.5722. Both differences are small, so the right conclusion is that the algorithms give very similar segmentations in this experiment, not that one is universally better. ARI 0.9597 compares the two partitions with each other; it is not accuracy because there are no ground-truth labels. The contingency table shows that only three customers (K-Means clusters 2 and 4, boundary customers with IDs 41, 43 and 46) are grouped differently. Runtime: the recorded values are 0.164474 s and 0.076011 s in the project's own run; K-Means was configured with 20 restarts, the PAM timing excludes the pairwise distance-matrix computation, and the numbers depend on implementation and hardware. We do not claim K-Medoids is faster in general. Inertia and medoid cost are different objectives and are not compared.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Segment names come from the project's final_business_segment_profile.csv and the React Business Insights page. They describe where each cluster's average income and spending score lies; they are not ground truth. The suggested actions come from segment_business_insights.csv and are hypotheses a business could test, not validated results. Spending Score is a behavioural score supplied by the dataset, so 'high-spending' means high score, not measured expenditure. Note: the Streamlit app's Business Insights page uses a simpler four-way naming rule relative to dataset means; the five labels shown here are the ones used in the project's exported results and React dashboard.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React dashboard has seven pages: Overview, Data Quality, Optimal K, Cluster Explorer, Algorithm Comparison, Business Insights and Customer Explorer. It reads a JSON file exported by export_frontend_data.py from the validated Python artifacts, so what you see is the same data as in the report. A Streamlit app (app.py) provides the same seven sections and also lets a hypothetical customer be assigned to the nearest existing cluster. These are screenshots from the project; the tiles are cropped views for readability.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dashboard pages shown at a readable size. The Optimal K page plots silhouette, Davies-Bouldin, K-Means inertia and K-Medoids cost for K = 2 to 10. The Algorithm Comparison page compares both algorithms on the same measures. Screenshots are cropped from the project's own captures.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project's recorded validation status is: 8 automated pytest tests passed, the React frontend builds, and ESLint passes. The tests check dataset size, the two clustering features, absence of missing values, K=5, the K-Means model's cluster count, the K-Medoids artifact's medoid count, and that both algorithms can assign every customer to one of five clusters. They validate the setup, not clustering quality — quality is judged with Silhouette, Davies-Bouldin and ARI.</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achievements, then state the limitations honestly: 200 customers, two features, a behavioural score rather than expenditure, interpretive labels, runtime numbers specific to one implementation. Future scope items are only proposals — none of them is implemented in this project.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LIDE">
    <p:bg>
      <p:bgPr>
        <a:solidFill>
          <a:srgbClr val="F6F7F9"/>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6F7F9"/>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64240" cy="777240"/>
          </a:xfrm>
          <a:prstGeom prst="rect">
            <a:avLst/>
          </a:prstGeom>
          <a:noFill/>
          <a:ln/>
        </p:spPr>
        <p:txBody>
          <a:bodyPr wrap="square" rtlCol="0"/>
          <a:lstStyle>
            <a:lvl1pPr marL="0" indent="0">
              <a:buNone/>
              <a:defRPr lang="en-US" sz="3200" b="1" dirty="0">
                <a:solidFill>
                  <a:srgbClr val="1F2937"/>
                </a:solidFill>
                <a:latin typeface="Cambria" pitchFamily="34" charset="0"/>
                <a:ea typeface="Cambria" pitchFamily="34" charset="-122"/>
                <a:cs typeface="Cambria" pitchFamily="34" charset="-120"/>
              </a:defRPr>
            </a:lvl1pPr>
          </a:lstStyle>
          <a:p>
            <a:pPr marL="0" indent="0">
              <a:buNone/>
            </a:pPr>
            <a:endParaRPr lang="en-US" sz="3200" dirty="0"/>
          </a:p>
        </p:txBody>
      </p:sp>
      <p:sp>
        <p:nvSpPr>
          <p:cNvPr id="3" name="Text 0"/>
          <p:cNvSpPr/>
          <p:nvPr/>
        </p:nvSpPr>
        <p:spPr>
          <a:xfrm>
            <a:off x="548640" y="6446520"/>
            <a:ext cx="7315200" cy="274320"/>
          </a:xfrm>
          <a:prstGeom prst="rect">
            <a:avLst/>
          </a:prstGeom>
          <a:noFill/>
          <a:ln/>
        </p:spPr>
        <p:txBody>
          <a:bodyPr wrap="square" lIns="0" tIns="0" rIns="0" bIns="0" rtlCol="0" anchor="ctr"/>
          <a:lstStyle/>
          <a:p>
            <a:pPr marL="0" indent="0">
              <a:buNone/>
            </a:pPr>
            <a:r>
              <a:rPr lang="en-US" sz="1000" dirty="0">
                <a:solidFill>
                  <a:srgbClr val="7A8599"/>
                </a:solidFill>
                <a:latin typeface="Calibri" pitchFamily="34" charset="0"/>
                <a:ea typeface="Calibri" pitchFamily="34" charset="-122"/>
                <a:cs typeface="Calibri" pitchFamily="34" charset="-120"/>
              </a:rPr>
              <a:t>CustomerLens  •  DMDW OEP  •  SCET, Sarvajanik University</a:t>
            </a:r>
            <a:endParaRPr lang="en-US" sz="10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8599"/>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8599"/>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502920"/>
            <a:ext cx="7315200" cy="274320"/>
          </a:xfrm>
          <a:prstGeom prst="rect">
            <a:avLst/>
          </a:prstGeom>
          <a:noFill/>
          <a:ln/>
        </p:spPr>
        <p:txBody>
          <a:bodyPr wrap="square" lIns="0" tIns="0" rIns="0" bIns="0" rtlCol="0" anchor="t"/>
          <a:lstStyle/>
          <a:p>
            <a:pPr marL="0" indent="0">
              <a:buNone/>
            </a:pPr>
            <a:r>
              <a:rPr lang="en-US" sz="1300" b="1" kern="0" spc="200" dirty="0">
                <a:solidFill>
                  <a:srgbClr val="2F5D8C"/>
                </a:solidFill>
                <a:latin typeface="Calibri" pitchFamily="34" charset="0"/>
                <a:ea typeface="Calibri" pitchFamily="34" charset="-122"/>
                <a:cs typeface="Calibri" pitchFamily="34" charset="-120"/>
              </a:rPr>
              <a:t>OPEN ENDED PROJECT  •  DATA MINING AND DATA WAREHOUSING</a:t>
            </a:r>
            <a:endParaRPr lang="en-US" sz="1300" dirty="0"/>
          </a:p>
        </p:txBody>
      </p:sp>
      <p:sp>
        <p:nvSpPr>
          <p:cNvPr id="3" name="Text 1"/>
          <p:cNvSpPr txBox="1"/>
          <p:nvPr/>
        </p:nvSpPr>
        <p:spPr>
          <a:xfrm>
            <a:off x="640080" y="960120"/>
            <a:ext cx="6583680" cy="1005840"/>
          </a:xfrm>
          <a:prstGeom prst="rect">
            <a:avLst/>
          </a:prstGeom>
          <a:noFill/>
          <a:ln/>
        </p:spPr>
        <p:txBody>
          <a:bodyPr wrap="square" lIns="0" tIns="0" rIns="0" bIns="0" rtlCol="0" anchor="t"/>
          <a:lstStyle/>
          <a:p>
            <a:pPr marL="0" indent="0">
              <a:buNone/>
            </a:pPr>
            <a:r>
              <a:rPr lang="en-US" sz="6000" b="1" dirty="0">
                <a:solidFill>
                  <a:srgbClr val="1F2937"/>
                </a:solidFill>
                <a:latin typeface="Cambria" pitchFamily="34" charset="0"/>
                <a:ea typeface="Cambria" pitchFamily="34" charset="-122"/>
                <a:cs typeface="Cambria" pitchFamily="34" charset="-120"/>
              </a:rPr>
              <a:t>CustomerLens</a:t>
            </a:r>
            <a:endParaRPr lang="en-US" sz="6000" dirty="0"/>
          </a:p>
        </p:txBody>
      </p:sp>
      <p:sp>
        <p:nvSpPr>
          <p:cNvPr id="4" name="Text 2"/>
          <p:cNvSpPr txBox="1"/>
          <p:nvPr/>
        </p:nvSpPr>
        <p:spPr>
          <a:xfrm>
            <a:off x="640080" y="2103120"/>
            <a:ext cx="6309360" cy="1097280"/>
          </a:xfrm>
          <a:prstGeom prst="rect">
            <a:avLst/>
          </a:prstGeom>
          <a:noFill/>
          <a:ln/>
        </p:spPr>
        <p:txBody>
          <a:bodyPr wrap="square" lIns="0" tIns="0" rIns="0" bIns="0" rtlCol="0" anchor="t"/>
          <a:lstStyle/>
          <a:p>
            <a:pPr marL="0" indent="0">
              <a:buNone/>
            </a:pPr>
            <a:r>
              <a:rPr lang="en-US" sz="2600" dirty="0">
                <a:solidFill>
                  <a:srgbClr val="1F2937"/>
                </a:solidFill>
                <a:latin typeface="Cambria" pitchFamily="34" charset="0"/>
                <a:ea typeface="Cambria" pitchFamily="34" charset="-122"/>
                <a:cs typeface="Cambria" pitchFamily="34" charset="-120"/>
              </a:rPr>
              <a:t>Customer Segmentation Using K-Means and K-Medoids Clustering</a:t>
            </a:r>
            <a:endParaRPr lang="en-US" sz="2600" dirty="0"/>
          </a:p>
        </p:txBody>
      </p:sp>
      <p:sp>
        <p:nvSpPr>
          <p:cNvPr id="5" name="Text 3"/>
          <p:cNvSpPr txBox="1"/>
          <p:nvPr/>
        </p:nvSpPr>
        <p:spPr>
          <a:xfrm>
            <a:off x="640080" y="3246120"/>
            <a:ext cx="6309360" cy="365760"/>
          </a:xfrm>
          <a:prstGeom prst="rect">
            <a:avLst/>
          </a:prstGeom>
          <a:noFill/>
          <a:ln/>
        </p:spPr>
        <p:txBody>
          <a:bodyPr wrap="square" lIns="0" tIns="0" rIns="0" bIns="0" rtlCol="0" anchor="t"/>
          <a:lstStyle/>
          <a:p>
            <a:pPr marL="0" indent="0">
              <a:buNone/>
            </a:pPr>
            <a:r>
              <a:rPr lang="en-US" sz="1800" dirty="0">
                <a:solidFill>
                  <a:srgbClr val="5B6678"/>
                </a:solidFill>
                <a:latin typeface="Calibri" pitchFamily="34" charset="0"/>
                <a:ea typeface="Calibri" pitchFamily="34" charset="-122"/>
                <a:cs typeface="Calibri" pitchFamily="34" charset="-120"/>
              </a:rPr>
              <a:t>with Optimal-K Selection and Interactive Analytics</a:t>
            </a:r>
            <a:endParaRPr lang="en-US" sz="1800" dirty="0"/>
          </a:p>
        </p:txBody>
      </p:sp>
      <p:sp>
        <p:nvSpPr>
          <p:cNvPr id="6" name="Text 4"/>
          <p:cNvSpPr txBox="1"/>
          <p:nvPr/>
        </p:nvSpPr>
        <p:spPr>
          <a:xfrm>
            <a:off x="640080" y="3886200"/>
            <a:ext cx="6400800" cy="1188720"/>
          </a:xfrm>
          <a:prstGeom prst="rect">
            <a:avLst/>
          </a:prstGeom>
          <a:noFill/>
          <a:ln/>
        </p:spPr>
        <p:txBody>
          <a:bodyPr wrap="square" lIns="0" tIns="0" rIns="0" bIns="0" rtlCol="0" anchor="t"/>
          <a:lstStyle/>
          <a:p>
            <a:pPr marL="0" indent="0">
              <a:spcAft>
                <a:spcPts val="400"/>
              </a:spcAft>
              <a:buNone/>
            </a:pPr>
            <a:r>
              <a:rPr lang="en-US" sz="1400" b="1" dirty="0">
                <a:solidFill>
                  <a:srgbClr val="5B6678"/>
                </a:solidFill>
                <a:latin typeface="Calibri" pitchFamily="34" charset="0"/>
                <a:ea typeface="Calibri" pitchFamily="34" charset="-122"/>
                <a:cs typeface="Calibri" pitchFamily="34" charset="-120"/>
              </a:rPr>
              <a:t>Subject: </a:t>
            </a:r>
            <a:r>
              <a:rPr lang="en-US" sz="1400" dirty="0">
                <a:solidFill>
                  <a:srgbClr val="1F2937"/>
                </a:solidFill>
                <a:latin typeface="Calibri" pitchFamily="34" charset="0"/>
                <a:ea typeface="Calibri" pitchFamily="34" charset="-122"/>
                <a:cs typeface="Calibri" pitchFamily="34" charset="-120"/>
              </a:rPr>
              <a:t>Data Mining and Data Warehousing (BTCO14505)</a:t>
            </a:r>
            <a:endParaRPr lang="en-US" sz="1400" dirty="0"/>
          </a:p>
          <a:p>
            <a:pPr marL="0" indent="0">
              <a:spcAft>
                <a:spcPts val="400"/>
              </a:spcAft>
              <a:buNone/>
            </a:pPr>
            <a:r>
              <a:rPr lang="en-US" sz="1400" b="1" dirty="0">
                <a:solidFill>
                  <a:srgbClr val="5B6678"/>
                </a:solidFill>
                <a:latin typeface="Calibri" pitchFamily="34" charset="0"/>
                <a:ea typeface="Calibri" pitchFamily="34" charset="-122"/>
                <a:cs typeface="Calibri" pitchFamily="34" charset="-120"/>
              </a:rPr>
              <a:t>Department: </a:t>
            </a:r>
            <a:r>
              <a:rPr lang="en-US" sz="1400" dirty="0">
                <a:solidFill>
                  <a:srgbClr val="1F2937"/>
                </a:solidFill>
                <a:latin typeface="Calibri" pitchFamily="34" charset="0"/>
                <a:ea typeface="Calibri" pitchFamily="34" charset="-122"/>
                <a:cs typeface="Calibri" pitchFamily="34" charset="-120"/>
              </a:rPr>
              <a:t>Computer Engineering</a:t>
            </a:r>
            <a:endParaRPr lang="en-US" sz="1400" dirty="0"/>
          </a:p>
          <a:p>
            <a:pPr marL="0" indent="0">
              <a:spcAft>
                <a:spcPts val="400"/>
              </a:spcAft>
              <a:buNone/>
            </a:pPr>
            <a:r>
              <a:rPr lang="en-US" sz="1400" b="1" dirty="0">
                <a:solidFill>
                  <a:srgbClr val="5B6678"/>
                </a:solidFill>
                <a:latin typeface="Calibri" pitchFamily="34" charset="0"/>
                <a:ea typeface="Calibri" pitchFamily="34" charset="-122"/>
                <a:cs typeface="Calibri" pitchFamily="34" charset="-120"/>
              </a:rPr>
              <a:t>Institute: </a:t>
            </a:r>
            <a:r>
              <a:rPr lang="en-US" sz="1400" dirty="0">
                <a:solidFill>
                  <a:srgbClr val="1F2937"/>
                </a:solidFill>
                <a:latin typeface="Calibri" pitchFamily="34" charset="0"/>
                <a:ea typeface="Calibri" pitchFamily="34" charset="-122"/>
                <a:cs typeface="Calibri" pitchFamily="34" charset="-120"/>
              </a:rPr>
              <a:t>Sarvajanik College of Engineering &amp; Technology (SCET), Sarvajanik University, Surat</a:t>
            </a:r>
            <a:endParaRPr lang="en-US" sz="1400" dirty="0"/>
          </a:p>
          <a:p>
            <a:pPr marL="0" indent="0">
              <a:spcAft>
                <a:spcPts val="400"/>
              </a:spcAft>
              <a:buNone/>
            </a:pPr>
            <a:r>
              <a:rPr lang="en-US" sz="1400" b="1" dirty="0">
                <a:solidFill>
                  <a:srgbClr val="5B6678"/>
                </a:solidFill>
                <a:latin typeface="Calibri" pitchFamily="34" charset="0"/>
                <a:ea typeface="Calibri" pitchFamily="34" charset="-122"/>
                <a:cs typeface="Calibri" pitchFamily="34" charset="-120"/>
              </a:rPr>
              <a:t>Class: </a:t>
            </a:r>
            <a:r>
              <a:rPr lang="en-US" sz="1400" dirty="0">
                <a:solidFill>
                  <a:srgbClr val="1F2937"/>
                </a:solidFill>
                <a:latin typeface="Calibri" pitchFamily="34" charset="0"/>
                <a:ea typeface="Calibri" pitchFamily="34" charset="-122"/>
                <a:cs typeface="Calibri" pitchFamily="34" charset="-120"/>
              </a:rPr>
              <a:t>B.Tech Semester V  •  Div III  •  2026–27</a:t>
            </a:r>
            <a:endParaRPr lang="en-US" sz="1400" dirty="0"/>
          </a:p>
        </p:txBody>
      </p:sp>
      <p:sp>
        <p:nvSpPr>
          <p:cNvPr id="7" name="Text 5"/>
          <p:cNvSpPr txBox="1"/>
          <p:nvPr/>
        </p:nvSpPr>
        <p:spPr>
          <a:xfrm>
            <a:off x="7360920" y="4526280"/>
            <a:ext cx="4297680" cy="1737360"/>
          </a:xfrm>
          <a:prstGeom prst="rect">
            <a:avLst/>
          </a:prstGeom>
          <a:noFill/>
          <a:ln/>
        </p:spPr>
        <p:txBody>
          <a:bodyPr wrap="square" lIns="0" tIns="0" rIns="0" bIns="0" rtlCol="0" anchor="t"/>
          <a:lstStyle/>
          <a:p>
            <a:pPr marL="0" indent="0">
              <a:spcAft>
                <a:spcPts val="200"/>
              </a:spcAft>
              <a:buNone/>
            </a:pPr>
            <a:r>
              <a:rPr lang="en-US" sz="1300" b="1" dirty="0">
                <a:solidFill>
                  <a:srgbClr val="2F5D8C"/>
                </a:solidFill>
                <a:latin typeface="Calibri" pitchFamily="34" charset="0"/>
                <a:ea typeface="Calibri" pitchFamily="34" charset="-122"/>
                <a:cs typeface="Calibri" pitchFamily="34" charset="-120"/>
              </a:rPr>
              <a:t>Team</a:t>
            </a:r>
            <a:endParaRPr lang="en-US" sz="1300" dirty="0"/>
          </a:p>
          <a:p>
            <a:pPr marL="0" indent="0">
              <a:spcAft>
                <a:spcPts val="200"/>
              </a:spcAft>
              <a:buNone/>
            </a:pPr>
            <a:r>
              <a:rPr lang="en-US" sz="1300" dirty="0">
                <a:solidFill>
                  <a:srgbClr val="1F2937"/>
                </a:solidFill>
                <a:latin typeface="Calibri" pitchFamily="34" charset="0"/>
                <a:ea typeface="Calibri" pitchFamily="34" charset="-122"/>
                <a:cs typeface="Calibri" pitchFamily="34" charset="-120"/>
              </a:rPr>
              <a:t>Mevada Drashtant Pareshkumar (ET24BTCO176)</a:t>
            </a:r>
            <a:endParaRPr lang="en-US" sz="1300" dirty="0"/>
          </a:p>
          <a:p>
            <a:pPr marL="0" indent="0">
              <a:spcAft>
                <a:spcPts val="200"/>
              </a:spcAft>
              <a:buNone/>
            </a:pPr>
            <a:r>
              <a:rPr lang="en-US" sz="1300" dirty="0">
                <a:solidFill>
                  <a:srgbClr val="1F2937"/>
                </a:solidFill>
                <a:latin typeface="Calibri" pitchFamily="34" charset="0"/>
                <a:ea typeface="Calibri" pitchFamily="34" charset="-122"/>
                <a:cs typeface="Calibri" pitchFamily="34" charset="-120"/>
              </a:rPr>
              <a:t>Nirav Panwala (ET24BTCO181)</a:t>
            </a:r>
            <a:endParaRPr lang="en-US" sz="1300" dirty="0"/>
          </a:p>
          <a:p>
            <a:pPr marL="0" indent="0">
              <a:spcAft>
                <a:spcPts val="200"/>
              </a:spcAft>
              <a:buNone/>
            </a:pPr>
            <a:r>
              <a:rPr lang="en-US" sz="1300" dirty="0">
                <a:solidFill>
                  <a:srgbClr val="1F2937"/>
                </a:solidFill>
                <a:latin typeface="Calibri" pitchFamily="34" charset="0"/>
                <a:ea typeface="Calibri" pitchFamily="34" charset="-122"/>
                <a:cs typeface="Calibri" pitchFamily="34" charset="-120"/>
              </a:rPr>
              <a:t>Priyanshu Makani (ET24BTCO170)</a:t>
            </a:r>
            <a:endParaRPr lang="en-US" sz="1300" dirty="0"/>
          </a:p>
          <a:p>
            <a:pPr marL="0" indent="0">
              <a:spcAft>
                <a:spcPts val="200"/>
              </a:spcAft>
              <a:buNone/>
            </a:pPr>
            <a:r>
              <a:rPr lang="en-US" sz="1300" dirty="0">
                <a:solidFill>
                  <a:srgbClr val="1F2937"/>
                </a:solidFill>
                <a:latin typeface="Calibri" pitchFamily="34" charset="0"/>
                <a:ea typeface="Calibri" pitchFamily="34" charset="-122"/>
                <a:cs typeface="Calibri" pitchFamily="34" charset="-120"/>
              </a:rPr>
              <a:t>Merit Patel (ET24BTCO185)</a:t>
            </a:r>
            <a:endParaRPr lang="en-US" sz="1300" dirty="0"/>
          </a:p>
          <a:p>
            <a:pPr marL="0" indent="0">
              <a:spcAft>
                <a:spcPts val="200"/>
              </a:spcAft>
              <a:buNone/>
            </a:pPr>
            <a:r>
              <a:rPr lang="en-US" sz="1300" dirty="0">
                <a:solidFill>
                  <a:srgbClr val="1F2937"/>
                </a:solidFill>
                <a:latin typeface="Calibri" pitchFamily="34" charset="0"/>
                <a:ea typeface="Calibri" pitchFamily="34" charset="-122"/>
                <a:cs typeface="Calibri" pitchFamily="34" charset="-120"/>
              </a:rPr>
              <a:t>Heet Sutariya (ET24BTCO204)</a:t>
            </a:r>
            <a:endParaRPr lang="en-US" sz="1300" dirty="0"/>
          </a:p>
        </p:txBody>
      </p:sp>
      <p:sp>
        <p:nvSpPr>
          <p:cNvPr id="8" name="image-card"/>
          <p:cNvSpPr/>
          <p:nvPr/>
        </p:nvSpPr>
        <p:spPr>
          <a:xfrm>
            <a:off x="7360920" y="1005840"/>
            <a:ext cx="4297680" cy="2898648"/>
          </a:xfrm>
          <a:prstGeom prst="roundRect">
            <a:avLst>
              <a:gd name="adj" fmla="val 946"/>
            </a:avLst>
          </a:prstGeom>
          <a:solidFill>
            <a:srgbClr val="FFFFFF"/>
          </a:solidFill>
          <a:ln w="9525">
            <a:solidFill>
              <a:srgbClr val="D3DAE5"/>
            </a:solidFill>
            <a:prstDash val="solid"/>
          </a:ln>
        </p:spPr>
      </p:sp>
      <p:pic>
        <p:nvPicPr>
          <p:cNvPr id="9" name="Image 0" descr="K-Means segmentation of 200 customers, Income vs Spending Score, K=5"/>
          <p:cNvPicPr>
            <a:picLocks noChangeAspect="1"/>
          </p:cNvPicPr>
          <p:nvPr/>
        </p:nvPicPr>
        <p:blipFill>
          <a:blip r:embed="rId3"/>
          <a:stretch>
            <a:fillRect/>
          </a:stretch>
        </p:blipFill>
        <p:spPr>
          <a:xfrm>
            <a:off x="7424928" y="1051560"/>
            <a:ext cx="4169664" cy="2642616"/>
          </a:xfrm>
          <a:prstGeom prst="rect">
            <a:avLst/>
          </a:prstGeom>
        </p:spPr>
      </p:pic>
      <p:sp>
        <p:nvSpPr>
          <p:cNvPr id="10" name="Text 7"/>
          <p:cNvSpPr txBox="1"/>
          <p:nvPr/>
        </p:nvSpPr>
        <p:spPr>
          <a:xfrm>
            <a:off x="7360920" y="4023360"/>
            <a:ext cx="4297680" cy="457200"/>
          </a:xfrm>
          <a:prstGeom prst="rect">
            <a:avLst/>
          </a:prstGeom>
          <a:noFill/>
          <a:ln/>
        </p:spPr>
        <p:txBody>
          <a:bodyPr wrap="square" lIns="0" tIns="0" rIns="0" bIns="0" rtlCol="0" anchor="t"/>
          <a:lstStyle/>
          <a:p>
            <a:pPr marL="0" indent="0" algn="ctr">
              <a:buNone/>
            </a:pPr>
            <a:r>
              <a:rPr lang="en-US" sz="1200" dirty="0">
                <a:solidFill>
                  <a:srgbClr val="5B6678"/>
                </a:solidFill>
                <a:latin typeface="Calibri" pitchFamily="34" charset="0"/>
                <a:ea typeface="Calibri" pitchFamily="34" charset="-122"/>
                <a:cs typeface="Calibri" pitchFamily="34" charset="-120"/>
              </a:rPr>
              <a:t>Actual K-Means result: 200 customers, K = 5, Annual Income vs Spending Score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64240" cy="777240"/>
          </a:xfrm>
          <a:prstGeom prst="rect">
            <a:avLst/>
          </a:prstGeom>
          <a:noFill/>
          <a:ln/>
        </p:spPr>
        <p:txBody>
          <a:bodyPr wrap="square" lIns="0" tIns="0" rIns="0" bIns="0" rtlCol="0" anchor="ctr"/>
          <a:lstStyle/>
          <a:p>
            <a:pPr marL="0" indent="0">
              <a:buNone/>
            </a:pPr>
            <a:r>
              <a:rPr lang="en-US" sz="3200" b="1" dirty="0">
                <a:solidFill>
                  <a:srgbClr val="1F2937"/>
                </a:solidFill>
                <a:latin typeface="Cambria" pitchFamily="34" charset="0"/>
                <a:ea typeface="Cambria" pitchFamily="34" charset="-122"/>
                <a:cs typeface="Cambria" pitchFamily="34" charset="-120"/>
              </a:rPr>
              <a:t>Problem Statement</a:t>
            </a:r>
            <a:endParaRPr lang="en-US" sz="3200" dirty="0"/>
          </a:p>
        </p:txBody>
      </p:sp>
      <p:sp>
        <p:nvSpPr>
          <p:cNvPr id="3" name="card"/>
          <p:cNvSpPr/>
          <p:nvPr/>
        </p:nvSpPr>
        <p:spPr>
          <a:xfrm>
            <a:off x="548640" y="1417320"/>
            <a:ext cx="3611880" cy="3703320"/>
          </a:xfrm>
          <a:prstGeom prst="roundRect">
            <a:avLst>
              <a:gd name="adj" fmla="val 1013"/>
            </a:avLst>
          </a:prstGeom>
          <a:solidFill>
            <a:srgbClr val="FFFFFF"/>
          </a:solidFill>
          <a:ln w="9525">
            <a:solidFill>
              <a:srgbClr val="D3DAE5"/>
            </a:solidFill>
            <a:prstDash val="solid"/>
          </a:ln>
        </p:spPr>
      </p:sp>
      <p:sp>
        <p:nvSpPr>
          <p:cNvPr id="4" name="Shape 2"/>
          <p:cNvSpPr/>
          <p:nvPr/>
        </p:nvSpPr>
        <p:spPr>
          <a:xfrm>
            <a:off x="822960" y="1691640"/>
            <a:ext cx="640080" cy="640080"/>
          </a:xfrm>
          <a:prstGeom prst="ellipse">
            <a:avLst/>
          </a:prstGeom>
          <a:solidFill>
            <a:srgbClr val="EDF1F7"/>
          </a:solidFill>
          <a:ln w="9525">
            <a:solidFill>
              <a:srgbClr val="D3DAE5"/>
            </a:solidFill>
            <a:prstDash val="solid"/>
          </a:ln>
        </p:spPr>
      </p:sp>
      <p:pic>
        <p:nvPicPr>
          <p:cNvPr id="5" name="Image 0" descr="Why segment customers?"/>
          <p:cNvPicPr>
            <a:picLocks noChangeAspect="1"/>
          </p:cNvPicPr>
          <p:nvPr/>
        </p:nvPicPr>
        <p:blipFill>
          <a:blip r:embed="rId3"/>
          <a:stretch>
            <a:fillRect/>
          </a:stretch>
        </p:blipFill>
        <p:spPr>
          <a:xfrm>
            <a:off x="969264" y="1837944"/>
            <a:ext cx="347472" cy="347472"/>
          </a:xfrm>
          <a:prstGeom prst="rect">
            <a:avLst/>
          </a:prstGeom>
        </p:spPr>
      </p:pic>
      <p:sp>
        <p:nvSpPr>
          <p:cNvPr id="6" name="Text 3"/>
          <p:cNvSpPr txBox="1"/>
          <p:nvPr/>
        </p:nvSpPr>
        <p:spPr>
          <a:xfrm>
            <a:off x="822960" y="2560320"/>
            <a:ext cx="3108960" cy="411480"/>
          </a:xfrm>
          <a:prstGeom prst="rect">
            <a:avLst/>
          </a:prstGeom>
          <a:noFill/>
          <a:ln/>
        </p:spPr>
        <p:txBody>
          <a:bodyPr wrap="square" lIns="0" tIns="0" rIns="0" bIns="0" rtlCol="0" anchor="t"/>
          <a:lstStyle/>
          <a:p>
            <a:pPr marL="0" indent="0">
              <a:buNone/>
            </a:pPr>
            <a:r>
              <a:rPr lang="en-US" sz="2000" b="1" dirty="0">
                <a:solidFill>
                  <a:srgbClr val="1F2937"/>
                </a:solidFill>
                <a:latin typeface="Cambria" pitchFamily="34" charset="0"/>
                <a:ea typeface="Cambria" pitchFamily="34" charset="-122"/>
                <a:cs typeface="Cambria" pitchFamily="34" charset="-120"/>
              </a:rPr>
              <a:t>Why segment customers?</a:t>
            </a:r>
            <a:endParaRPr lang="en-US" sz="2000" dirty="0"/>
          </a:p>
        </p:txBody>
      </p:sp>
      <p:sp>
        <p:nvSpPr>
          <p:cNvPr id="7" name="Text 4"/>
          <p:cNvSpPr txBox="1"/>
          <p:nvPr/>
        </p:nvSpPr>
        <p:spPr>
          <a:xfrm>
            <a:off x="822960" y="3108960"/>
            <a:ext cx="3108960" cy="19202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374151"/>
                </a:solidFill>
                <a:latin typeface="Calibri" pitchFamily="34" charset="0"/>
                <a:ea typeface="Calibri" pitchFamily="34" charset="-122"/>
                <a:cs typeface="Calibri" pitchFamily="34" charset="-120"/>
              </a:rPr>
              <a:t>Customers differ in income and engagement</a:t>
            </a:r>
            <a:endParaRPr lang="en-US" sz="1400" dirty="0"/>
          </a:p>
          <a:p>
            <a:pPr marL="342900" indent="-342900">
              <a:spcAft>
                <a:spcPts val="600"/>
              </a:spcAft>
              <a:buSzPct val="100000"/>
              <a:buChar char="•"/>
            </a:pPr>
            <a:r>
              <a:rPr lang="en-US" sz="1400" dirty="0">
                <a:solidFill>
                  <a:srgbClr val="374151"/>
                </a:solidFill>
                <a:latin typeface="Calibri" pitchFamily="34" charset="0"/>
                <a:ea typeface="Calibri" pitchFamily="34" charset="-122"/>
                <a:cs typeface="Calibri" pitchFamily="34" charset="-120"/>
              </a:rPr>
              <a:t>Treating everyone as one group hides useful structure</a:t>
            </a:r>
            <a:endParaRPr lang="en-US" sz="1400" dirty="0"/>
          </a:p>
          <a:p>
            <a:pPr marL="342900" indent="-342900">
              <a:spcAft>
                <a:spcPts val="600"/>
              </a:spcAft>
              <a:buSzPct val="100000"/>
              <a:buChar char="•"/>
            </a:pPr>
            <a:r>
              <a:rPr lang="en-US" sz="1400" dirty="0">
                <a:solidFill>
                  <a:srgbClr val="374151"/>
                </a:solidFill>
                <a:latin typeface="Calibri" pitchFamily="34" charset="0"/>
                <a:ea typeface="Calibri" pitchFamily="34" charset="-122"/>
                <a:cs typeface="Calibri" pitchFamily="34" charset="-120"/>
              </a:rPr>
              <a:t>Segments make behaviour easier to interpret</a:t>
            </a:r>
            <a:endParaRPr lang="en-US" sz="1400" dirty="0"/>
          </a:p>
        </p:txBody>
      </p:sp>
      <p:sp>
        <p:nvSpPr>
          <p:cNvPr id="8" name="card"/>
          <p:cNvSpPr/>
          <p:nvPr/>
        </p:nvSpPr>
        <p:spPr>
          <a:xfrm>
            <a:off x="4343400" y="1417320"/>
            <a:ext cx="3611880" cy="3703320"/>
          </a:xfrm>
          <a:prstGeom prst="roundRect">
            <a:avLst>
              <a:gd name="adj" fmla="val 1013"/>
            </a:avLst>
          </a:prstGeom>
          <a:solidFill>
            <a:srgbClr val="FFFFFF"/>
          </a:solidFill>
          <a:ln w="9525">
            <a:solidFill>
              <a:srgbClr val="D3DAE5"/>
            </a:solidFill>
            <a:prstDash val="solid"/>
          </a:ln>
        </p:spPr>
      </p:sp>
      <p:sp>
        <p:nvSpPr>
          <p:cNvPr id="9" name="Shape 6"/>
          <p:cNvSpPr/>
          <p:nvPr/>
        </p:nvSpPr>
        <p:spPr>
          <a:xfrm>
            <a:off x="4617720" y="1691640"/>
            <a:ext cx="640080" cy="640080"/>
          </a:xfrm>
          <a:prstGeom prst="ellipse">
            <a:avLst/>
          </a:prstGeom>
          <a:solidFill>
            <a:srgbClr val="EDF1F7"/>
          </a:solidFill>
          <a:ln w="9525">
            <a:solidFill>
              <a:srgbClr val="D3DAE5"/>
            </a:solidFill>
            <a:prstDash val="solid"/>
          </a:ln>
        </p:spPr>
      </p:sp>
      <p:pic>
        <p:nvPicPr>
          <p:cNvPr id="10" name="Image 1" descr="Why use clustering?"/>
          <p:cNvPicPr>
            <a:picLocks noChangeAspect="1"/>
          </p:cNvPicPr>
          <p:nvPr/>
        </p:nvPicPr>
        <p:blipFill>
          <a:blip r:embed="rId4"/>
          <a:stretch>
            <a:fillRect/>
          </a:stretch>
        </p:blipFill>
        <p:spPr>
          <a:xfrm>
            <a:off x="4764024" y="1837944"/>
            <a:ext cx="347472" cy="347472"/>
          </a:xfrm>
          <a:prstGeom prst="rect">
            <a:avLst/>
          </a:prstGeom>
        </p:spPr>
      </p:pic>
      <p:sp>
        <p:nvSpPr>
          <p:cNvPr id="11" name="Text 7"/>
          <p:cNvSpPr txBox="1"/>
          <p:nvPr/>
        </p:nvSpPr>
        <p:spPr>
          <a:xfrm>
            <a:off x="4617720" y="2560320"/>
            <a:ext cx="3108960" cy="411480"/>
          </a:xfrm>
          <a:prstGeom prst="rect">
            <a:avLst/>
          </a:prstGeom>
          <a:noFill/>
          <a:ln/>
        </p:spPr>
        <p:txBody>
          <a:bodyPr wrap="square" lIns="0" tIns="0" rIns="0" bIns="0" rtlCol="0" anchor="t"/>
          <a:lstStyle/>
          <a:p>
            <a:pPr marL="0" indent="0">
              <a:buNone/>
            </a:pPr>
            <a:r>
              <a:rPr lang="en-US" sz="2000" b="1" dirty="0">
                <a:solidFill>
                  <a:srgbClr val="1F2937"/>
                </a:solidFill>
                <a:latin typeface="Cambria" pitchFamily="34" charset="0"/>
                <a:ea typeface="Cambria" pitchFamily="34" charset="-122"/>
                <a:cs typeface="Cambria" pitchFamily="34" charset="-120"/>
              </a:rPr>
              <a:t>Why use clustering?</a:t>
            </a:r>
            <a:endParaRPr lang="en-US" sz="2000" dirty="0"/>
          </a:p>
        </p:txBody>
      </p:sp>
      <p:sp>
        <p:nvSpPr>
          <p:cNvPr id="12" name="Text 8"/>
          <p:cNvSpPr txBox="1"/>
          <p:nvPr/>
        </p:nvSpPr>
        <p:spPr>
          <a:xfrm>
            <a:off x="4617720" y="3108960"/>
            <a:ext cx="3108960" cy="19202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374151"/>
                </a:solidFill>
                <a:latin typeface="Calibri" pitchFamily="34" charset="0"/>
                <a:ea typeface="Calibri" pitchFamily="34" charset="-122"/>
                <a:cs typeface="Calibri" pitchFamily="34" charset="-120"/>
              </a:rPr>
              <a:t>The data has no predefined customer categories</a:t>
            </a:r>
            <a:endParaRPr lang="en-US" sz="1400" dirty="0"/>
          </a:p>
          <a:p>
            <a:pPr marL="342900" indent="-342900">
              <a:spcAft>
                <a:spcPts val="600"/>
              </a:spcAft>
              <a:buSzPct val="100000"/>
              <a:buChar char="•"/>
            </a:pPr>
            <a:r>
              <a:rPr lang="en-US" sz="1400" dirty="0">
                <a:solidFill>
                  <a:srgbClr val="374151"/>
                </a:solidFill>
                <a:latin typeface="Calibri" pitchFamily="34" charset="0"/>
                <a:ea typeface="Calibri" pitchFamily="34" charset="-122"/>
                <a:cs typeface="Calibri" pitchFamily="34" charset="-120"/>
              </a:rPr>
              <a:t>Clustering finds groups from feature similarity</a:t>
            </a:r>
            <a:endParaRPr lang="en-US" sz="1400" dirty="0"/>
          </a:p>
          <a:p>
            <a:pPr marL="342900" indent="-342900">
              <a:spcAft>
                <a:spcPts val="600"/>
              </a:spcAft>
              <a:buSzPct val="100000"/>
              <a:buChar char="•"/>
            </a:pPr>
            <a:r>
              <a:rPr lang="en-US" sz="1400" dirty="0">
                <a:solidFill>
                  <a:srgbClr val="374151"/>
                </a:solidFill>
                <a:latin typeface="Calibri" pitchFamily="34" charset="0"/>
                <a:ea typeface="Calibri" pitchFamily="34" charset="-122"/>
                <a:cs typeface="Calibri" pitchFamily="34" charset="-120"/>
              </a:rPr>
              <a:t>K-Means (centroids) and K-Medoids (real data points)</a:t>
            </a:r>
            <a:endParaRPr lang="en-US" sz="1400" dirty="0"/>
          </a:p>
        </p:txBody>
      </p:sp>
      <p:sp>
        <p:nvSpPr>
          <p:cNvPr id="13" name="card"/>
          <p:cNvSpPr/>
          <p:nvPr/>
        </p:nvSpPr>
        <p:spPr>
          <a:xfrm>
            <a:off x="8138160" y="1417320"/>
            <a:ext cx="3611880" cy="3703320"/>
          </a:xfrm>
          <a:prstGeom prst="roundRect">
            <a:avLst>
              <a:gd name="adj" fmla="val 1013"/>
            </a:avLst>
          </a:prstGeom>
          <a:solidFill>
            <a:srgbClr val="FFFFFF"/>
          </a:solidFill>
          <a:ln w="9525">
            <a:solidFill>
              <a:srgbClr val="D3DAE5"/>
            </a:solidFill>
            <a:prstDash val="solid"/>
          </a:ln>
        </p:spPr>
      </p:sp>
      <p:sp>
        <p:nvSpPr>
          <p:cNvPr id="14" name="Shape 10"/>
          <p:cNvSpPr/>
          <p:nvPr/>
        </p:nvSpPr>
        <p:spPr>
          <a:xfrm>
            <a:off x="8412480" y="1691640"/>
            <a:ext cx="640080" cy="640080"/>
          </a:xfrm>
          <a:prstGeom prst="ellipse">
            <a:avLst/>
          </a:prstGeom>
          <a:solidFill>
            <a:srgbClr val="EDF1F7"/>
          </a:solidFill>
          <a:ln w="9525">
            <a:solidFill>
              <a:srgbClr val="D3DAE5"/>
            </a:solidFill>
            <a:prstDash val="solid"/>
          </a:ln>
        </p:spPr>
      </p:sp>
      <p:pic>
        <p:nvPicPr>
          <p:cNvPr id="15" name="Image 2" descr="What CustomerLens does"/>
          <p:cNvPicPr>
            <a:picLocks noChangeAspect="1"/>
          </p:cNvPicPr>
          <p:nvPr/>
        </p:nvPicPr>
        <p:blipFill>
          <a:blip r:embed="rId5"/>
          <a:stretch>
            <a:fillRect/>
          </a:stretch>
        </p:blipFill>
        <p:spPr>
          <a:xfrm>
            <a:off x="8558784" y="1837944"/>
            <a:ext cx="347472" cy="347472"/>
          </a:xfrm>
          <a:prstGeom prst="rect">
            <a:avLst/>
          </a:prstGeom>
        </p:spPr>
      </p:pic>
      <p:sp>
        <p:nvSpPr>
          <p:cNvPr id="16" name="Text 11"/>
          <p:cNvSpPr txBox="1"/>
          <p:nvPr/>
        </p:nvSpPr>
        <p:spPr>
          <a:xfrm>
            <a:off x="8412480" y="2560320"/>
            <a:ext cx="3108960" cy="411480"/>
          </a:xfrm>
          <a:prstGeom prst="rect">
            <a:avLst/>
          </a:prstGeom>
          <a:noFill/>
          <a:ln/>
        </p:spPr>
        <p:txBody>
          <a:bodyPr wrap="square" lIns="0" tIns="0" rIns="0" bIns="0" rtlCol="0" anchor="t"/>
          <a:lstStyle/>
          <a:p>
            <a:pPr marL="0" indent="0">
              <a:buNone/>
            </a:pPr>
            <a:r>
              <a:rPr lang="en-US" sz="2000" b="1" dirty="0">
                <a:solidFill>
                  <a:srgbClr val="1F2937"/>
                </a:solidFill>
                <a:latin typeface="Cambria" pitchFamily="34" charset="0"/>
                <a:ea typeface="Cambria" pitchFamily="34" charset="-122"/>
                <a:cs typeface="Cambria" pitchFamily="34" charset="-120"/>
              </a:rPr>
              <a:t>What CustomerLens does</a:t>
            </a:r>
            <a:endParaRPr lang="en-US" sz="2000" dirty="0"/>
          </a:p>
        </p:txBody>
      </p:sp>
      <p:sp>
        <p:nvSpPr>
          <p:cNvPr id="17" name="Text 12"/>
          <p:cNvSpPr txBox="1"/>
          <p:nvPr/>
        </p:nvSpPr>
        <p:spPr>
          <a:xfrm>
            <a:off x="8412480" y="3108960"/>
            <a:ext cx="3108960" cy="19202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374151"/>
                </a:solidFill>
                <a:latin typeface="Calibri" pitchFamily="34" charset="0"/>
                <a:ea typeface="Calibri" pitchFamily="34" charset="-122"/>
                <a:cs typeface="Calibri" pitchFamily="34" charset="-120"/>
              </a:rPr>
              <a:t>Clusters 200 mall customers on Annual Income and Spending Score</a:t>
            </a:r>
            <a:endParaRPr lang="en-US" sz="1400" dirty="0"/>
          </a:p>
          <a:p>
            <a:pPr marL="342900" indent="-342900">
              <a:spcAft>
                <a:spcPts val="600"/>
              </a:spcAft>
              <a:buSzPct val="100000"/>
              <a:buChar char="•"/>
            </a:pPr>
            <a:r>
              <a:rPr lang="en-US" sz="1400" dirty="0">
                <a:solidFill>
                  <a:srgbClr val="374151"/>
                </a:solidFill>
                <a:latin typeface="Calibri" pitchFamily="34" charset="0"/>
                <a:ea typeface="Calibri" pitchFamily="34" charset="-122"/>
                <a:cs typeface="Calibri" pitchFamily="34" charset="-120"/>
              </a:rPr>
              <a:t>Chooses K using silhouette, Davies-Bouldin and objective curves</a:t>
            </a:r>
            <a:endParaRPr lang="en-US" sz="1400" dirty="0"/>
          </a:p>
          <a:p>
            <a:pPr marL="342900" indent="-342900">
              <a:spcAft>
                <a:spcPts val="600"/>
              </a:spcAft>
              <a:buSzPct val="100000"/>
              <a:buChar char="•"/>
            </a:pPr>
            <a:r>
              <a:rPr lang="en-US" sz="1400" dirty="0">
                <a:solidFill>
                  <a:srgbClr val="374151"/>
                </a:solidFill>
                <a:latin typeface="Calibri" pitchFamily="34" charset="0"/>
                <a:ea typeface="Calibri" pitchFamily="34" charset="-122"/>
                <a:cs typeface="Calibri" pitchFamily="34" charset="-120"/>
              </a:rPr>
              <a:t>Compares both algorithms and explores results interactively</a:t>
            </a:r>
            <a:endParaRPr lang="en-US" sz="1400" dirty="0"/>
          </a:p>
        </p:txBody>
      </p:sp>
      <p:sp>
        <p:nvSpPr>
          <p:cNvPr id="18" name="card"/>
          <p:cNvSpPr/>
          <p:nvPr/>
        </p:nvSpPr>
        <p:spPr>
          <a:xfrm>
            <a:off x="548640" y="5349240"/>
            <a:ext cx="11109960" cy="777240"/>
          </a:xfrm>
          <a:prstGeom prst="roundRect">
            <a:avLst>
              <a:gd name="adj" fmla="val 4706"/>
            </a:avLst>
          </a:prstGeom>
          <a:solidFill>
            <a:srgbClr val="EDF1F7"/>
          </a:solidFill>
          <a:ln w="9525">
            <a:solidFill>
              <a:srgbClr val="D3DAE5"/>
            </a:solidFill>
            <a:prstDash val="solid"/>
          </a:ln>
        </p:spPr>
      </p:sp>
      <p:sp>
        <p:nvSpPr>
          <p:cNvPr id="19" name="Text 14"/>
          <p:cNvSpPr txBox="1"/>
          <p:nvPr/>
        </p:nvSpPr>
        <p:spPr>
          <a:xfrm>
            <a:off x="777240" y="5440680"/>
            <a:ext cx="10698480" cy="594360"/>
          </a:xfrm>
          <a:prstGeom prst="rect">
            <a:avLst/>
          </a:prstGeom>
          <a:noFill/>
          <a:ln/>
        </p:spPr>
        <p:txBody>
          <a:bodyPr wrap="square" lIns="0" tIns="0" rIns="0" bIns="0" rtlCol="0" anchor="ctr"/>
          <a:lstStyle/>
          <a:p>
            <a:pPr marL="0" indent="0">
              <a:buNone/>
            </a:pPr>
            <a:r>
              <a:rPr lang="en-US" sz="1400" b="1" dirty="0">
                <a:solidFill>
                  <a:srgbClr val="2F5D8C"/>
                </a:solidFill>
                <a:latin typeface="Calibri" pitchFamily="34" charset="0"/>
                <a:ea typeface="Calibri" pitchFamily="34" charset="-122"/>
                <a:cs typeface="Calibri" pitchFamily="34" charset="-120"/>
              </a:rPr>
              <a:t>Goal: </a:t>
            </a:r>
            <a:r>
              <a:rPr lang="en-US" sz="1400" dirty="0">
                <a:solidFill>
                  <a:srgbClr val="1F2937"/>
                </a:solidFill>
                <a:latin typeface="Calibri" pitchFamily="34" charset="0"/>
                <a:ea typeface="Calibri" pitchFamily="34" charset="-122"/>
                <a:cs typeface="Calibri" pitchFamily="34" charset="-120"/>
              </a:rPr>
              <a:t>turn raw customer attributes into a small number of interpretable groups, and be explicit that the groups are analytical constructs rather than ground-truth customer types.</a:t>
            </a:r>
            <a:endParaRPr lang="en-US" sz="14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8599"/>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64240" cy="777240"/>
          </a:xfrm>
          <a:prstGeom prst="rect">
            <a:avLst/>
          </a:prstGeom>
          <a:noFill/>
          <a:ln/>
        </p:spPr>
        <p:txBody>
          <a:bodyPr wrap="square" lIns="0" tIns="0" rIns="0" bIns="0" rtlCol="0" anchor="ctr"/>
          <a:lstStyle/>
          <a:p>
            <a:pPr marL="0" indent="0">
              <a:buNone/>
            </a:pPr>
            <a:r>
              <a:rPr lang="en-US" sz="3200" b="1" dirty="0">
                <a:solidFill>
                  <a:srgbClr val="1F2937"/>
                </a:solidFill>
                <a:latin typeface="Cambria" pitchFamily="34" charset="0"/>
                <a:ea typeface="Cambria" pitchFamily="34" charset="-122"/>
                <a:cs typeface="Cambria" pitchFamily="34" charset="-120"/>
              </a:rPr>
              <a:t>Objectives</a:t>
            </a:r>
            <a:endParaRPr lang="en-US" sz="3200" dirty="0"/>
          </a:p>
        </p:txBody>
      </p:sp>
      <p:sp>
        <p:nvSpPr>
          <p:cNvPr id="3" name="card"/>
          <p:cNvSpPr/>
          <p:nvPr/>
        </p:nvSpPr>
        <p:spPr>
          <a:xfrm>
            <a:off x="548640" y="1417320"/>
            <a:ext cx="3611880" cy="1417320"/>
          </a:xfrm>
          <a:prstGeom prst="roundRect">
            <a:avLst>
              <a:gd name="adj" fmla="val 2581"/>
            </a:avLst>
          </a:prstGeom>
          <a:solidFill>
            <a:srgbClr val="FFFFFF"/>
          </a:solidFill>
          <a:ln w="9525">
            <a:solidFill>
              <a:srgbClr val="D3DAE5"/>
            </a:solidFill>
            <a:prstDash val="solid"/>
          </a:ln>
        </p:spPr>
      </p:sp>
      <p:sp>
        <p:nvSpPr>
          <p:cNvPr id="4" name="Shape 2"/>
          <p:cNvSpPr/>
          <p:nvPr/>
        </p:nvSpPr>
        <p:spPr>
          <a:xfrm>
            <a:off x="777240" y="1645920"/>
            <a:ext cx="566928" cy="566928"/>
          </a:xfrm>
          <a:prstGeom prst="ellipse">
            <a:avLst/>
          </a:prstGeom>
          <a:solidFill>
            <a:srgbClr val="EDF1F7"/>
          </a:solidFill>
          <a:ln w="12700">
            <a:solidFill>
              <a:srgbClr val="2F5D8C"/>
            </a:solidFill>
            <a:prstDash val="solid"/>
          </a:ln>
        </p:spPr>
      </p:sp>
      <p:sp>
        <p:nvSpPr>
          <p:cNvPr id="5" name="Text 3"/>
          <p:cNvSpPr txBox="1"/>
          <p:nvPr/>
        </p:nvSpPr>
        <p:spPr>
          <a:xfrm>
            <a:off x="777240" y="1645920"/>
            <a:ext cx="566928" cy="566928"/>
          </a:xfrm>
          <a:prstGeom prst="rect">
            <a:avLst/>
          </a:prstGeom>
          <a:noFill/>
          <a:ln/>
        </p:spPr>
        <p:txBody>
          <a:bodyPr wrap="square" lIns="0" tIns="0" rIns="0" bIns="0" rtlCol="0" anchor="ctr"/>
          <a:lstStyle/>
          <a:p>
            <a:pPr marL="0" indent="0" algn="ctr">
              <a:buNone/>
            </a:pPr>
            <a:r>
              <a:rPr lang="en-US" sz="1800" b="1" dirty="0">
                <a:solidFill>
                  <a:srgbClr val="2F5D8C"/>
                </a:solidFill>
                <a:latin typeface="Calibri" pitchFamily="34" charset="0"/>
                <a:ea typeface="Calibri" pitchFamily="34" charset="-122"/>
                <a:cs typeface="Calibri" pitchFamily="34" charset="-120"/>
              </a:rPr>
              <a:t>1</a:t>
            </a:r>
            <a:endParaRPr lang="en-US" sz="1800" dirty="0"/>
          </a:p>
        </p:txBody>
      </p:sp>
      <p:sp>
        <p:nvSpPr>
          <p:cNvPr id="6" name="Text 4"/>
          <p:cNvSpPr txBox="1"/>
          <p:nvPr/>
        </p:nvSpPr>
        <p:spPr>
          <a:xfrm>
            <a:off x="1508760" y="1618488"/>
            <a:ext cx="2514600" cy="411480"/>
          </a:xfrm>
          <a:prstGeom prst="rect">
            <a:avLst/>
          </a:prstGeom>
          <a:noFill/>
          <a:ln/>
        </p:spPr>
        <p:txBody>
          <a:bodyPr wrap="square" lIns="0" tIns="0" rIns="0" bIns="0" rtlCol="0" anchor="ctr"/>
          <a:lstStyle/>
          <a:p>
            <a:pPr marL="0" indent="0">
              <a:buNone/>
            </a:pPr>
            <a:r>
              <a:rPr lang="en-US" sz="1800" b="1" dirty="0">
                <a:solidFill>
                  <a:srgbClr val="1F2937"/>
                </a:solidFill>
                <a:latin typeface="Cambria" pitchFamily="34" charset="0"/>
                <a:ea typeface="Cambria" pitchFamily="34" charset="-122"/>
                <a:cs typeface="Cambria" pitchFamily="34" charset="-120"/>
              </a:rPr>
              <a:t>Preprocessing</a:t>
            </a:r>
            <a:endParaRPr lang="en-US" sz="1800" dirty="0"/>
          </a:p>
        </p:txBody>
      </p:sp>
      <p:sp>
        <p:nvSpPr>
          <p:cNvPr id="7" name="Text 5"/>
          <p:cNvSpPr txBox="1"/>
          <p:nvPr/>
        </p:nvSpPr>
        <p:spPr>
          <a:xfrm>
            <a:off x="1508760" y="2075688"/>
            <a:ext cx="2514600" cy="640080"/>
          </a:xfrm>
          <a:prstGeom prst="rect">
            <a:avLst/>
          </a:prstGeom>
          <a:noFill/>
          <a:ln/>
        </p:spPr>
        <p:txBody>
          <a:bodyPr wrap="square" lIns="0" tIns="0" rIns="0" bIns="0" rtlCol="0" anchor="t"/>
          <a:lstStyle/>
          <a:p>
            <a:pPr marL="0" indent="0">
              <a:buNone/>
            </a:pPr>
            <a:r>
              <a:rPr lang="en-US" sz="1400" dirty="0">
                <a:solidFill>
                  <a:srgbClr val="5B6678"/>
                </a:solidFill>
                <a:latin typeface="Calibri" pitchFamily="34" charset="0"/>
                <a:ea typeface="Calibri" pitchFamily="34" charset="-122"/>
                <a:cs typeface="Calibri" pitchFamily="34" charset="-120"/>
              </a:rPr>
              <a:t>Data-quality checks and StandardScaler</a:t>
            </a:r>
            <a:endParaRPr lang="en-US" sz="1400" dirty="0"/>
          </a:p>
        </p:txBody>
      </p:sp>
      <p:sp>
        <p:nvSpPr>
          <p:cNvPr id="8" name="card"/>
          <p:cNvSpPr/>
          <p:nvPr/>
        </p:nvSpPr>
        <p:spPr>
          <a:xfrm>
            <a:off x="4343400" y="1417320"/>
            <a:ext cx="3611880" cy="1417320"/>
          </a:xfrm>
          <a:prstGeom prst="roundRect">
            <a:avLst>
              <a:gd name="adj" fmla="val 2581"/>
            </a:avLst>
          </a:prstGeom>
          <a:solidFill>
            <a:srgbClr val="FFFFFF"/>
          </a:solidFill>
          <a:ln w="9525">
            <a:solidFill>
              <a:srgbClr val="D3DAE5"/>
            </a:solidFill>
            <a:prstDash val="solid"/>
          </a:ln>
        </p:spPr>
      </p:sp>
      <p:sp>
        <p:nvSpPr>
          <p:cNvPr id="9" name="Shape 7"/>
          <p:cNvSpPr/>
          <p:nvPr/>
        </p:nvSpPr>
        <p:spPr>
          <a:xfrm>
            <a:off x="4572000" y="1645920"/>
            <a:ext cx="566928" cy="566928"/>
          </a:xfrm>
          <a:prstGeom prst="ellipse">
            <a:avLst/>
          </a:prstGeom>
          <a:solidFill>
            <a:srgbClr val="EDF1F7"/>
          </a:solidFill>
          <a:ln w="12700">
            <a:solidFill>
              <a:srgbClr val="2F5D8C"/>
            </a:solidFill>
            <a:prstDash val="solid"/>
          </a:ln>
        </p:spPr>
      </p:sp>
      <p:sp>
        <p:nvSpPr>
          <p:cNvPr id="10" name="Text 8"/>
          <p:cNvSpPr txBox="1"/>
          <p:nvPr/>
        </p:nvSpPr>
        <p:spPr>
          <a:xfrm>
            <a:off x="4572000" y="1645920"/>
            <a:ext cx="566928" cy="566928"/>
          </a:xfrm>
          <a:prstGeom prst="rect">
            <a:avLst/>
          </a:prstGeom>
          <a:noFill/>
          <a:ln/>
        </p:spPr>
        <p:txBody>
          <a:bodyPr wrap="square" lIns="0" tIns="0" rIns="0" bIns="0" rtlCol="0" anchor="ctr"/>
          <a:lstStyle/>
          <a:p>
            <a:pPr marL="0" indent="0" algn="ctr">
              <a:buNone/>
            </a:pPr>
            <a:r>
              <a:rPr lang="en-US" sz="1800" b="1" dirty="0">
                <a:solidFill>
                  <a:srgbClr val="2F5D8C"/>
                </a:solidFill>
                <a:latin typeface="Calibri" pitchFamily="34" charset="0"/>
                <a:ea typeface="Calibri" pitchFamily="34" charset="-122"/>
                <a:cs typeface="Calibri" pitchFamily="34" charset="-120"/>
              </a:rPr>
              <a:t>2</a:t>
            </a:r>
            <a:endParaRPr lang="en-US" sz="1800" dirty="0"/>
          </a:p>
        </p:txBody>
      </p:sp>
      <p:sp>
        <p:nvSpPr>
          <p:cNvPr id="11" name="Text 9"/>
          <p:cNvSpPr txBox="1"/>
          <p:nvPr/>
        </p:nvSpPr>
        <p:spPr>
          <a:xfrm>
            <a:off x="5303520" y="1618488"/>
            <a:ext cx="2514600" cy="411480"/>
          </a:xfrm>
          <a:prstGeom prst="rect">
            <a:avLst/>
          </a:prstGeom>
          <a:noFill/>
          <a:ln/>
        </p:spPr>
        <p:txBody>
          <a:bodyPr wrap="square" lIns="0" tIns="0" rIns="0" bIns="0" rtlCol="0" anchor="ctr"/>
          <a:lstStyle/>
          <a:p>
            <a:pPr marL="0" indent="0">
              <a:buNone/>
            </a:pPr>
            <a:r>
              <a:rPr lang="en-US" sz="1800" b="1" dirty="0">
                <a:solidFill>
                  <a:srgbClr val="1F2937"/>
                </a:solidFill>
                <a:latin typeface="Cambria" pitchFamily="34" charset="0"/>
                <a:ea typeface="Cambria" pitchFamily="34" charset="-122"/>
                <a:cs typeface="Cambria" pitchFamily="34" charset="-120"/>
              </a:rPr>
              <a:t>Exploratory analysis</a:t>
            </a:r>
            <a:endParaRPr lang="en-US" sz="1800" dirty="0"/>
          </a:p>
        </p:txBody>
      </p:sp>
      <p:sp>
        <p:nvSpPr>
          <p:cNvPr id="12" name="Text 10"/>
          <p:cNvSpPr txBox="1"/>
          <p:nvPr/>
        </p:nvSpPr>
        <p:spPr>
          <a:xfrm>
            <a:off x="5303520" y="2075688"/>
            <a:ext cx="2514600" cy="640080"/>
          </a:xfrm>
          <a:prstGeom prst="rect">
            <a:avLst/>
          </a:prstGeom>
          <a:noFill/>
          <a:ln/>
        </p:spPr>
        <p:txBody>
          <a:bodyPr wrap="square" lIns="0" tIns="0" rIns="0" bIns="0" rtlCol="0" anchor="t"/>
          <a:lstStyle/>
          <a:p>
            <a:pPr marL="0" indent="0">
              <a:buNone/>
            </a:pPr>
            <a:r>
              <a:rPr lang="en-US" sz="1400" dirty="0">
                <a:solidFill>
                  <a:srgbClr val="5B6678"/>
                </a:solidFill>
                <a:latin typeface="Calibri" pitchFamily="34" charset="0"/>
                <a:ea typeface="Calibri" pitchFamily="34" charset="-122"/>
                <a:cs typeface="Calibri" pitchFamily="34" charset="-120"/>
              </a:rPr>
              <a:t>Distributions, correlations, relationships</a:t>
            </a:r>
            <a:endParaRPr lang="en-US" sz="1400" dirty="0"/>
          </a:p>
        </p:txBody>
      </p:sp>
      <p:sp>
        <p:nvSpPr>
          <p:cNvPr id="13" name="card"/>
          <p:cNvSpPr/>
          <p:nvPr/>
        </p:nvSpPr>
        <p:spPr>
          <a:xfrm>
            <a:off x="8138160" y="1417320"/>
            <a:ext cx="3611880" cy="1417320"/>
          </a:xfrm>
          <a:prstGeom prst="roundRect">
            <a:avLst>
              <a:gd name="adj" fmla="val 2581"/>
            </a:avLst>
          </a:prstGeom>
          <a:solidFill>
            <a:srgbClr val="FFFFFF"/>
          </a:solidFill>
          <a:ln w="9525">
            <a:solidFill>
              <a:srgbClr val="D3DAE5"/>
            </a:solidFill>
            <a:prstDash val="solid"/>
          </a:ln>
        </p:spPr>
      </p:sp>
      <p:sp>
        <p:nvSpPr>
          <p:cNvPr id="14" name="Shape 12"/>
          <p:cNvSpPr/>
          <p:nvPr/>
        </p:nvSpPr>
        <p:spPr>
          <a:xfrm>
            <a:off x="8366760" y="1645920"/>
            <a:ext cx="566928" cy="566928"/>
          </a:xfrm>
          <a:prstGeom prst="ellipse">
            <a:avLst/>
          </a:prstGeom>
          <a:solidFill>
            <a:srgbClr val="EDF1F7"/>
          </a:solidFill>
          <a:ln w="12700">
            <a:solidFill>
              <a:srgbClr val="2F5D8C"/>
            </a:solidFill>
            <a:prstDash val="solid"/>
          </a:ln>
        </p:spPr>
      </p:sp>
      <p:sp>
        <p:nvSpPr>
          <p:cNvPr id="15" name="Text 13"/>
          <p:cNvSpPr txBox="1"/>
          <p:nvPr/>
        </p:nvSpPr>
        <p:spPr>
          <a:xfrm>
            <a:off x="8366760" y="1645920"/>
            <a:ext cx="566928" cy="566928"/>
          </a:xfrm>
          <a:prstGeom prst="rect">
            <a:avLst/>
          </a:prstGeom>
          <a:noFill/>
          <a:ln/>
        </p:spPr>
        <p:txBody>
          <a:bodyPr wrap="square" lIns="0" tIns="0" rIns="0" bIns="0" rtlCol="0" anchor="ctr"/>
          <a:lstStyle/>
          <a:p>
            <a:pPr marL="0" indent="0" algn="ctr">
              <a:buNone/>
            </a:pPr>
            <a:r>
              <a:rPr lang="en-US" sz="1800" b="1" dirty="0">
                <a:solidFill>
                  <a:srgbClr val="2F5D8C"/>
                </a:solidFill>
                <a:latin typeface="Calibri" pitchFamily="34" charset="0"/>
                <a:ea typeface="Calibri" pitchFamily="34" charset="-122"/>
                <a:cs typeface="Calibri" pitchFamily="34" charset="-120"/>
              </a:rPr>
              <a:t>3</a:t>
            </a:r>
            <a:endParaRPr lang="en-US" sz="1800" dirty="0"/>
          </a:p>
        </p:txBody>
      </p:sp>
      <p:sp>
        <p:nvSpPr>
          <p:cNvPr id="16" name="Text 14"/>
          <p:cNvSpPr txBox="1"/>
          <p:nvPr/>
        </p:nvSpPr>
        <p:spPr>
          <a:xfrm>
            <a:off x="9098280" y="1618488"/>
            <a:ext cx="2514600" cy="411480"/>
          </a:xfrm>
          <a:prstGeom prst="rect">
            <a:avLst/>
          </a:prstGeom>
          <a:noFill/>
          <a:ln/>
        </p:spPr>
        <p:txBody>
          <a:bodyPr wrap="square" lIns="0" tIns="0" rIns="0" bIns="0" rtlCol="0" anchor="ctr"/>
          <a:lstStyle/>
          <a:p>
            <a:pPr marL="0" indent="0">
              <a:buNone/>
            </a:pPr>
            <a:r>
              <a:rPr lang="en-US" sz="1800" b="1" dirty="0">
                <a:solidFill>
                  <a:srgbClr val="1F2937"/>
                </a:solidFill>
                <a:latin typeface="Cambria" pitchFamily="34" charset="0"/>
                <a:ea typeface="Cambria" pitchFamily="34" charset="-122"/>
                <a:cs typeface="Cambria" pitchFamily="34" charset="-120"/>
              </a:rPr>
              <a:t>K-Means</a:t>
            </a:r>
            <a:endParaRPr lang="en-US" sz="1800" dirty="0"/>
          </a:p>
        </p:txBody>
      </p:sp>
      <p:sp>
        <p:nvSpPr>
          <p:cNvPr id="17" name="Text 15"/>
          <p:cNvSpPr txBox="1"/>
          <p:nvPr/>
        </p:nvSpPr>
        <p:spPr>
          <a:xfrm>
            <a:off x="9098280" y="2075688"/>
            <a:ext cx="2514600" cy="640080"/>
          </a:xfrm>
          <a:prstGeom prst="rect">
            <a:avLst/>
          </a:prstGeom>
          <a:noFill/>
          <a:ln/>
        </p:spPr>
        <p:txBody>
          <a:bodyPr wrap="square" lIns="0" tIns="0" rIns="0" bIns="0" rtlCol="0" anchor="t"/>
          <a:lstStyle/>
          <a:p>
            <a:pPr marL="0" indent="0">
              <a:buNone/>
            </a:pPr>
            <a:r>
              <a:rPr lang="en-US" sz="1400" dirty="0">
                <a:solidFill>
                  <a:srgbClr val="5B6678"/>
                </a:solidFill>
                <a:latin typeface="Calibri" pitchFamily="34" charset="0"/>
                <a:ea typeface="Calibri" pitchFamily="34" charset="-122"/>
                <a:cs typeface="Calibri" pitchFamily="34" charset="-120"/>
              </a:rPr>
              <a:t>Centroid-based partitioning at K = 5</a:t>
            </a:r>
            <a:endParaRPr lang="en-US" sz="1400" dirty="0"/>
          </a:p>
        </p:txBody>
      </p:sp>
      <p:sp>
        <p:nvSpPr>
          <p:cNvPr id="18" name="card"/>
          <p:cNvSpPr/>
          <p:nvPr/>
        </p:nvSpPr>
        <p:spPr>
          <a:xfrm>
            <a:off x="548640" y="3017520"/>
            <a:ext cx="3611880" cy="1417320"/>
          </a:xfrm>
          <a:prstGeom prst="roundRect">
            <a:avLst>
              <a:gd name="adj" fmla="val 2581"/>
            </a:avLst>
          </a:prstGeom>
          <a:solidFill>
            <a:srgbClr val="FFFFFF"/>
          </a:solidFill>
          <a:ln w="9525">
            <a:solidFill>
              <a:srgbClr val="D3DAE5"/>
            </a:solidFill>
            <a:prstDash val="solid"/>
          </a:ln>
        </p:spPr>
      </p:sp>
      <p:sp>
        <p:nvSpPr>
          <p:cNvPr id="19" name="Shape 17"/>
          <p:cNvSpPr/>
          <p:nvPr/>
        </p:nvSpPr>
        <p:spPr>
          <a:xfrm>
            <a:off x="777240" y="3246120"/>
            <a:ext cx="566928" cy="566928"/>
          </a:xfrm>
          <a:prstGeom prst="ellipse">
            <a:avLst/>
          </a:prstGeom>
          <a:solidFill>
            <a:srgbClr val="EDF1F7"/>
          </a:solidFill>
          <a:ln w="12700">
            <a:solidFill>
              <a:srgbClr val="2F5D8C"/>
            </a:solidFill>
            <a:prstDash val="solid"/>
          </a:ln>
        </p:spPr>
      </p:sp>
      <p:sp>
        <p:nvSpPr>
          <p:cNvPr id="20" name="Text 18"/>
          <p:cNvSpPr txBox="1"/>
          <p:nvPr/>
        </p:nvSpPr>
        <p:spPr>
          <a:xfrm>
            <a:off x="777240" y="3246120"/>
            <a:ext cx="566928" cy="566928"/>
          </a:xfrm>
          <a:prstGeom prst="rect">
            <a:avLst/>
          </a:prstGeom>
          <a:noFill/>
          <a:ln/>
        </p:spPr>
        <p:txBody>
          <a:bodyPr wrap="square" lIns="0" tIns="0" rIns="0" bIns="0" rtlCol="0" anchor="ctr"/>
          <a:lstStyle/>
          <a:p>
            <a:pPr marL="0" indent="0" algn="ctr">
              <a:buNone/>
            </a:pPr>
            <a:r>
              <a:rPr lang="en-US" sz="1800" b="1" dirty="0">
                <a:solidFill>
                  <a:srgbClr val="2F5D8C"/>
                </a:solidFill>
                <a:latin typeface="Calibri" pitchFamily="34" charset="0"/>
                <a:ea typeface="Calibri" pitchFamily="34" charset="-122"/>
                <a:cs typeface="Calibri" pitchFamily="34" charset="-120"/>
              </a:rPr>
              <a:t>4</a:t>
            </a:r>
            <a:endParaRPr lang="en-US" sz="1800" dirty="0"/>
          </a:p>
        </p:txBody>
      </p:sp>
      <p:sp>
        <p:nvSpPr>
          <p:cNvPr id="21" name="Text 19"/>
          <p:cNvSpPr txBox="1"/>
          <p:nvPr/>
        </p:nvSpPr>
        <p:spPr>
          <a:xfrm>
            <a:off x="1508760" y="3218688"/>
            <a:ext cx="2514600" cy="411480"/>
          </a:xfrm>
          <a:prstGeom prst="rect">
            <a:avLst/>
          </a:prstGeom>
          <a:noFill/>
          <a:ln/>
        </p:spPr>
        <p:txBody>
          <a:bodyPr wrap="square" lIns="0" tIns="0" rIns="0" bIns="0" rtlCol="0" anchor="ctr"/>
          <a:lstStyle/>
          <a:p>
            <a:pPr marL="0" indent="0">
              <a:buNone/>
            </a:pPr>
            <a:r>
              <a:rPr lang="en-US" sz="1800" b="1" dirty="0">
                <a:solidFill>
                  <a:srgbClr val="1F2937"/>
                </a:solidFill>
                <a:latin typeface="Cambria" pitchFamily="34" charset="0"/>
                <a:ea typeface="Cambria" pitchFamily="34" charset="-122"/>
                <a:cs typeface="Cambria" pitchFamily="34" charset="-120"/>
              </a:rPr>
              <a:t>K-Medoids (PAM)</a:t>
            </a:r>
            <a:endParaRPr lang="en-US" sz="1800" dirty="0"/>
          </a:p>
        </p:txBody>
      </p:sp>
      <p:sp>
        <p:nvSpPr>
          <p:cNvPr id="22" name="Text 20"/>
          <p:cNvSpPr txBox="1"/>
          <p:nvPr/>
        </p:nvSpPr>
        <p:spPr>
          <a:xfrm>
            <a:off x="1508760" y="3675888"/>
            <a:ext cx="2514600" cy="640080"/>
          </a:xfrm>
          <a:prstGeom prst="rect">
            <a:avLst/>
          </a:prstGeom>
          <a:noFill/>
          <a:ln/>
        </p:spPr>
        <p:txBody>
          <a:bodyPr wrap="square" lIns="0" tIns="0" rIns="0" bIns="0" rtlCol="0" anchor="t"/>
          <a:lstStyle/>
          <a:p>
            <a:pPr marL="0" indent="0">
              <a:buNone/>
            </a:pPr>
            <a:r>
              <a:rPr lang="en-US" sz="1400" dirty="0">
                <a:solidFill>
                  <a:srgbClr val="5B6678"/>
                </a:solidFill>
                <a:latin typeface="Calibri" pitchFamily="34" charset="0"/>
                <a:ea typeface="Calibri" pitchFamily="34" charset="-122"/>
                <a:cs typeface="Calibri" pitchFamily="34" charset="-120"/>
              </a:rPr>
              <a:t>Medoid-based partitioning at K = 5</a:t>
            </a:r>
            <a:endParaRPr lang="en-US" sz="1400" dirty="0"/>
          </a:p>
        </p:txBody>
      </p:sp>
      <p:sp>
        <p:nvSpPr>
          <p:cNvPr id="23" name="card"/>
          <p:cNvSpPr/>
          <p:nvPr/>
        </p:nvSpPr>
        <p:spPr>
          <a:xfrm>
            <a:off x="4343400" y="3017520"/>
            <a:ext cx="3611880" cy="1417320"/>
          </a:xfrm>
          <a:prstGeom prst="roundRect">
            <a:avLst>
              <a:gd name="adj" fmla="val 2581"/>
            </a:avLst>
          </a:prstGeom>
          <a:solidFill>
            <a:srgbClr val="FFFFFF"/>
          </a:solidFill>
          <a:ln w="9525">
            <a:solidFill>
              <a:srgbClr val="D3DAE5"/>
            </a:solidFill>
            <a:prstDash val="solid"/>
          </a:ln>
        </p:spPr>
      </p:sp>
      <p:sp>
        <p:nvSpPr>
          <p:cNvPr id="24" name="Shape 22"/>
          <p:cNvSpPr/>
          <p:nvPr/>
        </p:nvSpPr>
        <p:spPr>
          <a:xfrm>
            <a:off x="4572000" y="3246120"/>
            <a:ext cx="566928" cy="566928"/>
          </a:xfrm>
          <a:prstGeom prst="ellipse">
            <a:avLst/>
          </a:prstGeom>
          <a:solidFill>
            <a:srgbClr val="EDF1F7"/>
          </a:solidFill>
          <a:ln w="12700">
            <a:solidFill>
              <a:srgbClr val="2F5D8C"/>
            </a:solidFill>
            <a:prstDash val="solid"/>
          </a:ln>
        </p:spPr>
      </p:sp>
      <p:sp>
        <p:nvSpPr>
          <p:cNvPr id="25" name="Text 23"/>
          <p:cNvSpPr txBox="1"/>
          <p:nvPr/>
        </p:nvSpPr>
        <p:spPr>
          <a:xfrm>
            <a:off x="4572000" y="3246120"/>
            <a:ext cx="566928" cy="566928"/>
          </a:xfrm>
          <a:prstGeom prst="rect">
            <a:avLst/>
          </a:prstGeom>
          <a:noFill/>
          <a:ln/>
        </p:spPr>
        <p:txBody>
          <a:bodyPr wrap="square" lIns="0" tIns="0" rIns="0" bIns="0" rtlCol="0" anchor="ctr"/>
          <a:lstStyle/>
          <a:p>
            <a:pPr marL="0" indent="0" algn="ctr">
              <a:buNone/>
            </a:pPr>
            <a:r>
              <a:rPr lang="en-US" sz="1800" b="1" dirty="0">
                <a:solidFill>
                  <a:srgbClr val="2F5D8C"/>
                </a:solidFill>
                <a:latin typeface="Calibri" pitchFamily="34" charset="0"/>
                <a:ea typeface="Calibri" pitchFamily="34" charset="-122"/>
                <a:cs typeface="Calibri" pitchFamily="34" charset="-120"/>
              </a:rPr>
              <a:t>5</a:t>
            </a:r>
            <a:endParaRPr lang="en-US" sz="1800" dirty="0"/>
          </a:p>
        </p:txBody>
      </p:sp>
      <p:sp>
        <p:nvSpPr>
          <p:cNvPr id="26" name="Text 24"/>
          <p:cNvSpPr txBox="1"/>
          <p:nvPr/>
        </p:nvSpPr>
        <p:spPr>
          <a:xfrm>
            <a:off x="5303520" y="3218688"/>
            <a:ext cx="2514600" cy="411480"/>
          </a:xfrm>
          <a:prstGeom prst="rect">
            <a:avLst/>
          </a:prstGeom>
          <a:noFill/>
          <a:ln/>
        </p:spPr>
        <p:txBody>
          <a:bodyPr wrap="square" lIns="0" tIns="0" rIns="0" bIns="0" rtlCol="0" anchor="ctr"/>
          <a:lstStyle/>
          <a:p>
            <a:pPr marL="0" indent="0">
              <a:buNone/>
            </a:pPr>
            <a:r>
              <a:rPr lang="en-US" sz="1800" b="1" dirty="0">
                <a:solidFill>
                  <a:srgbClr val="1F2937"/>
                </a:solidFill>
                <a:latin typeface="Cambria" pitchFamily="34" charset="0"/>
                <a:ea typeface="Cambria" pitchFamily="34" charset="-122"/>
                <a:cs typeface="Cambria" pitchFamily="34" charset="-120"/>
              </a:rPr>
              <a:t>Optimal K selection</a:t>
            </a:r>
            <a:endParaRPr lang="en-US" sz="1800" dirty="0"/>
          </a:p>
        </p:txBody>
      </p:sp>
      <p:sp>
        <p:nvSpPr>
          <p:cNvPr id="27" name="Text 25"/>
          <p:cNvSpPr txBox="1"/>
          <p:nvPr/>
        </p:nvSpPr>
        <p:spPr>
          <a:xfrm>
            <a:off x="5303520" y="3675888"/>
            <a:ext cx="2514600" cy="640080"/>
          </a:xfrm>
          <a:prstGeom prst="rect">
            <a:avLst/>
          </a:prstGeom>
          <a:noFill/>
          <a:ln/>
        </p:spPr>
        <p:txBody>
          <a:bodyPr wrap="square" lIns="0" tIns="0" rIns="0" bIns="0" rtlCol="0" anchor="t"/>
          <a:lstStyle/>
          <a:p>
            <a:pPr marL="0" indent="0">
              <a:buNone/>
            </a:pPr>
            <a:r>
              <a:rPr lang="en-US" sz="1400" dirty="0">
                <a:solidFill>
                  <a:srgbClr val="5B6678"/>
                </a:solidFill>
                <a:latin typeface="Calibri" pitchFamily="34" charset="0"/>
                <a:ea typeface="Calibri" pitchFamily="34" charset="-122"/>
                <a:cs typeface="Calibri" pitchFamily="34" charset="-120"/>
              </a:rPr>
              <a:t>K = 2…10 with multiple measures</a:t>
            </a:r>
            <a:endParaRPr lang="en-US" sz="1400" dirty="0"/>
          </a:p>
        </p:txBody>
      </p:sp>
      <p:sp>
        <p:nvSpPr>
          <p:cNvPr id="28" name="card"/>
          <p:cNvSpPr/>
          <p:nvPr/>
        </p:nvSpPr>
        <p:spPr>
          <a:xfrm>
            <a:off x="8138160" y="3017520"/>
            <a:ext cx="3611880" cy="1417320"/>
          </a:xfrm>
          <a:prstGeom prst="roundRect">
            <a:avLst>
              <a:gd name="adj" fmla="val 2581"/>
            </a:avLst>
          </a:prstGeom>
          <a:solidFill>
            <a:srgbClr val="FFFFFF"/>
          </a:solidFill>
          <a:ln w="9525">
            <a:solidFill>
              <a:srgbClr val="D3DAE5"/>
            </a:solidFill>
            <a:prstDash val="solid"/>
          </a:ln>
        </p:spPr>
      </p:sp>
      <p:sp>
        <p:nvSpPr>
          <p:cNvPr id="29" name="Shape 27"/>
          <p:cNvSpPr/>
          <p:nvPr/>
        </p:nvSpPr>
        <p:spPr>
          <a:xfrm>
            <a:off x="8366760" y="3246120"/>
            <a:ext cx="566928" cy="566928"/>
          </a:xfrm>
          <a:prstGeom prst="ellipse">
            <a:avLst/>
          </a:prstGeom>
          <a:solidFill>
            <a:srgbClr val="EDF1F7"/>
          </a:solidFill>
          <a:ln w="12700">
            <a:solidFill>
              <a:srgbClr val="2F5D8C"/>
            </a:solidFill>
            <a:prstDash val="solid"/>
          </a:ln>
        </p:spPr>
      </p:sp>
      <p:sp>
        <p:nvSpPr>
          <p:cNvPr id="30" name="Text 28"/>
          <p:cNvSpPr txBox="1"/>
          <p:nvPr/>
        </p:nvSpPr>
        <p:spPr>
          <a:xfrm>
            <a:off x="8366760" y="3246120"/>
            <a:ext cx="566928" cy="566928"/>
          </a:xfrm>
          <a:prstGeom prst="rect">
            <a:avLst/>
          </a:prstGeom>
          <a:noFill/>
          <a:ln/>
        </p:spPr>
        <p:txBody>
          <a:bodyPr wrap="square" lIns="0" tIns="0" rIns="0" bIns="0" rtlCol="0" anchor="ctr"/>
          <a:lstStyle/>
          <a:p>
            <a:pPr marL="0" indent="0" algn="ctr">
              <a:buNone/>
            </a:pPr>
            <a:r>
              <a:rPr lang="en-US" sz="1800" b="1" dirty="0">
                <a:solidFill>
                  <a:srgbClr val="2F5D8C"/>
                </a:solidFill>
                <a:latin typeface="Calibri" pitchFamily="34" charset="0"/>
                <a:ea typeface="Calibri" pitchFamily="34" charset="-122"/>
                <a:cs typeface="Calibri" pitchFamily="34" charset="-120"/>
              </a:rPr>
              <a:t>6</a:t>
            </a:r>
            <a:endParaRPr lang="en-US" sz="1800" dirty="0"/>
          </a:p>
        </p:txBody>
      </p:sp>
      <p:sp>
        <p:nvSpPr>
          <p:cNvPr id="31" name="Text 29"/>
          <p:cNvSpPr txBox="1"/>
          <p:nvPr/>
        </p:nvSpPr>
        <p:spPr>
          <a:xfrm>
            <a:off x="9098280" y="3218688"/>
            <a:ext cx="2514600" cy="411480"/>
          </a:xfrm>
          <a:prstGeom prst="rect">
            <a:avLst/>
          </a:prstGeom>
          <a:noFill/>
          <a:ln/>
        </p:spPr>
        <p:txBody>
          <a:bodyPr wrap="square" lIns="0" tIns="0" rIns="0" bIns="0" rtlCol="0" anchor="ctr"/>
          <a:lstStyle/>
          <a:p>
            <a:pPr marL="0" indent="0">
              <a:buNone/>
            </a:pPr>
            <a:r>
              <a:rPr lang="en-US" sz="1800" b="1" dirty="0">
                <a:solidFill>
                  <a:srgbClr val="1F2937"/>
                </a:solidFill>
                <a:latin typeface="Cambria" pitchFamily="34" charset="0"/>
                <a:ea typeface="Cambria" pitchFamily="34" charset="-122"/>
                <a:cs typeface="Cambria" pitchFamily="34" charset="-120"/>
              </a:rPr>
              <a:t>2D visualisation</a:t>
            </a:r>
            <a:endParaRPr lang="en-US" sz="1800" dirty="0"/>
          </a:p>
        </p:txBody>
      </p:sp>
      <p:sp>
        <p:nvSpPr>
          <p:cNvPr id="32" name="Text 30"/>
          <p:cNvSpPr txBox="1"/>
          <p:nvPr/>
        </p:nvSpPr>
        <p:spPr>
          <a:xfrm>
            <a:off x="9098280" y="3675888"/>
            <a:ext cx="2514600" cy="640080"/>
          </a:xfrm>
          <a:prstGeom prst="rect">
            <a:avLst/>
          </a:prstGeom>
          <a:noFill/>
          <a:ln/>
        </p:spPr>
        <p:txBody>
          <a:bodyPr wrap="square" lIns="0" tIns="0" rIns="0" bIns="0" rtlCol="0" anchor="t"/>
          <a:lstStyle/>
          <a:p>
            <a:pPr marL="0" indent="0">
              <a:buNone/>
            </a:pPr>
            <a:r>
              <a:rPr lang="en-US" sz="1400" dirty="0">
                <a:solidFill>
                  <a:srgbClr val="5B6678"/>
                </a:solidFill>
                <a:latin typeface="Calibri" pitchFamily="34" charset="0"/>
                <a:ea typeface="Calibri" pitchFamily="34" charset="-122"/>
                <a:cs typeface="Calibri" pitchFamily="34" charset="-120"/>
              </a:rPr>
              <a:t>Income vs Spending Score, colour-coded clusters</a:t>
            </a:r>
            <a:endParaRPr lang="en-US" sz="1400" dirty="0"/>
          </a:p>
        </p:txBody>
      </p:sp>
      <p:sp>
        <p:nvSpPr>
          <p:cNvPr id="33" name="card"/>
          <p:cNvSpPr/>
          <p:nvPr/>
        </p:nvSpPr>
        <p:spPr>
          <a:xfrm>
            <a:off x="548640" y="4617720"/>
            <a:ext cx="3611880" cy="1417320"/>
          </a:xfrm>
          <a:prstGeom prst="roundRect">
            <a:avLst>
              <a:gd name="adj" fmla="val 2581"/>
            </a:avLst>
          </a:prstGeom>
          <a:solidFill>
            <a:srgbClr val="FFFFFF"/>
          </a:solidFill>
          <a:ln w="9525">
            <a:solidFill>
              <a:srgbClr val="D3DAE5"/>
            </a:solidFill>
            <a:prstDash val="solid"/>
          </a:ln>
        </p:spPr>
      </p:sp>
      <p:sp>
        <p:nvSpPr>
          <p:cNvPr id="34" name="Shape 32"/>
          <p:cNvSpPr/>
          <p:nvPr/>
        </p:nvSpPr>
        <p:spPr>
          <a:xfrm>
            <a:off x="777240" y="4846320"/>
            <a:ext cx="566928" cy="566928"/>
          </a:xfrm>
          <a:prstGeom prst="ellipse">
            <a:avLst/>
          </a:prstGeom>
          <a:solidFill>
            <a:srgbClr val="EDF1F7"/>
          </a:solidFill>
          <a:ln w="12700">
            <a:solidFill>
              <a:srgbClr val="2F5D8C"/>
            </a:solidFill>
            <a:prstDash val="solid"/>
          </a:ln>
        </p:spPr>
      </p:sp>
      <p:sp>
        <p:nvSpPr>
          <p:cNvPr id="35" name="Text 33"/>
          <p:cNvSpPr txBox="1"/>
          <p:nvPr/>
        </p:nvSpPr>
        <p:spPr>
          <a:xfrm>
            <a:off x="777240" y="4846320"/>
            <a:ext cx="566928" cy="566928"/>
          </a:xfrm>
          <a:prstGeom prst="rect">
            <a:avLst/>
          </a:prstGeom>
          <a:noFill/>
          <a:ln/>
        </p:spPr>
        <p:txBody>
          <a:bodyPr wrap="square" lIns="0" tIns="0" rIns="0" bIns="0" rtlCol="0" anchor="ctr"/>
          <a:lstStyle/>
          <a:p>
            <a:pPr marL="0" indent="0" algn="ctr">
              <a:buNone/>
            </a:pPr>
            <a:r>
              <a:rPr lang="en-US" sz="1800" b="1" dirty="0">
                <a:solidFill>
                  <a:srgbClr val="2F5D8C"/>
                </a:solidFill>
                <a:latin typeface="Calibri" pitchFamily="34" charset="0"/>
                <a:ea typeface="Calibri" pitchFamily="34" charset="-122"/>
                <a:cs typeface="Calibri" pitchFamily="34" charset="-120"/>
              </a:rPr>
              <a:t>7</a:t>
            </a:r>
            <a:endParaRPr lang="en-US" sz="1800" dirty="0"/>
          </a:p>
        </p:txBody>
      </p:sp>
      <p:sp>
        <p:nvSpPr>
          <p:cNvPr id="36" name="Text 34"/>
          <p:cNvSpPr txBox="1"/>
          <p:nvPr/>
        </p:nvSpPr>
        <p:spPr>
          <a:xfrm>
            <a:off x="1508760" y="4818888"/>
            <a:ext cx="2514600" cy="411480"/>
          </a:xfrm>
          <a:prstGeom prst="rect">
            <a:avLst/>
          </a:prstGeom>
          <a:noFill/>
          <a:ln/>
        </p:spPr>
        <p:txBody>
          <a:bodyPr wrap="square" lIns="0" tIns="0" rIns="0" bIns="0" rtlCol="0" anchor="ctr"/>
          <a:lstStyle/>
          <a:p>
            <a:pPr marL="0" indent="0">
              <a:buNone/>
            </a:pPr>
            <a:r>
              <a:rPr lang="en-US" sz="1800" b="1" dirty="0">
                <a:solidFill>
                  <a:srgbClr val="1F2937"/>
                </a:solidFill>
                <a:latin typeface="Cambria" pitchFamily="34" charset="0"/>
                <a:ea typeface="Cambria" pitchFamily="34" charset="-122"/>
                <a:cs typeface="Cambria" pitchFamily="34" charset="-120"/>
              </a:rPr>
              <a:t>Cluster profiling</a:t>
            </a:r>
            <a:endParaRPr lang="en-US" sz="1800" dirty="0"/>
          </a:p>
        </p:txBody>
      </p:sp>
      <p:sp>
        <p:nvSpPr>
          <p:cNvPr id="37" name="Text 35"/>
          <p:cNvSpPr txBox="1"/>
          <p:nvPr/>
        </p:nvSpPr>
        <p:spPr>
          <a:xfrm>
            <a:off x="1508760" y="5276088"/>
            <a:ext cx="2514600" cy="640080"/>
          </a:xfrm>
          <a:prstGeom prst="rect">
            <a:avLst/>
          </a:prstGeom>
          <a:noFill/>
          <a:ln/>
        </p:spPr>
        <p:txBody>
          <a:bodyPr wrap="square" lIns="0" tIns="0" rIns="0" bIns="0" rtlCol="0" anchor="t"/>
          <a:lstStyle/>
          <a:p>
            <a:pPr marL="0" indent="0">
              <a:buNone/>
            </a:pPr>
            <a:r>
              <a:rPr lang="en-US" sz="1400" dirty="0">
                <a:solidFill>
                  <a:srgbClr val="5B6678"/>
                </a:solidFill>
                <a:latin typeface="Calibri" pitchFamily="34" charset="0"/>
                <a:ea typeface="Calibri" pitchFamily="34" charset="-122"/>
                <a:cs typeface="Calibri" pitchFamily="34" charset="-120"/>
              </a:rPr>
              <a:t>Size, income, spending and age per cluster</a:t>
            </a:r>
            <a:endParaRPr lang="en-US" sz="1400" dirty="0"/>
          </a:p>
        </p:txBody>
      </p:sp>
      <p:sp>
        <p:nvSpPr>
          <p:cNvPr id="38" name="card"/>
          <p:cNvSpPr/>
          <p:nvPr/>
        </p:nvSpPr>
        <p:spPr>
          <a:xfrm>
            <a:off x="4343400" y="4617720"/>
            <a:ext cx="3611880" cy="1417320"/>
          </a:xfrm>
          <a:prstGeom prst="roundRect">
            <a:avLst>
              <a:gd name="adj" fmla="val 2581"/>
            </a:avLst>
          </a:prstGeom>
          <a:solidFill>
            <a:srgbClr val="FFFFFF"/>
          </a:solidFill>
          <a:ln w="9525">
            <a:solidFill>
              <a:srgbClr val="D3DAE5"/>
            </a:solidFill>
            <a:prstDash val="solid"/>
          </a:ln>
        </p:spPr>
      </p:sp>
      <p:sp>
        <p:nvSpPr>
          <p:cNvPr id="39" name="Shape 37"/>
          <p:cNvSpPr/>
          <p:nvPr/>
        </p:nvSpPr>
        <p:spPr>
          <a:xfrm>
            <a:off x="4572000" y="4846320"/>
            <a:ext cx="566928" cy="566928"/>
          </a:xfrm>
          <a:prstGeom prst="ellipse">
            <a:avLst/>
          </a:prstGeom>
          <a:solidFill>
            <a:srgbClr val="EDF1F7"/>
          </a:solidFill>
          <a:ln w="12700">
            <a:solidFill>
              <a:srgbClr val="2F5D8C"/>
            </a:solidFill>
            <a:prstDash val="solid"/>
          </a:ln>
        </p:spPr>
      </p:sp>
      <p:sp>
        <p:nvSpPr>
          <p:cNvPr id="40" name="Text 38"/>
          <p:cNvSpPr txBox="1"/>
          <p:nvPr/>
        </p:nvSpPr>
        <p:spPr>
          <a:xfrm>
            <a:off x="4572000" y="4846320"/>
            <a:ext cx="566928" cy="566928"/>
          </a:xfrm>
          <a:prstGeom prst="rect">
            <a:avLst/>
          </a:prstGeom>
          <a:noFill/>
          <a:ln/>
        </p:spPr>
        <p:txBody>
          <a:bodyPr wrap="square" lIns="0" tIns="0" rIns="0" bIns="0" rtlCol="0" anchor="ctr"/>
          <a:lstStyle/>
          <a:p>
            <a:pPr marL="0" indent="0" algn="ctr">
              <a:buNone/>
            </a:pPr>
            <a:r>
              <a:rPr lang="en-US" sz="1800" b="1" dirty="0">
                <a:solidFill>
                  <a:srgbClr val="2F5D8C"/>
                </a:solidFill>
                <a:latin typeface="Calibri" pitchFamily="34" charset="0"/>
                <a:ea typeface="Calibri" pitchFamily="34" charset="-122"/>
                <a:cs typeface="Calibri" pitchFamily="34" charset="-120"/>
              </a:rPr>
              <a:t>8</a:t>
            </a:r>
            <a:endParaRPr lang="en-US" sz="1800" dirty="0"/>
          </a:p>
        </p:txBody>
      </p:sp>
      <p:sp>
        <p:nvSpPr>
          <p:cNvPr id="41" name="Text 39"/>
          <p:cNvSpPr txBox="1"/>
          <p:nvPr/>
        </p:nvSpPr>
        <p:spPr>
          <a:xfrm>
            <a:off x="5303520" y="4818888"/>
            <a:ext cx="2514600" cy="411480"/>
          </a:xfrm>
          <a:prstGeom prst="rect">
            <a:avLst/>
          </a:prstGeom>
          <a:noFill/>
          <a:ln/>
        </p:spPr>
        <p:txBody>
          <a:bodyPr wrap="square" lIns="0" tIns="0" rIns="0" bIns="0" rtlCol="0" anchor="ctr"/>
          <a:lstStyle/>
          <a:p>
            <a:pPr marL="0" indent="0">
              <a:buNone/>
            </a:pPr>
            <a:r>
              <a:rPr lang="en-US" sz="1800" b="1" dirty="0">
                <a:solidFill>
                  <a:srgbClr val="1F2937"/>
                </a:solidFill>
                <a:latin typeface="Cambria" pitchFamily="34" charset="0"/>
                <a:ea typeface="Cambria" pitchFamily="34" charset="-122"/>
                <a:cs typeface="Cambria" pitchFamily="34" charset="-120"/>
              </a:rPr>
              <a:t>Algorithm comparison</a:t>
            </a:r>
            <a:endParaRPr lang="en-US" sz="1800" dirty="0"/>
          </a:p>
        </p:txBody>
      </p:sp>
      <p:sp>
        <p:nvSpPr>
          <p:cNvPr id="42" name="Text 40"/>
          <p:cNvSpPr txBox="1"/>
          <p:nvPr/>
        </p:nvSpPr>
        <p:spPr>
          <a:xfrm>
            <a:off x="5303520" y="5276088"/>
            <a:ext cx="2514600" cy="640080"/>
          </a:xfrm>
          <a:prstGeom prst="rect">
            <a:avLst/>
          </a:prstGeom>
          <a:noFill/>
          <a:ln/>
        </p:spPr>
        <p:txBody>
          <a:bodyPr wrap="square" lIns="0" tIns="0" rIns="0" bIns="0" rtlCol="0" anchor="t"/>
          <a:lstStyle/>
          <a:p>
            <a:pPr marL="0" indent="0">
              <a:buNone/>
            </a:pPr>
            <a:r>
              <a:rPr lang="en-US" sz="1400" dirty="0">
                <a:solidFill>
                  <a:srgbClr val="5B6678"/>
                </a:solidFill>
                <a:latin typeface="Calibri" pitchFamily="34" charset="0"/>
                <a:ea typeface="Calibri" pitchFamily="34" charset="-122"/>
                <a:cs typeface="Calibri" pitchFamily="34" charset="-120"/>
              </a:rPr>
              <a:t>Silhouette, Davies-Bouldin, ARI, runtime</a:t>
            </a:r>
            <a:endParaRPr lang="en-US" sz="1400" dirty="0"/>
          </a:p>
        </p:txBody>
      </p:sp>
      <p:sp>
        <p:nvSpPr>
          <p:cNvPr id="43" name="card"/>
          <p:cNvSpPr/>
          <p:nvPr/>
        </p:nvSpPr>
        <p:spPr>
          <a:xfrm>
            <a:off x="8138160" y="4617720"/>
            <a:ext cx="3611880" cy="1417320"/>
          </a:xfrm>
          <a:prstGeom prst="roundRect">
            <a:avLst>
              <a:gd name="adj" fmla="val 2581"/>
            </a:avLst>
          </a:prstGeom>
          <a:solidFill>
            <a:srgbClr val="FFFFFF"/>
          </a:solidFill>
          <a:ln w="9525">
            <a:solidFill>
              <a:srgbClr val="D3DAE5"/>
            </a:solidFill>
            <a:prstDash val="solid"/>
          </a:ln>
        </p:spPr>
      </p:sp>
      <p:sp>
        <p:nvSpPr>
          <p:cNvPr id="44" name="Shape 42"/>
          <p:cNvSpPr/>
          <p:nvPr/>
        </p:nvSpPr>
        <p:spPr>
          <a:xfrm>
            <a:off x="8366760" y="4846320"/>
            <a:ext cx="566928" cy="566928"/>
          </a:xfrm>
          <a:prstGeom prst="ellipse">
            <a:avLst/>
          </a:prstGeom>
          <a:solidFill>
            <a:srgbClr val="EDF1F7"/>
          </a:solidFill>
          <a:ln w="12700">
            <a:solidFill>
              <a:srgbClr val="2F5D8C"/>
            </a:solidFill>
            <a:prstDash val="solid"/>
          </a:ln>
        </p:spPr>
      </p:sp>
      <p:sp>
        <p:nvSpPr>
          <p:cNvPr id="45" name="Text 43"/>
          <p:cNvSpPr txBox="1"/>
          <p:nvPr/>
        </p:nvSpPr>
        <p:spPr>
          <a:xfrm>
            <a:off x="8366760" y="4846320"/>
            <a:ext cx="566928" cy="566928"/>
          </a:xfrm>
          <a:prstGeom prst="rect">
            <a:avLst/>
          </a:prstGeom>
          <a:noFill/>
          <a:ln/>
        </p:spPr>
        <p:txBody>
          <a:bodyPr wrap="square" lIns="0" tIns="0" rIns="0" bIns="0" rtlCol="0" anchor="ctr"/>
          <a:lstStyle/>
          <a:p>
            <a:pPr marL="0" indent="0" algn="ctr">
              <a:buNone/>
            </a:pPr>
            <a:r>
              <a:rPr lang="en-US" sz="1800" b="1" dirty="0">
                <a:solidFill>
                  <a:srgbClr val="2F5D8C"/>
                </a:solidFill>
                <a:latin typeface="Calibri" pitchFamily="34" charset="0"/>
                <a:ea typeface="Calibri" pitchFamily="34" charset="-122"/>
                <a:cs typeface="Calibri" pitchFamily="34" charset="-120"/>
              </a:rPr>
              <a:t>9</a:t>
            </a:r>
            <a:endParaRPr lang="en-US" sz="1800" dirty="0"/>
          </a:p>
        </p:txBody>
      </p:sp>
      <p:sp>
        <p:nvSpPr>
          <p:cNvPr id="46" name="Text 44"/>
          <p:cNvSpPr txBox="1"/>
          <p:nvPr/>
        </p:nvSpPr>
        <p:spPr>
          <a:xfrm>
            <a:off x="9098280" y="4818888"/>
            <a:ext cx="2514600" cy="411480"/>
          </a:xfrm>
          <a:prstGeom prst="rect">
            <a:avLst/>
          </a:prstGeom>
          <a:noFill/>
          <a:ln/>
        </p:spPr>
        <p:txBody>
          <a:bodyPr wrap="square" lIns="0" tIns="0" rIns="0" bIns="0" rtlCol="0" anchor="ctr"/>
          <a:lstStyle/>
          <a:p>
            <a:pPr marL="0" indent="0">
              <a:buNone/>
            </a:pPr>
            <a:r>
              <a:rPr lang="en-US" sz="1800" b="1" dirty="0">
                <a:solidFill>
                  <a:srgbClr val="1F2937"/>
                </a:solidFill>
                <a:latin typeface="Cambria" pitchFamily="34" charset="0"/>
                <a:ea typeface="Cambria" pitchFamily="34" charset="-122"/>
                <a:cs typeface="Cambria" pitchFamily="34" charset="-120"/>
              </a:rPr>
              <a:t>Interactive analytics</a:t>
            </a:r>
            <a:endParaRPr lang="en-US" sz="1800" dirty="0"/>
          </a:p>
        </p:txBody>
      </p:sp>
      <p:sp>
        <p:nvSpPr>
          <p:cNvPr id="47" name="Text 45"/>
          <p:cNvSpPr txBox="1"/>
          <p:nvPr/>
        </p:nvSpPr>
        <p:spPr>
          <a:xfrm>
            <a:off x="9098280" y="5276088"/>
            <a:ext cx="2514600" cy="640080"/>
          </a:xfrm>
          <a:prstGeom prst="rect">
            <a:avLst/>
          </a:prstGeom>
          <a:noFill/>
          <a:ln/>
        </p:spPr>
        <p:txBody>
          <a:bodyPr wrap="square" lIns="0" tIns="0" rIns="0" bIns="0" rtlCol="0" anchor="t"/>
          <a:lstStyle/>
          <a:p>
            <a:pPr marL="0" indent="0">
              <a:buNone/>
            </a:pPr>
            <a:r>
              <a:rPr lang="en-US" sz="1400" dirty="0">
                <a:solidFill>
                  <a:srgbClr val="5B6678"/>
                </a:solidFill>
                <a:latin typeface="Calibri" pitchFamily="34" charset="0"/>
                <a:ea typeface="Calibri" pitchFamily="34" charset="-122"/>
                <a:cs typeface="Calibri" pitchFamily="34" charset="-120"/>
              </a:rPr>
              <a:t>Streamlit app and React dashboard</a:t>
            </a:r>
            <a:endParaRPr lang="en-US" sz="1400" dirty="0"/>
          </a:p>
        </p:txBody>
      </p:sp>
      <p:sp>
        <p:nvSpPr>
          <p:cNvPr id="48"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8599"/>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64240" cy="777240"/>
          </a:xfrm>
          <a:prstGeom prst="rect">
            <a:avLst/>
          </a:prstGeom>
          <a:noFill/>
          <a:ln/>
        </p:spPr>
        <p:txBody>
          <a:bodyPr wrap="square" lIns="0" tIns="0" rIns="0" bIns="0" rtlCol="0" anchor="ctr"/>
          <a:lstStyle/>
          <a:p>
            <a:pPr marL="0" indent="0">
              <a:buNone/>
            </a:pPr>
            <a:r>
              <a:rPr lang="en-US" sz="3200" b="1" dirty="0">
                <a:solidFill>
                  <a:srgbClr val="1F2937"/>
                </a:solidFill>
                <a:latin typeface="Cambria" pitchFamily="34" charset="0"/>
                <a:ea typeface="Cambria" pitchFamily="34" charset="-122"/>
                <a:cs typeface="Cambria" pitchFamily="34" charset="-120"/>
              </a:rPr>
              <a:t>Dataset: Mall Customer Segmentation Data</a:t>
            </a:r>
            <a:endParaRPr lang="en-US" sz="3200" dirty="0"/>
          </a:p>
        </p:txBody>
      </p:sp>
      <p:sp>
        <p:nvSpPr>
          <p:cNvPr id="3" name="card"/>
          <p:cNvSpPr/>
          <p:nvPr/>
        </p:nvSpPr>
        <p:spPr>
          <a:xfrm>
            <a:off x="548640" y="1371600"/>
            <a:ext cx="2651760" cy="1051560"/>
          </a:xfrm>
          <a:prstGeom prst="roundRect">
            <a:avLst>
              <a:gd name="adj" fmla="val 3478"/>
            </a:avLst>
          </a:prstGeom>
          <a:solidFill>
            <a:srgbClr val="FFFFFF"/>
          </a:solidFill>
          <a:ln w="9525">
            <a:solidFill>
              <a:srgbClr val="D3DAE5"/>
            </a:solidFill>
            <a:prstDash val="solid"/>
          </a:ln>
        </p:spPr>
      </p:sp>
      <p:sp>
        <p:nvSpPr>
          <p:cNvPr id="4" name="Text 2"/>
          <p:cNvSpPr txBox="1"/>
          <p:nvPr/>
        </p:nvSpPr>
        <p:spPr>
          <a:xfrm>
            <a:off x="548640" y="1417320"/>
            <a:ext cx="2651760" cy="640080"/>
          </a:xfrm>
          <a:prstGeom prst="rect">
            <a:avLst/>
          </a:prstGeom>
          <a:noFill/>
          <a:ln/>
        </p:spPr>
        <p:txBody>
          <a:bodyPr wrap="square" lIns="0" tIns="0" rIns="0" bIns="0" rtlCol="0" anchor="ctr"/>
          <a:lstStyle/>
          <a:p>
            <a:pPr marL="0" indent="0" algn="ctr">
              <a:buNone/>
            </a:pPr>
            <a:r>
              <a:rPr lang="en-US" sz="3600" b="1" dirty="0">
                <a:solidFill>
                  <a:srgbClr val="2F5D8C"/>
                </a:solidFill>
                <a:latin typeface="Cambria" pitchFamily="34" charset="0"/>
                <a:ea typeface="Cambria" pitchFamily="34" charset="-122"/>
                <a:cs typeface="Cambria" pitchFamily="34" charset="-120"/>
              </a:rPr>
              <a:t>200</a:t>
            </a:r>
            <a:endParaRPr lang="en-US" sz="3600" dirty="0"/>
          </a:p>
        </p:txBody>
      </p:sp>
      <p:sp>
        <p:nvSpPr>
          <p:cNvPr id="5" name="Text 3"/>
          <p:cNvSpPr txBox="1"/>
          <p:nvPr/>
        </p:nvSpPr>
        <p:spPr>
          <a:xfrm>
            <a:off x="548640" y="2011680"/>
            <a:ext cx="2651760" cy="320040"/>
          </a:xfrm>
          <a:prstGeom prst="rect">
            <a:avLst/>
          </a:prstGeom>
          <a:noFill/>
          <a:ln/>
        </p:spPr>
        <p:txBody>
          <a:bodyPr wrap="square" lIns="0" tIns="0" rIns="0" bIns="0" rtlCol="0" anchor="t"/>
          <a:lstStyle/>
          <a:p>
            <a:pPr marL="0" indent="0" algn="ctr">
              <a:buNone/>
            </a:pPr>
            <a:r>
              <a:rPr lang="en-US" sz="1300" dirty="0">
                <a:solidFill>
                  <a:srgbClr val="5B6678"/>
                </a:solidFill>
                <a:latin typeface="Calibri" pitchFamily="34" charset="0"/>
                <a:ea typeface="Calibri" pitchFamily="34" charset="-122"/>
                <a:cs typeface="Calibri" pitchFamily="34" charset="-120"/>
              </a:rPr>
              <a:t>customer records</a:t>
            </a:r>
            <a:endParaRPr lang="en-US" sz="1300" dirty="0"/>
          </a:p>
        </p:txBody>
      </p:sp>
      <p:sp>
        <p:nvSpPr>
          <p:cNvPr id="6" name="card"/>
          <p:cNvSpPr/>
          <p:nvPr/>
        </p:nvSpPr>
        <p:spPr>
          <a:xfrm>
            <a:off x="3355848" y="1371600"/>
            <a:ext cx="2651760" cy="1051560"/>
          </a:xfrm>
          <a:prstGeom prst="roundRect">
            <a:avLst>
              <a:gd name="adj" fmla="val 3478"/>
            </a:avLst>
          </a:prstGeom>
          <a:solidFill>
            <a:srgbClr val="FFFFFF"/>
          </a:solidFill>
          <a:ln w="9525">
            <a:solidFill>
              <a:srgbClr val="D3DAE5"/>
            </a:solidFill>
            <a:prstDash val="solid"/>
          </a:ln>
        </p:spPr>
      </p:sp>
      <p:sp>
        <p:nvSpPr>
          <p:cNvPr id="7" name="Text 5"/>
          <p:cNvSpPr txBox="1"/>
          <p:nvPr/>
        </p:nvSpPr>
        <p:spPr>
          <a:xfrm>
            <a:off x="3355848" y="1417320"/>
            <a:ext cx="2651760" cy="640080"/>
          </a:xfrm>
          <a:prstGeom prst="rect">
            <a:avLst/>
          </a:prstGeom>
          <a:noFill/>
          <a:ln/>
        </p:spPr>
        <p:txBody>
          <a:bodyPr wrap="square" lIns="0" tIns="0" rIns="0" bIns="0" rtlCol="0" anchor="ctr"/>
          <a:lstStyle/>
          <a:p>
            <a:pPr marL="0" indent="0" algn="ctr">
              <a:buNone/>
            </a:pPr>
            <a:r>
              <a:rPr lang="en-US" sz="3600" b="1" dirty="0">
                <a:solidFill>
                  <a:srgbClr val="2F5D8C"/>
                </a:solidFill>
                <a:latin typeface="Cambria" pitchFamily="34" charset="0"/>
                <a:ea typeface="Cambria" pitchFamily="34" charset="-122"/>
                <a:cs typeface="Cambria" pitchFamily="34" charset="-120"/>
              </a:rPr>
              <a:t>5</a:t>
            </a:r>
            <a:endParaRPr lang="en-US" sz="3600" dirty="0"/>
          </a:p>
        </p:txBody>
      </p:sp>
      <p:sp>
        <p:nvSpPr>
          <p:cNvPr id="8" name="Text 6"/>
          <p:cNvSpPr txBox="1"/>
          <p:nvPr/>
        </p:nvSpPr>
        <p:spPr>
          <a:xfrm>
            <a:off x="3355848" y="2011680"/>
            <a:ext cx="2651760" cy="320040"/>
          </a:xfrm>
          <a:prstGeom prst="rect">
            <a:avLst/>
          </a:prstGeom>
          <a:noFill/>
          <a:ln/>
        </p:spPr>
        <p:txBody>
          <a:bodyPr wrap="square" lIns="0" tIns="0" rIns="0" bIns="0" rtlCol="0" anchor="t"/>
          <a:lstStyle/>
          <a:p>
            <a:pPr marL="0" indent="0" algn="ctr">
              <a:buNone/>
            </a:pPr>
            <a:r>
              <a:rPr lang="en-US" sz="1300" dirty="0">
                <a:solidFill>
                  <a:srgbClr val="5B6678"/>
                </a:solidFill>
                <a:latin typeface="Calibri" pitchFamily="34" charset="0"/>
                <a:ea typeface="Calibri" pitchFamily="34" charset="-122"/>
                <a:cs typeface="Calibri" pitchFamily="34" charset="-120"/>
              </a:rPr>
              <a:t>original columns</a:t>
            </a:r>
            <a:endParaRPr lang="en-US" sz="1300" dirty="0"/>
          </a:p>
        </p:txBody>
      </p:sp>
      <p:sp>
        <p:nvSpPr>
          <p:cNvPr id="9" name="card"/>
          <p:cNvSpPr/>
          <p:nvPr/>
        </p:nvSpPr>
        <p:spPr>
          <a:xfrm>
            <a:off x="6163056" y="1371600"/>
            <a:ext cx="2651760" cy="1051560"/>
          </a:xfrm>
          <a:prstGeom prst="roundRect">
            <a:avLst>
              <a:gd name="adj" fmla="val 3478"/>
            </a:avLst>
          </a:prstGeom>
          <a:solidFill>
            <a:srgbClr val="FFFFFF"/>
          </a:solidFill>
          <a:ln w="9525">
            <a:solidFill>
              <a:srgbClr val="D3DAE5"/>
            </a:solidFill>
            <a:prstDash val="solid"/>
          </a:ln>
        </p:spPr>
      </p:sp>
      <p:sp>
        <p:nvSpPr>
          <p:cNvPr id="10" name="Text 8"/>
          <p:cNvSpPr txBox="1"/>
          <p:nvPr/>
        </p:nvSpPr>
        <p:spPr>
          <a:xfrm>
            <a:off x="6163056" y="1417320"/>
            <a:ext cx="2651760" cy="640080"/>
          </a:xfrm>
          <a:prstGeom prst="rect">
            <a:avLst/>
          </a:prstGeom>
          <a:noFill/>
          <a:ln/>
        </p:spPr>
        <p:txBody>
          <a:bodyPr wrap="square" lIns="0" tIns="0" rIns="0" bIns="0" rtlCol="0" anchor="ctr"/>
          <a:lstStyle/>
          <a:p>
            <a:pPr marL="0" indent="0" algn="ctr">
              <a:buNone/>
            </a:pPr>
            <a:r>
              <a:rPr lang="en-US" sz="3600" b="1" dirty="0">
                <a:solidFill>
                  <a:srgbClr val="2F5D8C"/>
                </a:solidFill>
                <a:latin typeface="Cambria" pitchFamily="34" charset="0"/>
                <a:ea typeface="Cambria" pitchFamily="34" charset="-122"/>
                <a:cs typeface="Cambria" pitchFamily="34" charset="-120"/>
              </a:rPr>
              <a:t>0</a:t>
            </a:r>
            <a:endParaRPr lang="en-US" sz="3600" dirty="0"/>
          </a:p>
        </p:txBody>
      </p:sp>
      <p:sp>
        <p:nvSpPr>
          <p:cNvPr id="11" name="Text 9"/>
          <p:cNvSpPr txBox="1"/>
          <p:nvPr/>
        </p:nvSpPr>
        <p:spPr>
          <a:xfrm>
            <a:off x="6163056" y="2011680"/>
            <a:ext cx="2651760" cy="320040"/>
          </a:xfrm>
          <a:prstGeom prst="rect">
            <a:avLst/>
          </a:prstGeom>
          <a:noFill/>
          <a:ln/>
        </p:spPr>
        <p:txBody>
          <a:bodyPr wrap="square" lIns="0" tIns="0" rIns="0" bIns="0" rtlCol="0" anchor="t"/>
          <a:lstStyle/>
          <a:p>
            <a:pPr marL="0" indent="0" algn="ctr">
              <a:buNone/>
            </a:pPr>
            <a:r>
              <a:rPr lang="en-US" sz="1300" dirty="0">
                <a:solidFill>
                  <a:srgbClr val="5B6678"/>
                </a:solidFill>
                <a:latin typeface="Calibri" pitchFamily="34" charset="0"/>
                <a:ea typeface="Calibri" pitchFamily="34" charset="-122"/>
                <a:cs typeface="Calibri" pitchFamily="34" charset="-120"/>
              </a:rPr>
              <a:t>missing values</a:t>
            </a:r>
            <a:endParaRPr lang="en-US" sz="1300" dirty="0"/>
          </a:p>
        </p:txBody>
      </p:sp>
      <p:sp>
        <p:nvSpPr>
          <p:cNvPr id="12" name="card"/>
          <p:cNvSpPr/>
          <p:nvPr/>
        </p:nvSpPr>
        <p:spPr>
          <a:xfrm>
            <a:off x="8970264" y="1371600"/>
            <a:ext cx="2651760" cy="1051560"/>
          </a:xfrm>
          <a:prstGeom prst="roundRect">
            <a:avLst>
              <a:gd name="adj" fmla="val 3478"/>
            </a:avLst>
          </a:prstGeom>
          <a:solidFill>
            <a:srgbClr val="FFFFFF"/>
          </a:solidFill>
          <a:ln w="9525">
            <a:solidFill>
              <a:srgbClr val="D3DAE5"/>
            </a:solidFill>
            <a:prstDash val="solid"/>
          </a:ln>
        </p:spPr>
      </p:sp>
      <p:sp>
        <p:nvSpPr>
          <p:cNvPr id="13" name="Text 11"/>
          <p:cNvSpPr txBox="1"/>
          <p:nvPr/>
        </p:nvSpPr>
        <p:spPr>
          <a:xfrm>
            <a:off x="8970264" y="1417320"/>
            <a:ext cx="2651760" cy="640080"/>
          </a:xfrm>
          <a:prstGeom prst="rect">
            <a:avLst/>
          </a:prstGeom>
          <a:noFill/>
          <a:ln/>
        </p:spPr>
        <p:txBody>
          <a:bodyPr wrap="square" lIns="0" tIns="0" rIns="0" bIns="0" rtlCol="0" anchor="ctr"/>
          <a:lstStyle/>
          <a:p>
            <a:pPr marL="0" indent="0" algn="ctr">
              <a:buNone/>
            </a:pPr>
            <a:r>
              <a:rPr lang="en-US" sz="3600" b="1" dirty="0">
                <a:solidFill>
                  <a:srgbClr val="2F5D8C"/>
                </a:solidFill>
                <a:latin typeface="Cambria" pitchFamily="34" charset="0"/>
                <a:ea typeface="Cambria" pitchFamily="34" charset="-122"/>
                <a:cs typeface="Cambria" pitchFamily="34" charset="-120"/>
              </a:rPr>
              <a:t>0</a:t>
            </a:r>
            <a:endParaRPr lang="en-US" sz="3600" dirty="0"/>
          </a:p>
        </p:txBody>
      </p:sp>
      <p:sp>
        <p:nvSpPr>
          <p:cNvPr id="14" name="Text 12"/>
          <p:cNvSpPr txBox="1"/>
          <p:nvPr/>
        </p:nvSpPr>
        <p:spPr>
          <a:xfrm>
            <a:off x="8970264" y="2011680"/>
            <a:ext cx="2651760" cy="320040"/>
          </a:xfrm>
          <a:prstGeom prst="rect">
            <a:avLst/>
          </a:prstGeom>
          <a:noFill/>
          <a:ln/>
        </p:spPr>
        <p:txBody>
          <a:bodyPr wrap="square" lIns="0" tIns="0" rIns="0" bIns="0" rtlCol="0" anchor="t"/>
          <a:lstStyle/>
          <a:p>
            <a:pPr marL="0" indent="0" algn="ctr">
              <a:buNone/>
            </a:pPr>
            <a:r>
              <a:rPr lang="en-US" sz="1300" dirty="0">
                <a:solidFill>
                  <a:srgbClr val="5B6678"/>
                </a:solidFill>
                <a:latin typeface="Calibri" pitchFamily="34" charset="0"/>
                <a:ea typeface="Calibri" pitchFamily="34" charset="-122"/>
                <a:cs typeface="Calibri" pitchFamily="34" charset="-120"/>
              </a:rPr>
              <a:t>duplicate rows</a:t>
            </a:r>
            <a:endParaRPr lang="en-US" sz="1300" dirty="0"/>
          </a:p>
        </p:txBody>
      </p:sp>
      <p:sp>
        <p:nvSpPr>
          <p:cNvPr id="15" name="Text 13"/>
          <p:cNvSpPr txBox="1"/>
          <p:nvPr/>
        </p:nvSpPr>
        <p:spPr>
          <a:xfrm>
            <a:off x="548640" y="2697480"/>
            <a:ext cx="5852160" cy="320040"/>
          </a:xfrm>
          <a:prstGeom prst="rect">
            <a:avLst/>
          </a:prstGeom>
          <a:noFill/>
          <a:ln/>
        </p:spPr>
        <p:txBody>
          <a:bodyPr wrap="square" lIns="0" tIns="0" rIns="0" bIns="0" rtlCol="0" anchor="t"/>
          <a:lstStyle/>
          <a:p>
            <a:pPr marL="0" indent="0">
              <a:buNone/>
            </a:pPr>
            <a:r>
              <a:rPr lang="en-US" sz="1600" b="1" dirty="0">
                <a:solidFill>
                  <a:srgbClr val="2F5D8C"/>
                </a:solidFill>
                <a:latin typeface="Calibri" pitchFamily="34" charset="0"/>
                <a:ea typeface="Calibri" pitchFamily="34" charset="-122"/>
                <a:cs typeface="Calibri" pitchFamily="34" charset="-120"/>
              </a:rPr>
              <a:t>Schema and role in the project</a:t>
            </a:r>
            <a:endParaRPr lang="en-US" sz="1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3063240"/>
          <a:ext cx="5852160" cy="2194560"/>
        </p:xfrm>
        <a:graphic>
          <a:graphicData uri="http://schemas.openxmlformats.org/drawingml/2006/table">
            <a:tbl>
              <a:tblPr/>
              <a:tblGrid>
                <a:gridCol w="228600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365760">
                <a:tc>
                  <a:txBody>
                    <a:bodyPr/>
                    <a:lstStyle/>
                    <a:p>
                      <a:pPr marL="0" indent="0" algn="l">
                        <a:buNone/>
                      </a:pPr>
                      <a:r>
                        <a:rPr lang="en-US" sz="1200" b="1" dirty="0">
                          <a:solidFill>
                            <a:srgbClr val="1F2937"/>
                          </a:solidFill>
                          <a:latin typeface="Calibri" pitchFamily="34" charset="0"/>
                          <a:ea typeface="Calibri" pitchFamily="34" charset="-122"/>
                          <a:cs typeface="Calibri" pitchFamily="34" charset="-120"/>
                        </a:rPr>
                        <a:t>Column</a:t>
                      </a:r>
                      <a:endParaRPr lang="en-US" sz="12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EDF1F7"/>
                    </a:solidFill>
                  </a:tcPr>
                </a:tc>
                <a:tc>
                  <a:txBody>
                    <a:bodyPr/>
                    <a:lstStyle/>
                    <a:p>
                      <a:pPr marL="0" indent="0" algn="ctr">
                        <a:buNone/>
                      </a:pPr>
                      <a:r>
                        <a:rPr lang="en-US" sz="1200" b="1" dirty="0">
                          <a:solidFill>
                            <a:srgbClr val="1F2937"/>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EDF1F7"/>
                    </a:solidFill>
                  </a:tcPr>
                </a:tc>
                <a:tc>
                  <a:txBody>
                    <a:bodyPr/>
                    <a:lstStyle/>
                    <a:p>
                      <a:pPr marL="0" indent="0" algn="ctr">
                        <a:buNone/>
                      </a:pPr>
                      <a:r>
                        <a:rPr lang="en-US" sz="1200" b="1" dirty="0">
                          <a:solidFill>
                            <a:srgbClr val="1F2937"/>
                          </a:solidFill>
                          <a:latin typeface="Calibri" pitchFamily="34" charset="0"/>
                          <a:ea typeface="Calibri" pitchFamily="34" charset="-122"/>
                          <a:cs typeface="Calibri" pitchFamily="34" charset="-120"/>
                        </a:rPr>
                        <a:t>Role</a:t>
                      </a:r>
                      <a:endParaRPr lang="en-US" sz="12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EDF1F7"/>
                    </a:solidFill>
                  </a:tcPr>
                </a:tc>
                <a:extLst>
                  <a:ext uri="{0D108BD9-81ED-4DB2-BD59-A6C34878D82A}">
                    <a16:rowId xmlns:a16="http://schemas.microsoft.com/office/drawing/2014/main" val="10000"/>
                  </a:ext>
                </a:extLst>
              </a:tr>
              <a:tr h="365760">
                <a:tc>
                  <a:txBody>
                    <a:bodyPr/>
                    <a:lstStyle/>
                    <a:p>
                      <a:pPr marL="0" indent="0" algn="l">
                        <a:buNone/>
                      </a:pPr>
                      <a:r>
                        <a:rPr lang="en-US" sz="1300" dirty="0">
                          <a:solidFill>
                            <a:srgbClr val="1F2937"/>
                          </a:solidFill>
                          <a:latin typeface="Calibri" pitchFamily="34" charset="0"/>
                          <a:ea typeface="Calibri" pitchFamily="34" charset="-122"/>
                          <a:cs typeface="Calibri" pitchFamily="34" charset="-120"/>
                        </a:rPr>
                        <a:t>CustomerID</a:t>
                      </a:r>
                      <a:endParaRPr lang="en-US" sz="13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937"/>
                          </a:solidFill>
                          <a:latin typeface="Calibri" pitchFamily="34" charset="0"/>
                          <a:ea typeface="Calibri" pitchFamily="34" charset="-122"/>
                          <a:cs typeface="Calibri" pitchFamily="34" charset="-120"/>
                        </a:rPr>
                        <a:t>Integer</a:t>
                      </a:r>
                      <a:endParaRPr lang="en-US" sz="13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937"/>
                          </a:solidFill>
                          <a:latin typeface="Calibri" pitchFamily="34" charset="0"/>
                          <a:ea typeface="Calibri" pitchFamily="34" charset="-122"/>
                          <a:cs typeface="Calibri" pitchFamily="34" charset="-120"/>
                        </a:rPr>
                        <a:t>Identifier — excluded</a:t>
                      </a:r>
                      <a:endParaRPr lang="en-US" sz="13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n-US" sz="1300" dirty="0">
                          <a:solidFill>
                            <a:srgbClr val="1F2937"/>
                          </a:solidFill>
                          <a:latin typeface="Calibri" pitchFamily="34" charset="0"/>
                          <a:ea typeface="Calibri" pitchFamily="34" charset="-122"/>
                          <a:cs typeface="Calibri" pitchFamily="34" charset="-120"/>
                        </a:rPr>
                        <a:t>Gender</a:t>
                      </a:r>
                      <a:endParaRPr lang="en-US" sz="13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tc>
                  <a:txBody>
                    <a:bodyPr/>
                    <a:lstStyle/>
                    <a:p>
                      <a:pPr marL="0" indent="0" algn="ctr">
                        <a:buNone/>
                      </a:pPr>
                      <a:r>
                        <a:rPr lang="en-US" sz="1300" dirty="0">
                          <a:solidFill>
                            <a:srgbClr val="1F2937"/>
                          </a:solidFill>
                          <a:latin typeface="Calibri" pitchFamily="34" charset="0"/>
                          <a:ea typeface="Calibri" pitchFamily="34" charset="-122"/>
                          <a:cs typeface="Calibri" pitchFamily="34" charset="-120"/>
                        </a:rPr>
                        <a:t>Categorical</a:t>
                      </a:r>
                      <a:endParaRPr lang="en-US" sz="13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tc>
                  <a:txBody>
                    <a:bodyPr/>
                    <a:lstStyle/>
                    <a:p>
                      <a:pPr marL="0" indent="0" algn="ctr">
                        <a:buNone/>
                      </a:pPr>
                      <a:r>
                        <a:rPr lang="en-US" sz="1300" dirty="0">
                          <a:solidFill>
                            <a:srgbClr val="1F2937"/>
                          </a:solidFill>
                          <a:latin typeface="Calibri" pitchFamily="34" charset="0"/>
                          <a:ea typeface="Calibri" pitchFamily="34" charset="-122"/>
                          <a:cs typeface="Calibri" pitchFamily="34" charset="-120"/>
                        </a:rPr>
                        <a:t>Profiling only</a:t>
                      </a:r>
                      <a:endParaRPr lang="en-US" sz="13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extLst>
                  <a:ext uri="{0D108BD9-81ED-4DB2-BD59-A6C34878D82A}">
                    <a16:rowId xmlns:a16="http://schemas.microsoft.com/office/drawing/2014/main" val="10002"/>
                  </a:ext>
                </a:extLst>
              </a:tr>
              <a:tr h="365760">
                <a:tc>
                  <a:txBody>
                    <a:bodyPr/>
                    <a:lstStyle/>
                    <a:p>
                      <a:pPr marL="0" indent="0" algn="l">
                        <a:buNone/>
                      </a:pPr>
                      <a:r>
                        <a:rPr lang="en-US" sz="1300" dirty="0">
                          <a:solidFill>
                            <a:srgbClr val="1F2937"/>
                          </a:solidFill>
                          <a:latin typeface="Calibri" pitchFamily="34" charset="0"/>
                          <a:ea typeface="Calibri" pitchFamily="34" charset="-122"/>
                          <a:cs typeface="Calibri" pitchFamily="34" charset="-120"/>
                        </a:rPr>
                        <a:t>Age</a:t>
                      </a:r>
                      <a:endParaRPr lang="en-US" sz="13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937"/>
                          </a:solidFill>
                          <a:latin typeface="Calibri" pitchFamily="34" charset="0"/>
                          <a:ea typeface="Calibri" pitchFamily="34" charset="-122"/>
                          <a:cs typeface="Calibri" pitchFamily="34" charset="-120"/>
                        </a:rPr>
                        <a:t>Integer</a:t>
                      </a:r>
                      <a:endParaRPr lang="en-US" sz="13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937"/>
                          </a:solidFill>
                          <a:latin typeface="Calibri" pitchFamily="34" charset="0"/>
                          <a:ea typeface="Calibri" pitchFamily="34" charset="-122"/>
                          <a:cs typeface="Calibri" pitchFamily="34" charset="-120"/>
                        </a:rPr>
                        <a:t>Profiling only</a:t>
                      </a:r>
                      <a:endParaRPr lang="en-US" sz="13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l">
                        <a:buNone/>
                      </a:pPr>
                      <a:r>
                        <a:rPr lang="en-US" sz="1300" dirty="0">
                          <a:solidFill>
                            <a:srgbClr val="1F2937"/>
                          </a:solidFill>
                          <a:latin typeface="Calibri" pitchFamily="34" charset="0"/>
                          <a:ea typeface="Calibri" pitchFamily="34" charset="-122"/>
                          <a:cs typeface="Calibri" pitchFamily="34" charset="-120"/>
                        </a:rPr>
                        <a:t>Annual Income (k$)</a:t>
                      </a:r>
                      <a:endParaRPr lang="en-US" sz="13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tc>
                  <a:txBody>
                    <a:bodyPr/>
                    <a:lstStyle/>
                    <a:p>
                      <a:pPr marL="0" indent="0" algn="ctr">
                        <a:buNone/>
                      </a:pPr>
                      <a:r>
                        <a:rPr lang="en-US" sz="1300" dirty="0">
                          <a:solidFill>
                            <a:srgbClr val="1F2937"/>
                          </a:solidFill>
                          <a:latin typeface="Calibri" pitchFamily="34" charset="0"/>
                          <a:ea typeface="Calibri" pitchFamily="34" charset="-122"/>
                          <a:cs typeface="Calibri" pitchFamily="34" charset="-120"/>
                        </a:rPr>
                        <a:t>Numeric</a:t>
                      </a:r>
                      <a:endParaRPr lang="en-US" sz="13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tc>
                  <a:txBody>
                    <a:bodyPr/>
                    <a:lstStyle/>
                    <a:p>
                      <a:pPr marL="0" indent="0" algn="ctr">
                        <a:buNone/>
                      </a:pPr>
                      <a:r>
                        <a:rPr lang="en-US" sz="1300" b="1" dirty="0">
                          <a:solidFill>
                            <a:srgbClr val="2F5D8C"/>
                          </a:solidFill>
                          <a:latin typeface="Calibri" pitchFamily="34" charset="0"/>
                          <a:ea typeface="Calibri" pitchFamily="34" charset="-122"/>
                          <a:cs typeface="Calibri" pitchFamily="34" charset="-120"/>
                        </a:rPr>
                        <a:t>Clustering feature</a:t>
                      </a:r>
                      <a:endParaRPr lang="en-US" sz="13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extLst>
                  <a:ext uri="{0D108BD9-81ED-4DB2-BD59-A6C34878D82A}">
                    <a16:rowId xmlns:a16="http://schemas.microsoft.com/office/drawing/2014/main" val="10004"/>
                  </a:ext>
                </a:extLst>
              </a:tr>
              <a:tr h="365760">
                <a:tc>
                  <a:txBody>
                    <a:bodyPr/>
                    <a:lstStyle/>
                    <a:p>
                      <a:pPr marL="0" indent="0" algn="l">
                        <a:buNone/>
                      </a:pPr>
                      <a:r>
                        <a:rPr lang="en-US" sz="1300" dirty="0">
                          <a:solidFill>
                            <a:srgbClr val="1F2937"/>
                          </a:solidFill>
                          <a:latin typeface="Calibri" pitchFamily="34" charset="0"/>
                          <a:ea typeface="Calibri" pitchFamily="34" charset="-122"/>
                          <a:cs typeface="Calibri" pitchFamily="34" charset="-120"/>
                        </a:rPr>
                        <a:t>Spending Score (1-100)</a:t>
                      </a:r>
                      <a:endParaRPr lang="en-US" sz="13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937"/>
                          </a:solidFill>
                          <a:latin typeface="Calibri" pitchFamily="34" charset="0"/>
                          <a:ea typeface="Calibri" pitchFamily="34" charset="-122"/>
                          <a:cs typeface="Calibri" pitchFamily="34" charset="-120"/>
                        </a:rPr>
                        <a:t>Numeric</a:t>
                      </a:r>
                      <a:endParaRPr lang="en-US" sz="13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2F5D8C"/>
                          </a:solidFill>
                          <a:latin typeface="Calibri" pitchFamily="34" charset="0"/>
                          <a:ea typeface="Calibri" pitchFamily="34" charset="-122"/>
                          <a:cs typeface="Calibri" pitchFamily="34" charset="-120"/>
                        </a:rPr>
                        <a:t>Clustering feature</a:t>
                      </a:r>
                      <a:endParaRPr lang="en-US" sz="13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7" name="Text 14"/>
          <p:cNvSpPr txBox="1"/>
          <p:nvPr/>
        </p:nvSpPr>
        <p:spPr>
          <a:xfrm>
            <a:off x="6766560" y="2697480"/>
            <a:ext cx="4846320" cy="320040"/>
          </a:xfrm>
          <a:prstGeom prst="rect">
            <a:avLst/>
          </a:prstGeom>
          <a:noFill/>
          <a:ln/>
        </p:spPr>
        <p:txBody>
          <a:bodyPr wrap="square" lIns="0" tIns="0" rIns="0" bIns="0" rtlCol="0" anchor="t"/>
          <a:lstStyle/>
          <a:p>
            <a:pPr marL="0" indent="0">
              <a:buNone/>
            </a:pPr>
            <a:r>
              <a:rPr lang="en-US" sz="1600" b="1" dirty="0">
                <a:solidFill>
                  <a:srgbClr val="2F5D8C"/>
                </a:solidFill>
                <a:latin typeface="Calibri" pitchFamily="34" charset="0"/>
                <a:ea typeface="Calibri" pitchFamily="34" charset="-122"/>
                <a:cs typeface="Calibri" pitchFamily="34" charset="-120"/>
              </a:rPr>
              <a:t>First rows of Mall_Customers.csv</a:t>
            </a:r>
            <a:endParaRPr lang="en-US" sz="1600" dirty="0"/>
          </a:p>
        </p:txBody>
      </p:sp>
      <p:graphicFrame>
        <p:nvGraphicFramePr>
          <p:cNvPr id="18" name="Table 1"/>
          <p:cNvGraphicFramePr>
            <a:graphicFrameLocks noGrp="1"/>
          </p:cNvGraphicFramePr>
          <p:nvPr>
            <p:extLst>
              <p:ext uri="{D42A27DB-BD31-4B8C-83A1-F6EECF244321}">
                <p14:modId xmlns:p14="http://schemas.microsoft.com/office/powerpoint/2010/main" val="1579011935"/>
              </p:ext>
            </p:extLst>
          </p:nvPr>
        </p:nvGraphicFramePr>
        <p:xfrm>
          <a:off x="6766560" y="3063240"/>
          <a:ext cx="4846320" cy="2194560"/>
        </p:xfrm>
        <a:graphic>
          <a:graphicData uri="http://schemas.openxmlformats.org/drawingml/2006/table">
            <a:tbl>
              <a:tblPr/>
              <a:tblGrid>
                <a:gridCol w="54864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365760">
                <a:tc>
                  <a:txBody>
                    <a:bodyPr/>
                    <a:lstStyle/>
                    <a:p>
                      <a:pPr marL="0" indent="0" algn="ctr">
                        <a:buNone/>
                      </a:pPr>
                      <a:r>
                        <a:rPr lang="en-US" sz="1100" b="1" dirty="0">
                          <a:solidFill>
                            <a:srgbClr val="1F2937"/>
                          </a:solidFill>
                          <a:latin typeface="Calibri" pitchFamily="34" charset="0"/>
                          <a:ea typeface="Calibri" pitchFamily="34" charset="-122"/>
                          <a:cs typeface="Calibri" pitchFamily="34" charset="-120"/>
                        </a:rPr>
                        <a:t>ID</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EDF1F7"/>
                    </a:solidFill>
                  </a:tcPr>
                </a:tc>
                <a:tc>
                  <a:txBody>
                    <a:bodyPr/>
                    <a:lstStyle/>
                    <a:p>
                      <a:pPr marL="0" indent="0" algn="ctr">
                        <a:buNone/>
                      </a:pPr>
                      <a:r>
                        <a:rPr lang="en-US" sz="1100" b="1" dirty="0">
                          <a:solidFill>
                            <a:srgbClr val="1F2937"/>
                          </a:solidFill>
                          <a:latin typeface="Calibri" pitchFamily="34" charset="0"/>
                          <a:ea typeface="Calibri" pitchFamily="34" charset="-122"/>
                          <a:cs typeface="Calibri" pitchFamily="34" charset="-120"/>
                        </a:rPr>
                        <a:t>Gender</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EDF1F7"/>
                    </a:solidFill>
                  </a:tcPr>
                </a:tc>
                <a:tc>
                  <a:txBody>
                    <a:bodyPr/>
                    <a:lstStyle/>
                    <a:p>
                      <a:pPr marL="0" indent="0" algn="ctr">
                        <a:buNone/>
                      </a:pPr>
                      <a:r>
                        <a:rPr lang="en-US" sz="1100" b="1" dirty="0">
                          <a:solidFill>
                            <a:srgbClr val="1F2937"/>
                          </a:solidFill>
                          <a:latin typeface="Calibri" pitchFamily="34" charset="0"/>
                          <a:ea typeface="Calibri" pitchFamily="34" charset="-122"/>
                          <a:cs typeface="Calibri" pitchFamily="34" charset="-120"/>
                        </a:rPr>
                        <a:t>Age</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EDF1F7"/>
                    </a:solidFill>
                  </a:tcPr>
                </a:tc>
                <a:tc>
                  <a:txBody>
                    <a:bodyPr/>
                    <a:lstStyle/>
                    <a:p>
                      <a:pPr marL="0" indent="0" algn="ctr">
                        <a:buNone/>
                      </a:pPr>
                      <a:r>
                        <a:rPr lang="en-US" sz="1100" b="1" dirty="0">
                          <a:solidFill>
                            <a:srgbClr val="1F2937"/>
                          </a:solidFill>
                          <a:latin typeface="Calibri" pitchFamily="34" charset="0"/>
                          <a:ea typeface="Calibri" pitchFamily="34" charset="-122"/>
                          <a:cs typeface="Calibri" pitchFamily="34" charset="-120"/>
                        </a:rPr>
                        <a:t>Income (k$)</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EDF1F7"/>
                    </a:solidFill>
                  </a:tcPr>
                </a:tc>
                <a:tc>
                  <a:txBody>
                    <a:bodyPr/>
                    <a:lstStyle/>
                    <a:p>
                      <a:pPr marL="0" indent="0" algn="ctr">
                        <a:buNone/>
                      </a:pPr>
                      <a:r>
                        <a:rPr lang="en-US" sz="1100" b="1" dirty="0">
                          <a:solidFill>
                            <a:srgbClr val="1F2937"/>
                          </a:solidFill>
                          <a:latin typeface="Calibri" pitchFamily="34" charset="0"/>
                          <a:ea typeface="Calibri" pitchFamily="34" charset="-122"/>
                          <a:cs typeface="Calibri" pitchFamily="34" charset="-120"/>
                        </a:rPr>
                        <a:t>Spending</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EDF1F7"/>
                    </a:solidFill>
                  </a:tcPr>
                </a:tc>
                <a:extLst>
                  <a:ext uri="{0D108BD9-81ED-4DB2-BD59-A6C34878D82A}">
                    <a16:rowId xmlns:a16="http://schemas.microsoft.com/office/drawing/2014/main" val="10000"/>
                  </a:ext>
                </a:extLst>
              </a:tr>
              <a:tr h="365760">
                <a:tc>
                  <a:txBody>
                    <a:bodyPr/>
                    <a:lstStyle/>
                    <a:p>
                      <a:pPr marL="0" indent="0" algn="ctr">
                        <a:buNone/>
                      </a:pPr>
                      <a:r>
                        <a:rPr lang="en-US" sz="1200" dirty="0">
                          <a:solidFill>
                            <a:srgbClr val="1F2937"/>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937"/>
                          </a:solidFill>
                          <a:latin typeface="Calibri" pitchFamily="34" charset="0"/>
                          <a:ea typeface="Calibri" pitchFamily="34" charset="-122"/>
                          <a:cs typeface="Calibri" pitchFamily="34" charset="-120"/>
                        </a:rPr>
                        <a:t>Male</a:t>
                      </a:r>
                      <a:endParaRPr lang="en-US" sz="12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937"/>
                          </a:solidFill>
                          <a:latin typeface="Calibri" pitchFamily="34" charset="0"/>
                          <a:ea typeface="Calibri" pitchFamily="34" charset="-122"/>
                          <a:cs typeface="Calibri" pitchFamily="34" charset="-120"/>
                        </a:rPr>
                        <a:t>19</a:t>
                      </a:r>
                      <a:endParaRPr lang="en-US" sz="12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937"/>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937"/>
                          </a:solidFill>
                          <a:latin typeface="Calibri" pitchFamily="34" charset="0"/>
                          <a:ea typeface="Calibri" pitchFamily="34" charset="-122"/>
                          <a:cs typeface="Calibri" pitchFamily="34" charset="-120"/>
                        </a:rPr>
                        <a:t>39</a:t>
                      </a:r>
                      <a:endParaRPr lang="en-US" sz="12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ctr">
                        <a:buNone/>
                      </a:pPr>
                      <a:r>
                        <a:rPr lang="en-US" sz="1200" dirty="0">
                          <a:solidFill>
                            <a:srgbClr val="1F2937"/>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tc>
                  <a:txBody>
                    <a:bodyPr/>
                    <a:lstStyle/>
                    <a:p>
                      <a:pPr marL="0" indent="0" algn="ctr">
                        <a:buNone/>
                      </a:pPr>
                      <a:r>
                        <a:rPr lang="en-US" sz="1200" dirty="0">
                          <a:solidFill>
                            <a:srgbClr val="1F2937"/>
                          </a:solidFill>
                          <a:latin typeface="Calibri" pitchFamily="34" charset="0"/>
                          <a:ea typeface="Calibri" pitchFamily="34" charset="-122"/>
                          <a:cs typeface="Calibri" pitchFamily="34" charset="-120"/>
                        </a:rPr>
                        <a:t>Male</a:t>
                      </a:r>
                      <a:endParaRPr lang="en-US" sz="12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tc>
                  <a:txBody>
                    <a:bodyPr/>
                    <a:lstStyle/>
                    <a:p>
                      <a:pPr marL="0" indent="0" algn="ctr">
                        <a:buNone/>
                      </a:pPr>
                      <a:r>
                        <a:rPr lang="en-US" sz="1200" dirty="0">
                          <a:solidFill>
                            <a:srgbClr val="1F2937"/>
                          </a:solidFill>
                          <a:latin typeface="Calibri" pitchFamily="34" charset="0"/>
                          <a:ea typeface="Calibri" pitchFamily="34" charset="-122"/>
                          <a:cs typeface="Calibri" pitchFamily="34" charset="-120"/>
                        </a:rPr>
                        <a:t>21</a:t>
                      </a:r>
                      <a:endParaRPr lang="en-US" sz="12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tc>
                  <a:txBody>
                    <a:bodyPr/>
                    <a:lstStyle/>
                    <a:p>
                      <a:pPr marL="0" indent="0" algn="ctr">
                        <a:buNone/>
                      </a:pPr>
                      <a:r>
                        <a:rPr lang="en-US" sz="1200" dirty="0">
                          <a:solidFill>
                            <a:srgbClr val="1F2937"/>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tc>
                  <a:txBody>
                    <a:bodyPr/>
                    <a:lstStyle/>
                    <a:p>
                      <a:pPr marL="0" indent="0" algn="ctr">
                        <a:buNone/>
                      </a:pPr>
                      <a:r>
                        <a:rPr lang="en-US" sz="1200" dirty="0">
                          <a:solidFill>
                            <a:srgbClr val="1F2937"/>
                          </a:solidFill>
                          <a:latin typeface="Calibri" pitchFamily="34" charset="0"/>
                          <a:ea typeface="Calibri" pitchFamily="34" charset="-122"/>
                          <a:cs typeface="Calibri" pitchFamily="34" charset="-120"/>
                        </a:rPr>
                        <a:t>81</a:t>
                      </a:r>
                      <a:endParaRPr lang="en-US" sz="12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extLst>
                  <a:ext uri="{0D108BD9-81ED-4DB2-BD59-A6C34878D82A}">
                    <a16:rowId xmlns:a16="http://schemas.microsoft.com/office/drawing/2014/main" val="10002"/>
                  </a:ext>
                </a:extLst>
              </a:tr>
              <a:tr h="365760">
                <a:tc>
                  <a:txBody>
                    <a:bodyPr/>
                    <a:lstStyle/>
                    <a:p>
                      <a:pPr marL="0" indent="0" algn="ctr">
                        <a:buNone/>
                      </a:pPr>
                      <a:r>
                        <a:rPr lang="en-US" sz="1200" dirty="0">
                          <a:solidFill>
                            <a:srgbClr val="1F2937"/>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937"/>
                          </a:solidFill>
                          <a:latin typeface="Calibri" pitchFamily="34" charset="0"/>
                          <a:ea typeface="Calibri" pitchFamily="34" charset="-122"/>
                          <a:cs typeface="Calibri" pitchFamily="34" charset="-120"/>
                        </a:rPr>
                        <a:t>Female</a:t>
                      </a:r>
                      <a:endParaRPr lang="en-US" sz="12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937"/>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937"/>
                          </a:solidFill>
                          <a:latin typeface="Calibri" pitchFamily="34" charset="0"/>
                          <a:ea typeface="Calibri" pitchFamily="34" charset="-122"/>
                          <a:cs typeface="Calibri" pitchFamily="34" charset="-120"/>
                        </a:rPr>
                        <a:t>16</a:t>
                      </a:r>
                      <a:endParaRPr lang="en-US" sz="12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937"/>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ctr">
                        <a:buNone/>
                      </a:pPr>
                      <a:r>
                        <a:rPr lang="en-US" sz="1200" dirty="0">
                          <a:solidFill>
                            <a:srgbClr val="1F2937"/>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tc>
                  <a:txBody>
                    <a:bodyPr/>
                    <a:lstStyle/>
                    <a:p>
                      <a:pPr marL="0" indent="0" algn="ctr">
                        <a:buNone/>
                      </a:pPr>
                      <a:r>
                        <a:rPr lang="en-US" sz="1200" dirty="0">
                          <a:solidFill>
                            <a:srgbClr val="1F2937"/>
                          </a:solidFill>
                          <a:latin typeface="Calibri" pitchFamily="34" charset="0"/>
                          <a:ea typeface="Calibri" pitchFamily="34" charset="-122"/>
                          <a:cs typeface="Calibri" pitchFamily="34" charset="-120"/>
                        </a:rPr>
                        <a:t>Female</a:t>
                      </a:r>
                      <a:endParaRPr lang="en-US" sz="12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tc>
                  <a:txBody>
                    <a:bodyPr/>
                    <a:lstStyle/>
                    <a:p>
                      <a:pPr marL="0" indent="0" algn="ctr">
                        <a:buNone/>
                      </a:pPr>
                      <a:r>
                        <a:rPr lang="en-US" sz="1200" dirty="0">
                          <a:solidFill>
                            <a:srgbClr val="1F2937"/>
                          </a:solidFill>
                          <a:latin typeface="Calibri" pitchFamily="34" charset="0"/>
                          <a:ea typeface="Calibri" pitchFamily="34" charset="-122"/>
                          <a:cs typeface="Calibri" pitchFamily="34" charset="-120"/>
                        </a:rPr>
                        <a:t>23</a:t>
                      </a:r>
                      <a:endParaRPr lang="en-US" sz="12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tc>
                  <a:txBody>
                    <a:bodyPr/>
                    <a:lstStyle/>
                    <a:p>
                      <a:pPr marL="0" indent="0" algn="ctr">
                        <a:buNone/>
                      </a:pPr>
                      <a:r>
                        <a:rPr lang="en-US" sz="1200" dirty="0">
                          <a:solidFill>
                            <a:srgbClr val="1F2937"/>
                          </a:solidFill>
                          <a:latin typeface="Calibri" pitchFamily="34" charset="0"/>
                          <a:ea typeface="Calibri" pitchFamily="34" charset="-122"/>
                          <a:cs typeface="Calibri" pitchFamily="34" charset="-120"/>
                        </a:rPr>
                        <a:t>16</a:t>
                      </a:r>
                      <a:endParaRPr lang="en-US" sz="12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tc>
                  <a:txBody>
                    <a:bodyPr/>
                    <a:lstStyle/>
                    <a:p>
                      <a:pPr marL="0" indent="0" algn="ctr">
                        <a:buNone/>
                      </a:pPr>
                      <a:r>
                        <a:rPr lang="en-US" sz="1200" dirty="0">
                          <a:solidFill>
                            <a:srgbClr val="1F2937"/>
                          </a:solidFill>
                          <a:latin typeface="Calibri" pitchFamily="34" charset="0"/>
                          <a:ea typeface="Calibri" pitchFamily="34" charset="-122"/>
                          <a:cs typeface="Calibri" pitchFamily="34" charset="-120"/>
                        </a:rPr>
                        <a:t>77</a:t>
                      </a:r>
                      <a:endParaRPr lang="en-US" sz="12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extLst>
                  <a:ext uri="{0D108BD9-81ED-4DB2-BD59-A6C34878D82A}">
                    <a16:rowId xmlns:a16="http://schemas.microsoft.com/office/drawing/2014/main" val="10004"/>
                  </a:ext>
                </a:extLst>
              </a:tr>
              <a:tr h="365760">
                <a:tc>
                  <a:txBody>
                    <a:bodyPr/>
                    <a:lstStyle/>
                    <a:p>
                      <a:pPr marL="0" indent="0" algn="ctr">
                        <a:buNone/>
                      </a:pPr>
                      <a:r>
                        <a:rPr lang="en-US" sz="1200" dirty="0">
                          <a:solidFill>
                            <a:srgbClr val="1F2937"/>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937"/>
                          </a:solidFill>
                          <a:latin typeface="Calibri" pitchFamily="34" charset="0"/>
                          <a:ea typeface="Calibri" pitchFamily="34" charset="-122"/>
                          <a:cs typeface="Calibri" pitchFamily="34" charset="-120"/>
                        </a:rPr>
                        <a:t>Female</a:t>
                      </a:r>
                      <a:endParaRPr lang="en-US" sz="12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937"/>
                          </a:solidFill>
                          <a:latin typeface="Calibri" pitchFamily="34" charset="0"/>
                          <a:ea typeface="Calibri" pitchFamily="34" charset="-122"/>
                          <a:cs typeface="Calibri" pitchFamily="34" charset="-120"/>
                        </a:rPr>
                        <a:t>31</a:t>
                      </a:r>
                      <a:endParaRPr lang="en-US" sz="12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937"/>
                          </a:solidFill>
                          <a:latin typeface="Calibri" pitchFamily="34" charset="0"/>
                          <a:ea typeface="Calibri" pitchFamily="34" charset="-122"/>
                          <a:cs typeface="Calibri" pitchFamily="34" charset="-120"/>
                        </a:rPr>
                        <a:t>17</a:t>
                      </a:r>
                      <a:endParaRPr lang="en-US" sz="12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937"/>
                          </a:solidFill>
                          <a:latin typeface="Calibri" pitchFamily="34" charset="0"/>
                          <a:ea typeface="Calibri" pitchFamily="34" charset="-122"/>
                          <a:cs typeface="Calibri" pitchFamily="34" charset="-120"/>
                        </a:rPr>
                        <a:t>40</a:t>
                      </a:r>
                      <a:endParaRPr lang="en-US" sz="12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9" name="card"/>
          <p:cNvSpPr/>
          <p:nvPr/>
        </p:nvSpPr>
        <p:spPr>
          <a:xfrm>
            <a:off x="548640" y="5486400"/>
            <a:ext cx="11064240" cy="731520"/>
          </a:xfrm>
          <a:prstGeom prst="roundRect">
            <a:avLst>
              <a:gd name="adj" fmla="val 5000"/>
            </a:avLst>
          </a:prstGeom>
          <a:solidFill>
            <a:srgbClr val="FFF6E0"/>
          </a:solidFill>
          <a:ln w="9525">
            <a:solidFill>
              <a:srgbClr val="B7791F"/>
            </a:solidFill>
            <a:prstDash val="solid"/>
          </a:ln>
        </p:spPr>
      </p:sp>
      <p:pic>
        <p:nvPicPr>
          <p:cNvPr id="20" name="Image 0" descr="warning"/>
          <p:cNvPicPr>
            <a:picLocks noChangeAspect="1"/>
          </p:cNvPicPr>
          <p:nvPr/>
        </p:nvPicPr>
        <p:blipFill>
          <a:blip r:embed="rId3"/>
          <a:stretch>
            <a:fillRect/>
          </a:stretch>
        </p:blipFill>
        <p:spPr>
          <a:xfrm>
            <a:off x="731520" y="5669280"/>
            <a:ext cx="365760" cy="365760"/>
          </a:xfrm>
          <a:prstGeom prst="rect">
            <a:avLst/>
          </a:prstGeom>
        </p:spPr>
      </p:pic>
      <p:sp>
        <p:nvSpPr>
          <p:cNvPr id="21" name="Text 16"/>
          <p:cNvSpPr txBox="1"/>
          <p:nvPr/>
        </p:nvSpPr>
        <p:spPr>
          <a:xfrm>
            <a:off x="1234440" y="5532120"/>
            <a:ext cx="10241280" cy="640080"/>
          </a:xfrm>
          <a:prstGeom prst="rect">
            <a:avLst/>
          </a:prstGeom>
          <a:noFill/>
          <a:ln/>
        </p:spPr>
        <p:txBody>
          <a:bodyPr wrap="square" lIns="0" tIns="0" rIns="0" bIns="0" rtlCol="0" anchor="ctr"/>
          <a:lstStyle/>
          <a:p>
            <a:pPr marL="0" indent="0">
              <a:buNone/>
            </a:pPr>
            <a:r>
              <a:rPr lang="en-US" sz="1400" b="1" dirty="0">
                <a:solidFill>
                  <a:srgbClr val="1F2937"/>
                </a:solidFill>
                <a:latin typeface="Calibri" pitchFamily="34" charset="0"/>
                <a:ea typeface="Calibri" pitchFamily="34" charset="-122"/>
                <a:cs typeface="Calibri" pitchFamily="34" charset="-120"/>
              </a:rPr>
              <a:t>Spending Score is a behavioural score supplied by the dataset, </a:t>
            </a:r>
            <a:r>
              <a:rPr lang="en-US" sz="1400" dirty="0">
                <a:solidFill>
                  <a:srgbClr val="1F2937"/>
                </a:solidFill>
                <a:latin typeface="Calibri" pitchFamily="34" charset="0"/>
                <a:ea typeface="Calibri" pitchFamily="34" charset="-122"/>
                <a:cs typeface="Calibri" pitchFamily="34" charset="-120"/>
              </a:rPr>
              <a:t>not directly measured customer expenditure. Gender: 112 female, 88 male; age 18–70.</a:t>
            </a:r>
            <a:endParaRPr lang="en-US" sz="14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8599"/>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64240" cy="777240"/>
          </a:xfrm>
          <a:prstGeom prst="rect">
            <a:avLst/>
          </a:prstGeom>
          <a:noFill/>
          <a:ln/>
        </p:spPr>
        <p:txBody>
          <a:bodyPr wrap="square" lIns="0" tIns="0" rIns="0" bIns="0" rtlCol="0" anchor="ctr"/>
          <a:lstStyle/>
          <a:p>
            <a:pPr marL="0" indent="0">
              <a:buNone/>
            </a:pPr>
            <a:r>
              <a:rPr lang="en-US" sz="3200" b="1" dirty="0">
                <a:solidFill>
                  <a:srgbClr val="1F2937"/>
                </a:solidFill>
                <a:latin typeface="Cambria" pitchFamily="34" charset="0"/>
                <a:ea typeface="Cambria" pitchFamily="34" charset="-122"/>
                <a:cs typeface="Cambria" pitchFamily="34" charset="-120"/>
              </a:rPr>
              <a:t>Data Preprocessing and EDA</a:t>
            </a:r>
            <a:endParaRPr lang="en-US" sz="3200" dirty="0"/>
          </a:p>
        </p:txBody>
      </p:sp>
      <p:sp>
        <p:nvSpPr>
          <p:cNvPr id="3" name="card"/>
          <p:cNvSpPr/>
          <p:nvPr/>
        </p:nvSpPr>
        <p:spPr>
          <a:xfrm>
            <a:off x="548640" y="1371600"/>
            <a:ext cx="4114800" cy="822960"/>
          </a:xfrm>
          <a:prstGeom prst="roundRect">
            <a:avLst>
              <a:gd name="adj" fmla="val 4444"/>
            </a:avLst>
          </a:prstGeom>
          <a:solidFill>
            <a:srgbClr val="FFFFFF"/>
          </a:solidFill>
          <a:ln w="9525">
            <a:solidFill>
              <a:srgbClr val="D3DAE5"/>
            </a:solidFill>
            <a:prstDash val="solid"/>
          </a:ln>
        </p:spPr>
      </p:sp>
      <p:pic>
        <p:nvPicPr>
          <p:cNvPr id="4" name="Image 0" descr="done"/>
          <p:cNvPicPr>
            <a:picLocks noChangeAspect="1"/>
          </p:cNvPicPr>
          <p:nvPr/>
        </p:nvPicPr>
        <p:blipFill>
          <a:blip r:embed="rId3"/>
          <a:stretch>
            <a:fillRect/>
          </a:stretch>
        </p:blipFill>
        <p:spPr>
          <a:xfrm>
            <a:off x="713232" y="1618488"/>
            <a:ext cx="329184" cy="329184"/>
          </a:xfrm>
          <a:prstGeom prst="rect">
            <a:avLst/>
          </a:prstGeom>
        </p:spPr>
      </p:pic>
      <p:sp>
        <p:nvSpPr>
          <p:cNvPr id="5" name="Text 2"/>
          <p:cNvSpPr txBox="1"/>
          <p:nvPr/>
        </p:nvSpPr>
        <p:spPr>
          <a:xfrm>
            <a:off x="1188720" y="1463040"/>
            <a:ext cx="3383280" cy="320040"/>
          </a:xfrm>
          <a:prstGeom prst="rect">
            <a:avLst/>
          </a:prstGeom>
          <a:noFill/>
          <a:ln/>
        </p:spPr>
        <p:txBody>
          <a:bodyPr wrap="square" lIns="0" tIns="0" rIns="0" bIns="0" rtlCol="0" anchor="t"/>
          <a:lstStyle/>
          <a:p>
            <a:pPr marL="0" indent="0">
              <a:buNone/>
            </a:pPr>
            <a:r>
              <a:rPr lang="en-US" sz="1500" b="1" dirty="0">
                <a:solidFill>
                  <a:srgbClr val="1F2937"/>
                </a:solidFill>
                <a:latin typeface="Calibri" pitchFamily="34" charset="0"/>
                <a:ea typeface="Calibri" pitchFamily="34" charset="-122"/>
                <a:cs typeface="Calibri" pitchFamily="34" charset="-120"/>
              </a:rPr>
              <a:t>Data quality checks</a:t>
            </a:r>
            <a:endParaRPr lang="en-US" sz="1500" dirty="0"/>
          </a:p>
        </p:txBody>
      </p:sp>
      <p:sp>
        <p:nvSpPr>
          <p:cNvPr id="6" name="Text 3"/>
          <p:cNvSpPr txBox="1"/>
          <p:nvPr/>
        </p:nvSpPr>
        <p:spPr>
          <a:xfrm>
            <a:off x="1188720" y="1792224"/>
            <a:ext cx="3383280" cy="347472"/>
          </a:xfrm>
          <a:prstGeom prst="rect">
            <a:avLst/>
          </a:prstGeom>
          <a:noFill/>
          <a:ln/>
        </p:spPr>
        <p:txBody>
          <a:bodyPr wrap="square" lIns="0" tIns="0" rIns="0" bIns="0" rtlCol="0" anchor="t"/>
          <a:lstStyle/>
          <a:p>
            <a:pPr marL="0" indent="0">
              <a:buNone/>
            </a:pPr>
            <a:r>
              <a:rPr lang="en-US" sz="1200" dirty="0">
                <a:solidFill>
                  <a:srgbClr val="5B6678"/>
                </a:solidFill>
                <a:latin typeface="Calibri" pitchFamily="34" charset="0"/>
                <a:ea typeface="Calibri" pitchFamily="34" charset="-122"/>
                <a:cs typeface="Calibri" pitchFamily="34" charset="-120"/>
              </a:rPr>
              <a:t>0 missing values; no duplicate customer IDs</a:t>
            </a:r>
            <a:endParaRPr lang="en-US" sz="1200" dirty="0"/>
          </a:p>
        </p:txBody>
      </p:sp>
      <p:sp>
        <p:nvSpPr>
          <p:cNvPr id="7" name="card"/>
          <p:cNvSpPr/>
          <p:nvPr/>
        </p:nvSpPr>
        <p:spPr>
          <a:xfrm>
            <a:off x="548640" y="2313432"/>
            <a:ext cx="4114800" cy="822960"/>
          </a:xfrm>
          <a:prstGeom prst="roundRect">
            <a:avLst>
              <a:gd name="adj" fmla="val 4444"/>
            </a:avLst>
          </a:prstGeom>
          <a:solidFill>
            <a:srgbClr val="FFFFFF"/>
          </a:solidFill>
          <a:ln w="9525">
            <a:solidFill>
              <a:srgbClr val="D3DAE5"/>
            </a:solidFill>
            <a:prstDash val="solid"/>
          </a:ln>
        </p:spPr>
      </p:sp>
      <p:pic>
        <p:nvPicPr>
          <p:cNvPr id="8" name="Image 1" descr="done"/>
          <p:cNvPicPr>
            <a:picLocks noChangeAspect="1"/>
          </p:cNvPicPr>
          <p:nvPr/>
        </p:nvPicPr>
        <p:blipFill>
          <a:blip r:embed="rId3"/>
          <a:stretch>
            <a:fillRect/>
          </a:stretch>
        </p:blipFill>
        <p:spPr>
          <a:xfrm>
            <a:off x="713232" y="2560320"/>
            <a:ext cx="329184" cy="329184"/>
          </a:xfrm>
          <a:prstGeom prst="rect">
            <a:avLst/>
          </a:prstGeom>
        </p:spPr>
      </p:pic>
      <p:sp>
        <p:nvSpPr>
          <p:cNvPr id="9" name="Text 5"/>
          <p:cNvSpPr txBox="1"/>
          <p:nvPr/>
        </p:nvSpPr>
        <p:spPr>
          <a:xfrm>
            <a:off x="1188720" y="2404872"/>
            <a:ext cx="3383280" cy="320040"/>
          </a:xfrm>
          <a:prstGeom prst="rect">
            <a:avLst/>
          </a:prstGeom>
          <a:noFill/>
          <a:ln/>
        </p:spPr>
        <p:txBody>
          <a:bodyPr wrap="square" lIns="0" tIns="0" rIns="0" bIns="0" rtlCol="0" anchor="t"/>
          <a:lstStyle/>
          <a:p>
            <a:pPr marL="0" indent="0">
              <a:buNone/>
            </a:pPr>
            <a:r>
              <a:rPr lang="en-US" sz="1500" b="1" dirty="0">
                <a:solidFill>
                  <a:srgbClr val="1F2937"/>
                </a:solidFill>
                <a:latin typeface="Calibri" pitchFamily="34" charset="0"/>
                <a:ea typeface="Calibri" pitchFamily="34" charset="-122"/>
                <a:cs typeface="Calibri" pitchFamily="34" charset="-120"/>
              </a:rPr>
              <a:t>Feature selection</a:t>
            </a:r>
            <a:endParaRPr lang="en-US" sz="1500" dirty="0"/>
          </a:p>
        </p:txBody>
      </p:sp>
      <p:sp>
        <p:nvSpPr>
          <p:cNvPr id="10" name="Text 6"/>
          <p:cNvSpPr txBox="1"/>
          <p:nvPr/>
        </p:nvSpPr>
        <p:spPr>
          <a:xfrm>
            <a:off x="1188720" y="2734056"/>
            <a:ext cx="3383280" cy="347472"/>
          </a:xfrm>
          <a:prstGeom prst="rect">
            <a:avLst/>
          </a:prstGeom>
          <a:noFill/>
          <a:ln/>
        </p:spPr>
        <p:txBody>
          <a:bodyPr wrap="square" lIns="0" tIns="0" rIns="0" bIns="0" rtlCol="0" anchor="t"/>
          <a:lstStyle/>
          <a:p>
            <a:pPr marL="0" indent="0">
              <a:buNone/>
            </a:pPr>
            <a:r>
              <a:rPr lang="en-US" sz="1200" dirty="0">
                <a:solidFill>
                  <a:srgbClr val="5B6678"/>
                </a:solidFill>
                <a:latin typeface="Calibri" pitchFamily="34" charset="0"/>
                <a:ea typeface="Calibri" pitchFamily="34" charset="-122"/>
                <a:cs typeface="Calibri" pitchFamily="34" charset="-120"/>
              </a:rPr>
              <a:t>Annual Income (k$) + Spending Score (1-100)</a:t>
            </a:r>
            <a:endParaRPr lang="en-US" sz="1200" dirty="0"/>
          </a:p>
        </p:txBody>
      </p:sp>
      <p:sp>
        <p:nvSpPr>
          <p:cNvPr id="11" name="card"/>
          <p:cNvSpPr/>
          <p:nvPr/>
        </p:nvSpPr>
        <p:spPr>
          <a:xfrm>
            <a:off x="548640" y="3255264"/>
            <a:ext cx="4114800" cy="822960"/>
          </a:xfrm>
          <a:prstGeom prst="roundRect">
            <a:avLst>
              <a:gd name="adj" fmla="val 4444"/>
            </a:avLst>
          </a:prstGeom>
          <a:solidFill>
            <a:srgbClr val="FFFFFF"/>
          </a:solidFill>
          <a:ln w="9525">
            <a:solidFill>
              <a:srgbClr val="D3DAE5"/>
            </a:solidFill>
            <a:prstDash val="solid"/>
          </a:ln>
        </p:spPr>
      </p:sp>
      <p:pic>
        <p:nvPicPr>
          <p:cNvPr id="12" name="Image 2" descr="done"/>
          <p:cNvPicPr>
            <a:picLocks noChangeAspect="1"/>
          </p:cNvPicPr>
          <p:nvPr/>
        </p:nvPicPr>
        <p:blipFill>
          <a:blip r:embed="rId3"/>
          <a:stretch>
            <a:fillRect/>
          </a:stretch>
        </p:blipFill>
        <p:spPr>
          <a:xfrm>
            <a:off x="713232" y="3502152"/>
            <a:ext cx="329184" cy="329184"/>
          </a:xfrm>
          <a:prstGeom prst="rect">
            <a:avLst/>
          </a:prstGeom>
        </p:spPr>
      </p:pic>
      <p:sp>
        <p:nvSpPr>
          <p:cNvPr id="13" name="Text 8"/>
          <p:cNvSpPr txBox="1"/>
          <p:nvPr/>
        </p:nvSpPr>
        <p:spPr>
          <a:xfrm>
            <a:off x="1188720" y="3346704"/>
            <a:ext cx="3383280" cy="320040"/>
          </a:xfrm>
          <a:prstGeom prst="rect">
            <a:avLst/>
          </a:prstGeom>
          <a:noFill/>
          <a:ln/>
        </p:spPr>
        <p:txBody>
          <a:bodyPr wrap="square" lIns="0" tIns="0" rIns="0" bIns="0" rtlCol="0" anchor="t"/>
          <a:lstStyle/>
          <a:p>
            <a:pPr marL="0" indent="0">
              <a:buNone/>
            </a:pPr>
            <a:r>
              <a:rPr lang="en-US" sz="1500" b="1" dirty="0">
                <a:solidFill>
                  <a:srgbClr val="1F2937"/>
                </a:solidFill>
                <a:latin typeface="Calibri" pitchFamily="34" charset="0"/>
                <a:ea typeface="Calibri" pitchFamily="34" charset="-122"/>
                <a:cs typeface="Calibri" pitchFamily="34" charset="-120"/>
              </a:rPr>
              <a:t>CustomerID excluded</a:t>
            </a:r>
            <a:endParaRPr lang="en-US" sz="1500" dirty="0"/>
          </a:p>
        </p:txBody>
      </p:sp>
      <p:sp>
        <p:nvSpPr>
          <p:cNvPr id="14" name="Text 9"/>
          <p:cNvSpPr txBox="1"/>
          <p:nvPr/>
        </p:nvSpPr>
        <p:spPr>
          <a:xfrm>
            <a:off x="1188720" y="3675888"/>
            <a:ext cx="3383280" cy="347472"/>
          </a:xfrm>
          <a:prstGeom prst="rect">
            <a:avLst/>
          </a:prstGeom>
          <a:noFill/>
          <a:ln/>
        </p:spPr>
        <p:txBody>
          <a:bodyPr wrap="square" lIns="0" tIns="0" rIns="0" bIns="0" rtlCol="0" anchor="t"/>
          <a:lstStyle/>
          <a:p>
            <a:pPr marL="0" indent="0">
              <a:buNone/>
            </a:pPr>
            <a:r>
              <a:rPr lang="en-US" sz="1200" dirty="0">
                <a:solidFill>
                  <a:srgbClr val="5B6678"/>
                </a:solidFill>
                <a:latin typeface="Calibri" pitchFamily="34" charset="0"/>
                <a:ea typeface="Calibri" pitchFamily="34" charset="-122"/>
                <a:cs typeface="Calibri" pitchFamily="34" charset="-120"/>
              </a:rPr>
              <a:t>Identifier, not a behavioural feature</a:t>
            </a:r>
            <a:endParaRPr lang="en-US" sz="1200" dirty="0"/>
          </a:p>
        </p:txBody>
      </p:sp>
      <p:sp>
        <p:nvSpPr>
          <p:cNvPr id="15" name="card"/>
          <p:cNvSpPr/>
          <p:nvPr/>
        </p:nvSpPr>
        <p:spPr>
          <a:xfrm>
            <a:off x="548640" y="4197096"/>
            <a:ext cx="4114800" cy="822960"/>
          </a:xfrm>
          <a:prstGeom prst="roundRect">
            <a:avLst>
              <a:gd name="adj" fmla="val 4444"/>
            </a:avLst>
          </a:prstGeom>
          <a:solidFill>
            <a:srgbClr val="FFFFFF"/>
          </a:solidFill>
          <a:ln w="9525">
            <a:solidFill>
              <a:srgbClr val="D3DAE5"/>
            </a:solidFill>
            <a:prstDash val="solid"/>
          </a:ln>
        </p:spPr>
      </p:sp>
      <p:pic>
        <p:nvPicPr>
          <p:cNvPr id="16" name="Image 3" descr="done"/>
          <p:cNvPicPr>
            <a:picLocks noChangeAspect="1"/>
          </p:cNvPicPr>
          <p:nvPr/>
        </p:nvPicPr>
        <p:blipFill>
          <a:blip r:embed="rId3"/>
          <a:stretch>
            <a:fillRect/>
          </a:stretch>
        </p:blipFill>
        <p:spPr>
          <a:xfrm>
            <a:off x="713232" y="4443984"/>
            <a:ext cx="329184" cy="329184"/>
          </a:xfrm>
          <a:prstGeom prst="rect">
            <a:avLst/>
          </a:prstGeom>
        </p:spPr>
      </p:pic>
      <p:sp>
        <p:nvSpPr>
          <p:cNvPr id="17" name="Text 11"/>
          <p:cNvSpPr txBox="1"/>
          <p:nvPr/>
        </p:nvSpPr>
        <p:spPr>
          <a:xfrm>
            <a:off x="1188720" y="4288536"/>
            <a:ext cx="3383280" cy="320040"/>
          </a:xfrm>
          <a:prstGeom prst="rect">
            <a:avLst/>
          </a:prstGeom>
          <a:noFill/>
          <a:ln/>
        </p:spPr>
        <p:txBody>
          <a:bodyPr wrap="square" lIns="0" tIns="0" rIns="0" bIns="0" rtlCol="0" anchor="t"/>
          <a:lstStyle/>
          <a:p>
            <a:pPr marL="0" indent="0">
              <a:buNone/>
            </a:pPr>
            <a:r>
              <a:rPr lang="en-US" sz="1500" b="1" dirty="0">
                <a:solidFill>
                  <a:srgbClr val="1F2937"/>
                </a:solidFill>
                <a:latin typeface="Calibri" pitchFamily="34" charset="0"/>
                <a:ea typeface="Calibri" pitchFamily="34" charset="-122"/>
                <a:cs typeface="Calibri" pitchFamily="34" charset="-120"/>
              </a:rPr>
              <a:t>StandardScaler</a:t>
            </a:r>
            <a:endParaRPr lang="en-US" sz="1500" dirty="0"/>
          </a:p>
        </p:txBody>
      </p:sp>
      <p:sp>
        <p:nvSpPr>
          <p:cNvPr id="18" name="Text 12"/>
          <p:cNvSpPr txBox="1"/>
          <p:nvPr/>
        </p:nvSpPr>
        <p:spPr>
          <a:xfrm>
            <a:off x="1188720" y="4617720"/>
            <a:ext cx="3383280" cy="347472"/>
          </a:xfrm>
          <a:prstGeom prst="rect">
            <a:avLst/>
          </a:prstGeom>
          <a:noFill/>
          <a:ln/>
        </p:spPr>
        <p:txBody>
          <a:bodyPr wrap="square" lIns="0" tIns="0" rIns="0" bIns="0" rtlCol="0" anchor="t"/>
          <a:lstStyle/>
          <a:p>
            <a:pPr marL="0" indent="0">
              <a:buNone/>
            </a:pPr>
            <a:r>
              <a:rPr lang="en-US" sz="1200" dirty="0">
                <a:solidFill>
                  <a:srgbClr val="5B6678"/>
                </a:solidFill>
                <a:latin typeface="Calibri" pitchFamily="34" charset="0"/>
                <a:ea typeface="Calibri" pitchFamily="34" charset="-122"/>
                <a:cs typeface="Calibri" pitchFamily="34" charset="-120"/>
              </a:rPr>
              <a:t>Equal weight in distance calculations</a:t>
            </a:r>
            <a:endParaRPr lang="en-US" sz="1200" dirty="0"/>
          </a:p>
        </p:txBody>
      </p:sp>
      <p:sp>
        <p:nvSpPr>
          <p:cNvPr id="19" name="card"/>
          <p:cNvSpPr/>
          <p:nvPr/>
        </p:nvSpPr>
        <p:spPr>
          <a:xfrm>
            <a:off x="548640" y="5138928"/>
            <a:ext cx="4114800" cy="822960"/>
          </a:xfrm>
          <a:prstGeom prst="roundRect">
            <a:avLst>
              <a:gd name="adj" fmla="val 4444"/>
            </a:avLst>
          </a:prstGeom>
          <a:solidFill>
            <a:srgbClr val="FFFFFF"/>
          </a:solidFill>
          <a:ln w="9525">
            <a:solidFill>
              <a:srgbClr val="D3DAE5"/>
            </a:solidFill>
            <a:prstDash val="solid"/>
          </a:ln>
        </p:spPr>
      </p:sp>
      <p:pic>
        <p:nvPicPr>
          <p:cNvPr id="20" name="Image 4" descr="done"/>
          <p:cNvPicPr>
            <a:picLocks noChangeAspect="1"/>
          </p:cNvPicPr>
          <p:nvPr/>
        </p:nvPicPr>
        <p:blipFill>
          <a:blip r:embed="rId3"/>
          <a:stretch>
            <a:fillRect/>
          </a:stretch>
        </p:blipFill>
        <p:spPr>
          <a:xfrm>
            <a:off x="713232" y="5385816"/>
            <a:ext cx="329184" cy="329184"/>
          </a:xfrm>
          <a:prstGeom prst="rect">
            <a:avLst/>
          </a:prstGeom>
        </p:spPr>
      </p:pic>
      <p:sp>
        <p:nvSpPr>
          <p:cNvPr id="21" name="Text 14"/>
          <p:cNvSpPr txBox="1"/>
          <p:nvPr/>
        </p:nvSpPr>
        <p:spPr>
          <a:xfrm>
            <a:off x="1188720" y="5230368"/>
            <a:ext cx="3383280" cy="320040"/>
          </a:xfrm>
          <a:prstGeom prst="rect">
            <a:avLst/>
          </a:prstGeom>
          <a:noFill/>
          <a:ln/>
        </p:spPr>
        <p:txBody>
          <a:bodyPr wrap="square" lIns="0" tIns="0" rIns="0" bIns="0" rtlCol="0" anchor="t"/>
          <a:lstStyle/>
          <a:p>
            <a:pPr marL="0" indent="0">
              <a:buNone/>
            </a:pPr>
            <a:r>
              <a:rPr lang="en-US" sz="1500" b="1" dirty="0">
                <a:solidFill>
                  <a:srgbClr val="1F2937"/>
                </a:solidFill>
                <a:latin typeface="Calibri" pitchFamily="34" charset="0"/>
                <a:ea typeface="Calibri" pitchFamily="34" charset="-122"/>
                <a:cs typeface="Calibri" pitchFamily="34" charset="-120"/>
              </a:rPr>
              <a:t>No train/test split</a:t>
            </a:r>
            <a:endParaRPr lang="en-US" sz="1500" dirty="0"/>
          </a:p>
        </p:txBody>
      </p:sp>
      <p:sp>
        <p:nvSpPr>
          <p:cNvPr id="22" name="Text 15"/>
          <p:cNvSpPr txBox="1"/>
          <p:nvPr/>
        </p:nvSpPr>
        <p:spPr>
          <a:xfrm>
            <a:off x="1188720" y="5559552"/>
            <a:ext cx="3383280" cy="347472"/>
          </a:xfrm>
          <a:prstGeom prst="rect">
            <a:avLst/>
          </a:prstGeom>
          <a:noFill/>
          <a:ln/>
        </p:spPr>
        <p:txBody>
          <a:bodyPr wrap="square" lIns="0" tIns="0" rIns="0" bIns="0" rtlCol="0" anchor="t"/>
          <a:lstStyle/>
          <a:p>
            <a:pPr marL="0" indent="0">
              <a:buNone/>
            </a:pPr>
            <a:r>
              <a:rPr lang="en-US" sz="1200" dirty="0">
                <a:solidFill>
                  <a:srgbClr val="5B6678"/>
                </a:solidFill>
                <a:latin typeface="Calibri" pitchFamily="34" charset="0"/>
                <a:ea typeface="Calibri" pitchFamily="34" charset="-122"/>
                <a:cs typeface="Calibri" pitchFamily="34" charset="-120"/>
              </a:rPr>
              <a:t>Unsupervised task — nothing to predict</a:t>
            </a:r>
            <a:endParaRPr lang="en-US" sz="1200" dirty="0"/>
          </a:p>
        </p:txBody>
      </p:sp>
      <p:sp>
        <p:nvSpPr>
          <p:cNvPr id="23" name="image-card"/>
          <p:cNvSpPr/>
          <p:nvPr/>
        </p:nvSpPr>
        <p:spPr>
          <a:xfrm>
            <a:off x="4937760" y="1371600"/>
            <a:ext cx="6720840" cy="1828800"/>
          </a:xfrm>
          <a:prstGeom prst="roundRect">
            <a:avLst>
              <a:gd name="adj" fmla="val 1500"/>
            </a:avLst>
          </a:prstGeom>
          <a:solidFill>
            <a:srgbClr val="FFFFFF"/>
          </a:solidFill>
          <a:ln w="9525">
            <a:solidFill>
              <a:srgbClr val="D3DAE5"/>
            </a:solidFill>
            <a:prstDash val="solid"/>
          </a:ln>
        </p:spPr>
      </p:sp>
      <p:pic>
        <p:nvPicPr>
          <p:cNvPr id="24" name="Image 5" descr="Histograms of age, annual income and spending score"/>
          <p:cNvPicPr>
            <a:picLocks noChangeAspect="1"/>
          </p:cNvPicPr>
          <p:nvPr/>
        </p:nvPicPr>
        <p:blipFill>
          <a:blip r:embed="rId4"/>
          <a:stretch>
            <a:fillRect/>
          </a:stretch>
        </p:blipFill>
        <p:spPr>
          <a:xfrm>
            <a:off x="4983480" y="1417320"/>
            <a:ext cx="6629400" cy="1808566"/>
          </a:xfrm>
          <a:prstGeom prst="rect">
            <a:avLst/>
          </a:prstGeom>
        </p:spPr>
      </p:pic>
      <p:sp>
        <p:nvSpPr>
          <p:cNvPr id="25" name="Text 17"/>
          <p:cNvSpPr txBox="1"/>
          <p:nvPr/>
        </p:nvSpPr>
        <p:spPr>
          <a:xfrm>
            <a:off x="4937760" y="3246120"/>
            <a:ext cx="6720840" cy="274320"/>
          </a:xfrm>
          <a:prstGeom prst="rect">
            <a:avLst/>
          </a:prstGeom>
          <a:noFill/>
          <a:ln/>
        </p:spPr>
        <p:txBody>
          <a:bodyPr wrap="square" lIns="0" tIns="0" rIns="0" bIns="0" rtlCol="0" anchor="t"/>
          <a:lstStyle/>
          <a:p>
            <a:pPr marL="0" indent="0" algn="ctr">
              <a:buNone/>
            </a:pPr>
            <a:r>
              <a:rPr lang="en-US" sz="1100" dirty="0">
                <a:solidFill>
                  <a:srgbClr val="5B6678"/>
                </a:solidFill>
                <a:latin typeface="Calibri" pitchFamily="34" charset="0"/>
                <a:ea typeface="Calibri" pitchFamily="34" charset="-122"/>
                <a:cs typeface="Calibri" pitchFamily="34" charset="-120"/>
              </a:rPr>
              <a:t>Feature distributions (Age, Annual Income, Spending Score)</a:t>
            </a:r>
            <a:endParaRPr lang="en-US" sz="1100" dirty="0"/>
          </a:p>
        </p:txBody>
      </p:sp>
      <p:sp>
        <p:nvSpPr>
          <p:cNvPr id="26" name="image-card"/>
          <p:cNvSpPr/>
          <p:nvPr/>
        </p:nvSpPr>
        <p:spPr>
          <a:xfrm>
            <a:off x="4937760" y="3611880"/>
            <a:ext cx="2514600" cy="2148840"/>
          </a:xfrm>
          <a:prstGeom prst="roundRect">
            <a:avLst>
              <a:gd name="adj" fmla="val 1277"/>
            </a:avLst>
          </a:prstGeom>
          <a:solidFill>
            <a:srgbClr val="FFFFFF"/>
          </a:solidFill>
          <a:ln w="9525">
            <a:solidFill>
              <a:srgbClr val="D3DAE5"/>
            </a:solidFill>
            <a:prstDash val="solid"/>
          </a:ln>
        </p:spPr>
      </p:sp>
      <p:pic>
        <p:nvPicPr>
          <p:cNvPr id="27" name="Image 6" descr="Correlation heatmap"/>
          <p:cNvPicPr>
            <a:picLocks noChangeAspect="1"/>
          </p:cNvPicPr>
          <p:nvPr/>
        </p:nvPicPr>
        <p:blipFill>
          <a:blip r:embed="rId5"/>
          <a:stretch>
            <a:fillRect/>
          </a:stretch>
        </p:blipFill>
        <p:spPr>
          <a:xfrm>
            <a:off x="5029200" y="3657600"/>
            <a:ext cx="2331720" cy="1993392"/>
          </a:xfrm>
          <a:prstGeom prst="rect">
            <a:avLst/>
          </a:prstGeom>
        </p:spPr>
      </p:pic>
      <p:sp>
        <p:nvSpPr>
          <p:cNvPr id="28" name="card"/>
          <p:cNvSpPr/>
          <p:nvPr/>
        </p:nvSpPr>
        <p:spPr>
          <a:xfrm>
            <a:off x="7635240" y="3611880"/>
            <a:ext cx="4023360" cy="2148840"/>
          </a:xfrm>
          <a:prstGeom prst="roundRect">
            <a:avLst>
              <a:gd name="adj" fmla="val 1702"/>
            </a:avLst>
          </a:prstGeom>
          <a:solidFill>
            <a:srgbClr val="FFFFFF"/>
          </a:solidFill>
          <a:ln w="9525">
            <a:solidFill>
              <a:srgbClr val="D3DAE5"/>
            </a:solidFill>
            <a:prstDash val="solid"/>
          </a:ln>
        </p:spPr>
      </p:sp>
      <p:sp>
        <p:nvSpPr>
          <p:cNvPr id="29" name="Text 20"/>
          <p:cNvSpPr txBox="1"/>
          <p:nvPr/>
        </p:nvSpPr>
        <p:spPr>
          <a:xfrm>
            <a:off x="7818120" y="3703320"/>
            <a:ext cx="3657600" cy="320040"/>
          </a:xfrm>
          <a:prstGeom prst="rect">
            <a:avLst/>
          </a:prstGeom>
          <a:noFill/>
          <a:ln/>
        </p:spPr>
        <p:txBody>
          <a:bodyPr wrap="square" lIns="0" tIns="0" rIns="0" bIns="0" rtlCol="0" anchor="t"/>
          <a:lstStyle/>
          <a:p>
            <a:pPr marL="0" indent="0">
              <a:buNone/>
            </a:pPr>
            <a:r>
              <a:rPr lang="en-US" sz="1500" b="1" dirty="0">
                <a:solidFill>
                  <a:srgbClr val="2F5D8C"/>
                </a:solidFill>
                <a:latin typeface="Calibri" pitchFamily="34" charset="0"/>
                <a:ea typeface="Calibri" pitchFamily="34" charset="-122"/>
                <a:cs typeface="Calibri" pitchFamily="34" charset="-120"/>
              </a:rPr>
              <a:t>What the EDA shows</a:t>
            </a:r>
            <a:endParaRPr lang="en-US" sz="1500" dirty="0"/>
          </a:p>
        </p:txBody>
      </p:sp>
      <p:sp>
        <p:nvSpPr>
          <p:cNvPr id="30" name="Text 21"/>
          <p:cNvSpPr txBox="1"/>
          <p:nvPr/>
        </p:nvSpPr>
        <p:spPr>
          <a:xfrm>
            <a:off x="7818120" y="4069080"/>
            <a:ext cx="3703320" cy="164592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374151"/>
                </a:solidFill>
                <a:latin typeface="Calibri" pitchFamily="34" charset="0"/>
                <a:ea typeface="Calibri" pitchFamily="34" charset="-122"/>
                <a:cs typeface="Calibri" pitchFamily="34" charset="-120"/>
              </a:rPr>
              <a:t>Income vs Spending correlation ≈ 0.01: no linear relationship</a:t>
            </a:r>
            <a:endParaRPr lang="en-US" sz="1300" dirty="0"/>
          </a:p>
          <a:p>
            <a:pPr marL="342900" indent="-342900">
              <a:spcAft>
                <a:spcPts val="500"/>
              </a:spcAft>
              <a:buSzPct val="100000"/>
              <a:buChar char="•"/>
            </a:pPr>
            <a:r>
              <a:rPr lang="en-US" sz="1300" dirty="0">
                <a:solidFill>
                  <a:srgbClr val="374151"/>
                </a:solidFill>
                <a:latin typeface="Calibri" pitchFamily="34" charset="0"/>
                <a:ea typeface="Calibri" pitchFamily="34" charset="-122"/>
                <a:cs typeface="Calibri" pitchFamily="34" charset="-120"/>
              </a:rPr>
              <a:t>Age vs Spending ≈ −0.33</a:t>
            </a:r>
            <a:endParaRPr lang="en-US" sz="1300" dirty="0"/>
          </a:p>
          <a:p>
            <a:pPr marL="342900" indent="-342900">
              <a:spcAft>
                <a:spcPts val="500"/>
              </a:spcAft>
              <a:buSzPct val="100000"/>
              <a:buChar char="•"/>
            </a:pPr>
            <a:r>
              <a:rPr lang="en-US" sz="1300" dirty="0">
                <a:solidFill>
                  <a:srgbClr val="374151"/>
                </a:solidFill>
                <a:latin typeface="Calibri" pitchFamily="34" charset="0"/>
                <a:ea typeface="Calibri" pitchFamily="34" charset="-122"/>
                <a:cs typeface="Calibri" pitchFamily="34" charset="-120"/>
              </a:rPr>
              <a:t>Group structure only appears when both features are viewed together</a:t>
            </a:r>
            <a:endParaRPr lang="en-US" sz="1300" dirty="0"/>
          </a:p>
        </p:txBody>
      </p:sp>
      <p:sp>
        <p:nvSpPr>
          <p:cNvPr id="31" name="Text 22"/>
          <p:cNvSpPr txBox="1"/>
          <p:nvPr/>
        </p:nvSpPr>
        <p:spPr>
          <a:xfrm>
            <a:off x="4937760" y="5897880"/>
            <a:ext cx="6720840" cy="274320"/>
          </a:xfrm>
          <a:prstGeom prst="rect">
            <a:avLst/>
          </a:prstGeom>
          <a:noFill/>
          <a:ln/>
        </p:spPr>
        <p:txBody>
          <a:bodyPr wrap="square" lIns="0" tIns="0" rIns="0" bIns="0" rtlCol="0" anchor="t"/>
          <a:lstStyle/>
          <a:p>
            <a:pPr marL="0" indent="0">
              <a:buNone/>
            </a:pPr>
            <a:r>
              <a:rPr lang="en-US" sz="1000" dirty="0">
                <a:solidFill>
                  <a:srgbClr val="7A8599"/>
                </a:solidFill>
                <a:latin typeface="Calibri" pitchFamily="34" charset="0"/>
                <a:ea typeface="Calibri" pitchFamily="34" charset="-122"/>
                <a:cs typeface="Calibri" pitchFamily="34" charset="-120"/>
              </a:rPr>
              <a:t>Source: 02_feature_distributions.png, 03_eda_relationships.png (project assets)</a:t>
            </a:r>
            <a:endParaRPr lang="en-US" sz="1000" dirty="0"/>
          </a:p>
        </p:txBody>
      </p:sp>
      <p:sp>
        <p:nvSpPr>
          <p:cNvPr id="32"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8599"/>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64240" cy="777240"/>
          </a:xfrm>
          <a:prstGeom prst="rect">
            <a:avLst/>
          </a:prstGeom>
          <a:noFill/>
          <a:ln/>
        </p:spPr>
        <p:txBody>
          <a:bodyPr wrap="square" lIns="0" tIns="0" rIns="0" bIns="0" rtlCol="0" anchor="ctr"/>
          <a:lstStyle/>
          <a:p>
            <a:pPr marL="0" indent="0">
              <a:buNone/>
            </a:pPr>
            <a:r>
              <a:rPr lang="en-US" sz="3200" b="1" dirty="0">
                <a:solidFill>
                  <a:srgbClr val="1F2937"/>
                </a:solidFill>
                <a:latin typeface="Cambria" pitchFamily="34" charset="0"/>
                <a:ea typeface="Cambria" pitchFamily="34" charset="-122"/>
                <a:cs typeface="Cambria" pitchFamily="34" charset="-120"/>
              </a:rPr>
              <a:t>Methodology Pipeline</a:t>
            </a:r>
            <a:endParaRPr lang="en-US" sz="3200" dirty="0"/>
          </a:p>
        </p:txBody>
      </p:sp>
      <p:sp>
        <p:nvSpPr>
          <p:cNvPr id="3" name="card"/>
          <p:cNvSpPr/>
          <p:nvPr/>
        </p:nvSpPr>
        <p:spPr>
          <a:xfrm>
            <a:off x="548640" y="1508760"/>
            <a:ext cx="1956816" cy="1691640"/>
          </a:xfrm>
          <a:prstGeom prst="roundRect">
            <a:avLst>
              <a:gd name="adj" fmla="val 2162"/>
            </a:avLst>
          </a:prstGeom>
          <a:solidFill>
            <a:srgbClr val="FFFFFF"/>
          </a:solidFill>
          <a:ln w="9525">
            <a:solidFill>
              <a:srgbClr val="D3DAE5"/>
            </a:solidFill>
            <a:prstDash val="solid"/>
          </a:ln>
        </p:spPr>
      </p:sp>
      <p:sp>
        <p:nvSpPr>
          <p:cNvPr id="4" name="Shape 2"/>
          <p:cNvSpPr/>
          <p:nvPr/>
        </p:nvSpPr>
        <p:spPr>
          <a:xfrm>
            <a:off x="685800" y="1645920"/>
            <a:ext cx="411480" cy="411480"/>
          </a:xfrm>
          <a:prstGeom prst="ellipse">
            <a:avLst/>
          </a:prstGeom>
          <a:solidFill>
            <a:srgbClr val="2F5D8C"/>
          </a:solidFill>
          <a:ln w="6350">
            <a:solidFill>
              <a:srgbClr val="2F5D8C"/>
            </a:solidFill>
            <a:prstDash val="solid"/>
          </a:ln>
        </p:spPr>
      </p:sp>
      <p:sp>
        <p:nvSpPr>
          <p:cNvPr id="5" name="Text 3"/>
          <p:cNvSpPr txBox="1"/>
          <p:nvPr/>
        </p:nvSpPr>
        <p:spPr>
          <a:xfrm>
            <a:off x="685800" y="16459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685800" y="2167128"/>
            <a:ext cx="1682496" cy="502920"/>
          </a:xfrm>
          <a:prstGeom prst="rect">
            <a:avLst/>
          </a:prstGeom>
          <a:noFill/>
          <a:ln/>
        </p:spPr>
        <p:txBody>
          <a:bodyPr wrap="square" lIns="0" tIns="0" rIns="0" bIns="0" rtlCol="0" anchor="t"/>
          <a:lstStyle/>
          <a:p>
            <a:pPr marL="0" indent="0">
              <a:buNone/>
            </a:pPr>
            <a:r>
              <a:rPr lang="en-US" sz="1500" b="1" dirty="0">
                <a:solidFill>
                  <a:srgbClr val="1F2937"/>
                </a:solidFill>
                <a:latin typeface="Cambria" pitchFamily="34" charset="0"/>
                <a:ea typeface="Cambria" pitchFamily="34" charset="-122"/>
                <a:cs typeface="Cambria" pitchFamily="34" charset="-120"/>
              </a:rPr>
              <a:t>Dataset</a:t>
            </a:r>
            <a:endParaRPr lang="en-US" sz="1500" dirty="0"/>
          </a:p>
        </p:txBody>
      </p:sp>
      <p:sp>
        <p:nvSpPr>
          <p:cNvPr id="7" name="Text 5"/>
          <p:cNvSpPr txBox="1"/>
          <p:nvPr/>
        </p:nvSpPr>
        <p:spPr>
          <a:xfrm>
            <a:off x="685800" y="2697480"/>
            <a:ext cx="1682496" cy="457200"/>
          </a:xfrm>
          <a:prstGeom prst="rect">
            <a:avLst/>
          </a:prstGeom>
          <a:noFill/>
          <a:ln/>
        </p:spPr>
        <p:txBody>
          <a:bodyPr wrap="square" lIns="0" tIns="0" rIns="0" bIns="0" rtlCol="0" anchor="t"/>
          <a:lstStyle/>
          <a:p>
            <a:pPr marL="0" indent="0">
              <a:buNone/>
            </a:pPr>
            <a:r>
              <a:rPr lang="en-US" sz="1200" dirty="0">
                <a:solidFill>
                  <a:srgbClr val="5B6678"/>
                </a:solidFill>
                <a:latin typeface="Calibri" pitchFamily="34" charset="0"/>
                <a:ea typeface="Calibri" pitchFamily="34" charset="-122"/>
                <a:cs typeface="Calibri" pitchFamily="34" charset="-120"/>
              </a:rPr>
              <a:t>Mall_Customers.csv, 200 × 5</a:t>
            </a:r>
            <a:endParaRPr lang="en-US" sz="1200" dirty="0"/>
          </a:p>
        </p:txBody>
      </p:sp>
      <p:sp>
        <p:nvSpPr>
          <p:cNvPr id="8" name="Shape 6"/>
          <p:cNvSpPr/>
          <p:nvPr/>
        </p:nvSpPr>
        <p:spPr>
          <a:xfrm>
            <a:off x="2532888" y="2350008"/>
            <a:ext cx="274320" cy="0"/>
          </a:xfrm>
          <a:prstGeom prst="line">
            <a:avLst/>
          </a:prstGeom>
          <a:noFill/>
          <a:ln w="22225">
            <a:solidFill>
              <a:srgbClr val="2F5D8C"/>
            </a:solidFill>
            <a:prstDash val="solid"/>
            <a:tailEnd type="triangle"/>
          </a:ln>
        </p:spPr>
      </p:sp>
      <p:sp>
        <p:nvSpPr>
          <p:cNvPr id="9" name="card"/>
          <p:cNvSpPr/>
          <p:nvPr/>
        </p:nvSpPr>
        <p:spPr>
          <a:xfrm>
            <a:off x="2834640" y="1508760"/>
            <a:ext cx="1956816" cy="1691640"/>
          </a:xfrm>
          <a:prstGeom prst="roundRect">
            <a:avLst>
              <a:gd name="adj" fmla="val 2162"/>
            </a:avLst>
          </a:prstGeom>
          <a:solidFill>
            <a:srgbClr val="FFFFFF"/>
          </a:solidFill>
          <a:ln w="9525">
            <a:solidFill>
              <a:srgbClr val="D3DAE5"/>
            </a:solidFill>
            <a:prstDash val="solid"/>
          </a:ln>
        </p:spPr>
      </p:sp>
      <p:sp>
        <p:nvSpPr>
          <p:cNvPr id="10" name="Shape 8"/>
          <p:cNvSpPr/>
          <p:nvPr/>
        </p:nvSpPr>
        <p:spPr>
          <a:xfrm>
            <a:off x="2971800" y="1645920"/>
            <a:ext cx="411480" cy="411480"/>
          </a:xfrm>
          <a:prstGeom prst="ellipse">
            <a:avLst/>
          </a:prstGeom>
          <a:solidFill>
            <a:srgbClr val="2F5D8C"/>
          </a:solidFill>
          <a:ln w="6350">
            <a:solidFill>
              <a:srgbClr val="2F5D8C"/>
            </a:solidFill>
            <a:prstDash val="solid"/>
          </a:ln>
        </p:spPr>
      </p:sp>
      <p:sp>
        <p:nvSpPr>
          <p:cNvPr id="11" name="Text 9"/>
          <p:cNvSpPr txBox="1"/>
          <p:nvPr/>
        </p:nvSpPr>
        <p:spPr>
          <a:xfrm>
            <a:off x="2971800" y="16459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2971800" y="2167128"/>
            <a:ext cx="1682496" cy="502920"/>
          </a:xfrm>
          <a:prstGeom prst="rect">
            <a:avLst/>
          </a:prstGeom>
          <a:noFill/>
          <a:ln/>
        </p:spPr>
        <p:txBody>
          <a:bodyPr wrap="square" lIns="0" tIns="0" rIns="0" bIns="0" rtlCol="0" anchor="t"/>
          <a:lstStyle/>
          <a:p>
            <a:pPr marL="0" indent="0">
              <a:buNone/>
            </a:pPr>
            <a:r>
              <a:rPr lang="en-US" sz="1500" b="1" dirty="0">
                <a:solidFill>
                  <a:srgbClr val="1F2937"/>
                </a:solidFill>
                <a:latin typeface="Cambria" pitchFamily="34" charset="0"/>
                <a:ea typeface="Cambria" pitchFamily="34" charset="-122"/>
                <a:cs typeface="Cambria" pitchFamily="34" charset="-120"/>
              </a:rPr>
              <a:t>Data Quality Validation</a:t>
            </a:r>
            <a:endParaRPr lang="en-US" sz="1500" dirty="0"/>
          </a:p>
        </p:txBody>
      </p:sp>
      <p:sp>
        <p:nvSpPr>
          <p:cNvPr id="13" name="Text 11"/>
          <p:cNvSpPr txBox="1"/>
          <p:nvPr/>
        </p:nvSpPr>
        <p:spPr>
          <a:xfrm>
            <a:off x="2971800" y="2697480"/>
            <a:ext cx="1682496" cy="457200"/>
          </a:xfrm>
          <a:prstGeom prst="rect">
            <a:avLst/>
          </a:prstGeom>
          <a:noFill/>
          <a:ln/>
        </p:spPr>
        <p:txBody>
          <a:bodyPr wrap="square" lIns="0" tIns="0" rIns="0" bIns="0" rtlCol="0" anchor="t"/>
          <a:lstStyle/>
          <a:p>
            <a:pPr marL="0" indent="0">
              <a:buNone/>
            </a:pPr>
            <a:r>
              <a:rPr lang="en-US" sz="1200" dirty="0">
                <a:solidFill>
                  <a:srgbClr val="5B6678"/>
                </a:solidFill>
                <a:latin typeface="Calibri" pitchFamily="34" charset="0"/>
                <a:ea typeface="Calibri" pitchFamily="34" charset="-122"/>
                <a:cs typeface="Calibri" pitchFamily="34" charset="-120"/>
              </a:rPr>
              <a:t>Missing values, duplicates</a:t>
            </a:r>
            <a:endParaRPr lang="en-US" sz="1200" dirty="0"/>
          </a:p>
        </p:txBody>
      </p:sp>
      <p:sp>
        <p:nvSpPr>
          <p:cNvPr id="14" name="Shape 12"/>
          <p:cNvSpPr/>
          <p:nvPr/>
        </p:nvSpPr>
        <p:spPr>
          <a:xfrm>
            <a:off x="4818888" y="2350008"/>
            <a:ext cx="274320" cy="0"/>
          </a:xfrm>
          <a:prstGeom prst="line">
            <a:avLst/>
          </a:prstGeom>
          <a:noFill/>
          <a:ln w="22225">
            <a:solidFill>
              <a:srgbClr val="2F5D8C"/>
            </a:solidFill>
            <a:prstDash val="solid"/>
            <a:tailEnd type="triangle"/>
          </a:ln>
        </p:spPr>
      </p:sp>
      <p:sp>
        <p:nvSpPr>
          <p:cNvPr id="15" name="card"/>
          <p:cNvSpPr/>
          <p:nvPr/>
        </p:nvSpPr>
        <p:spPr>
          <a:xfrm>
            <a:off x="5120640" y="1508760"/>
            <a:ext cx="1956816" cy="1691640"/>
          </a:xfrm>
          <a:prstGeom prst="roundRect">
            <a:avLst>
              <a:gd name="adj" fmla="val 2162"/>
            </a:avLst>
          </a:prstGeom>
          <a:solidFill>
            <a:srgbClr val="FFFFFF"/>
          </a:solidFill>
          <a:ln w="9525">
            <a:solidFill>
              <a:srgbClr val="D3DAE5"/>
            </a:solidFill>
            <a:prstDash val="solid"/>
          </a:ln>
        </p:spPr>
      </p:sp>
      <p:sp>
        <p:nvSpPr>
          <p:cNvPr id="16" name="Shape 14"/>
          <p:cNvSpPr/>
          <p:nvPr/>
        </p:nvSpPr>
        <p:spPr>
          <a:xfrm>
            <a:off x="5257800" y="1645920"/>
            <a:ext cx="411480" cy="411480"/>
          </a:xfrm>
          <a:prstGeom prst="ellipse">
            <a:avLst/>
          </a:prstGeom>
          <a:solidFill>
            <a:srgbClr val="2F5D8C"/>
          </a:solidFill>
          <a:ln w="6350">
            <a:solidFill>
              <a:srgbClr val="2F5D8C"/>
            </a:solidFill>
            <a:prstDash val="solid"/>
          </a:ln>
        </p:spPr>
      </p:sp>
      <p:sp>
        <p:nvSpPr>
          <p:cNvPr id="17" name="Text 15"/>
          <p:cNvSpPr txBox="1"/>
          <p:nvPr/>
        </p:nvSpPr>
        <p:spPr>
          <a:xfrm>
            <a:off x="5257800" y="16459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txBox="1"/>
          <p:nvPr/>
        </p:nvSpPr>
        <p:spPr>
          <a:xfrm>
            <a:off x="5257800" y="2167128"/>
            <a:ext cx="1682496" cy="502920"/>
          </a:xfrm>
          <a:prstGeom prst="rect">
            <a:avLst/>
          </a:prstGeom>
          <a:noFill/>
          <a:ln/>
        </p:spPr>
        <p:txBody>
          <a:bodyPr wrap="square" lIns="0" tIns="0" rIns="0" bIns="0" rtlCol="0" anchor="t"/>
          <a:lstStyle/>
          <a:p>
            <a:pPr marL="0" indent="0">
              <a:buNone/>
            </a:pPr>
            <a:r>
              <a:rPr lang="en-US" sz="1500" b="1" dirty="0">
                <a:solidFill>
                  <a:srgbClr val="1F2937"/>
                </a:solidFill>
                <a:latin typeface="Cambria" pitchFamily="34" charset="0"/>
                <a:ea typeface="Cambria" pitchFamily="34" charset="-122"/>
                <a:cs typeface="Cambria" pitchFamily="34" charset="-120"/>
              </a:rPr>
              <a:t>Feature Selection</a:t>
            </a:r>
            <a:endParaRPr lang="en-US" sz="1500" dirty="0"/>
          </a:p>
        </p:txBody>
      </p:sp>
      <p:sp>
        <p:nvSpPr>
          <p:cNvPr id="19" name="Text 17"/>
          <p:cNvSpPr txBox="1"/>
          <p:nvPr/>
        </p:nvSpPr>
        <p:spPr>
          <a:xfrm>
            <a:off x="5257800" y="2697480"/>
            <a:ext cx="1682496" cy="457200"/>
          </a:xfrm>
          <a:prstGeom prst="rect">
            <a:avLst/>
          </a:prstGeom>
          <a:noFill/>
          <a:ln/>
        </p:spPr>
        <p:txBody>
          <a:bodyPr wrap="square" lIns="0" tIns="0" rIns="0" bIns="0" rtlCol="0" anchor="t"/>
          <a:lstStyle/>
          <a:p>
            <a:pPr marL="0" indent="0">
              <a:buNone/>
            </a:pPr>
            <a:r>
              <a:rPr lang="en-US" sz="1200" dirty="0">
                <a:solidFill>
                  <a:srgbClr val="5B6678"/>
                </a:solidFill>
                <a:latin typeface="Calibri" pitchFamily="34" charset="0"/>
                <a:ea typeface="Calibri" pitchFamily="34" charset="-122"/>
                <a:cs typeface="Calibri" pitchFamily="34" charset="-120"/>
              </a:rPr>
              <a:t>Annual Income (k$), Spending Score (1-100)</a:t>
            </a:r>
            <a:endParaRPr lang="en-US" sz="1200" dirty="0"/>
          </a:p>
        </p:txBody>
      </p:sp>
      <p:sp>
        <p:nvSpPr>
          <p:cNvPr id="20" name="Shape 18"/>
          <p:cNvSpPr/>
          <p:nvPr/>
        </p:nvSpPr>
        <p:spPr>
          <a:xfrm>
            <a:off x="7104888" y="2350008"/>
            <a:ext cx="274320" cy="0"/>
          </a:xfrm>
          <a:prstGeom prst="line">
            <a:avLst/>
          </a:prstGeom>
          <a:noFill/>
          <a:ln w="22225">
            <a:solidFill>
              <a:srgbClr val="2F5D8C"/>
            </a:solidFill>
            <a:prstDash val="solid"/>
            <a:tailEnd type="triangle"/>
          </a:ln>
        </p:spPr>
      </p:sp>
      <p:sp>
        <p:nvSpPr>
          <p:cNvPr id="21" name="card"/>
          <p:cNvSpPr/>
          <p:nvPr/>
        </p:nvSpPr>
        <p:spPr>
          <a:xfrm>
            <a:off x="7406640" y="1508760"/>
            <a:ext cx="1956816" cy="1691640"/>
          </a:xfrm>
          <a:prstGeom prst="roundRect">
            <a:avLst>
              <a:gd name="adj" fmla="val 2162"/>
            </a:avLst>
          </a:prstGeom>
          <a:solidFill>
            <a:srgbClr val="FFFFFF"/>
          </a:solidFill>
          <a:ln w="9525">
            <a:solidFill>
              <a:srgbClr val="D3DAE5"/>
            </a:solidFill>
            <a:prstDash val="solid"/>
          </a:ln>
        </p:spPr>
      </p:sp>
      <p:sp>
        <p:nvSpPr>
          <p:cNvPr id="22" name="Shape 20"/>
          <p:cNvSpPr/>
          <p:nvPr/>
        </p:nvSpPr>
        <p:spPr>
          <a:xfrm>
            <a:off x="7543800" y="1645920"/>
            <a:ext cx="411480" cy="411480"/>
          </a:xfrm>
          <a:prstGeom prst="ellipse">
            <a:avLst/>
          </a:prstGeom>
          <a:solidFill>
            <a:srgbClr val="2F5D8C"/>
          </a:solidFill>
          <a:ln w="6350">
            <a:solidFill>
              <a:srgbClr val="2F5D8C"/>
            </a:solidFill>
            <a:prstDash val="solid"/>
          </a:ln>
        </p:spPr>
      </p:sp>
      <p:sp>
        <p:nvSpPr>
          <p:cNvPr id="23" name="Text 21"/>
          <p:cNvSpPr txBox="1"/>
          <p:nvPr/>
        </p:nvSpPr>
        <p:spPr>
          <a:xfrm>
            <a:off x="7543800" y="16459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4" name="Text 22"/>
          <p:cNvSpPr txBox="1"/>
          <p:nvPr/>
        </p:nvSpPr>
        <p:spPr>
          <a:xfrm>
            <a:off x="7543800" y="2167128"/>
            <a:ext cx="1682496" cy="502920"/>
          </a:xfrm>
          <a:prstGeom prst="rect">
            <a:avLst/>
          </a:prstGeom>
          <a:noFill/>
          <a:ln/>
        </p:spPr>
        <p:txBody>
          <a:bodyPr wrap="square" lIns="0" tIns="0" rIns="0" bIns="0" rtlCol="0" anchor="t"/>
          <a:lstStyle/>
          <a:p>
            <a:pPr marL="0" indent="0">
              <a:buNone/>
            </a:pPr>
            <a:r>
              <a:rPr lang="en-US" sz="1500" b="1" dirty="0">
                <a:solidFill>
                  <a:srgbClr val="1F2937"/>
                </a:solidFill>
                <a:latin typeface="Cambria" pitchFamily="34" charset="0"/>
                <a:ea typeface="Cambria" pitchFamily="34" charset="-122"/>
                <a:cs typeface="Cambria" pitchFamily="34" charset="-120"/>
              </a:rPr>
              <a:t>StandardScaler</a:t>
            </a:r>
            <a:endParaRPr lang="en-US" sz="1500" dirty="0"/>
          </a:p>
        </p:txBody>
      </p:sp>
      <p:sp>
        <p:nvSpPr>
          <p:cNvPr id="25" name="Text 23"/>
          <p:cNvSpPr txBox="1"/>
          <p:nvPr/>
        </p:nvSpPr>
        <p:spPr>
          <a:xfrm>
            <a:off x="7543800" y="2697480"/>
            <a:ext cx="1682496" cy="457200"/>
          </a:xfrm>
          <a:prstGeom prst="rect">
            <a:avLst/>
          </a:prstGeom>
          <a:noFill/>
          <a:ln/>
        </p:spPr>
        <p:txBody>
          <a:bodyPr wrap="square" lIns="0" tIns="0" rIns="0" bIns="0" rtlCol="0" anchor="t"/>
          <a:lstStyle/>
          <a:p>
            <a:pPr marL="0" indent="0">
              <a:buNone/>
            </a:pPr>
            <a:r>
              <a:rPr lang="en-US" sz="1200" dirty="0">
                <a:solidFill>
                  <a:srgbClr val="5B6678"/>
                </a:solidFill>
                <a:latin typeface="Calibri" pitchFamily="34" charset="0"/>
                <a:ea typeface="Calibri" pitchFamily="34" charset="-122"/>
                <a:cs typeface="Calibri" pitchFamily="34" charset="-120"/>
              </a:rPr>
              <a:t>Zero mean, unit variance</a:t>
            </a:r>
            <a:endParaRPr lang="en-US" sz="1200" dirty="0"/>
          </a:p>
        </p:txBody>
      </p:sp>
      <p:sp>
        <p:nvSpPr>
          <p:cNvPr id="26" name="Shape 24"/>
          <p:cNvSpPr/>
          <p:nvPr/>
        </p:nvSpPr>
        <p:spPr>
          <a:xfrm>
            <a:off x="9390888" y="2350008"/>
            <a:ext cx="274320" cy="0"/>
          </a:xfrm>
          <a:prstGeom prst="line">
            <a:avLst/>
          </a:prstGeom>
          <a:noFill/>
          <a:ln w="22225">
            <a:solidFill>
              <a:srgbClr val="2F5D8C"/>
            </a:solidFill>
            <a:prstDash val="solid"/>
            <a:tailEnd type="triangle"/>
          </a:ln>
        </p:spPr>
      </p:sp>
      <p:sp>
        <p:nvSpPr>
          <p:cNvPr id="27" name="card"/>
          <p:cNvSpPr/>
          <p:nvPr/>
        </p:nvSpPr>
        <p:spPr>
          <a:xfrm>
            <a:off x="9692640" y="1508760"/>
            <a:ext cx="1956816" cy="1691640"/>
          </a:xfrm>
          <a:prstGeom prst="roundRect">
            <a:avLst>
              <a:gd name="adj" fmla="val 2162"/>
            </a:avLst>
          </a:prstGeom>
          <a:solidFill>
            <a:srgbClr val="EDF1F7"/>
          </a:solidFill>
          <a:ln w="9525">
            <a:solidFill>
              <a:srgbClr val="2F5D8C"/>
            </a:solidFill>
            <a:prstDash val="solid"/>
          </a:ln>
        </p:spPr>
      </p:sp>
      <p:sp>
        <p:nvSpPr>
          <p:cNvPr id="28" name="Shape 26"/>
          <p:cNvSpPr/>
          <p:nvPr/>
        </p:nvSpPr>
        <p:spPr>
          <a:xfrm>
            <a:off x="9829800" y="1645920"/>
            <a:ext cx="411480" cy="411480"/>
          </a:xfrm>
          <a:prstGeom prst="ellipse">
            <a:avLst/>
          </a:prstGeom>
          <a:solidFill>
            <a:srgbClr val="2F5D8C"/>
          </a:solidFill>
          <a:ln w="6350">
            <a:solidFill>
              <a:srgbClr val="2F5D8C"/>
            </a:solidFill>
            <a:prstDash val="solid"/>
          </a:ln>
        </p:spPr>
      </p:sp>
      <p:sp>
        <p:nvSpPr>
          <p:cNvPr id="29" name="Text 27"/>
          <p:cNvSpPr txBox="1"/>
          <p:nvPr/>
        </p:nvSpPr>
        <p:spPr>
          <a:xfrm>
            <a:off x="9829800" y="16459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0" name="Text 28"/>
          <p:cNvSpPr txBox="1"/>
          <p:nvPr/>
        </p:nvSpPr>
        <p:spPr>
          <a:xfrm>
            <a:off x="9829800" y="2167128"/>
            <a:ext cx="1682496" cy="502920"/>
          </a:xfrm>
          <a:prstGeom prst="rect">
            <a:avLst/>
          </a:prstGeom>
          <a:noFill/>
          <a:ln/>
        </p:spPr>
        <p:txBody>
          <a:bodyPr wrap="square" lIns="0" tIns="0" rIns="0" bIns="0" rtlCol="0" anchor="t"/>
          <a:lstStyle/>
          <a:p>
            <a:pPr marL="0" indent="0">
              <a:buNone/>
            </a:pPr>
            <a:r>
              <a:rPr lang="en-US" sz="1500" b="1" dirty="0">
                <a:solidFill>
                  <a:srgbClr val="1F2937"/>
                </a:solidFill>
                <a:latin typeface="Cambria" pitchFamily="34" charset="0"/>
                <a:ea typeface="Cambria" pitchFamily="34" charset="-122"/>
                <a:cs typeface="Cambria" pitchFamily="34" charset="-120"/>
              </a:rPr>
              <a:t>Optimal K Evaluation</a:t>
            </a:r>
            <a:endParaRPr lang="en-US" sz="1500" dirty="0"/>
          </a:p>
        </p:txBody>
      </p:sp>
      <p:sp>
        <p:nvSpPr>
          <p:cNvPr id="31" name="Text 29"/>
          <p:cNvSpPr txBox="1"/>
          <p:nvPr/>
        </p:nvSpPr>
        <p:spPr>
          <a:xfrm>
            <a:off x="9829800" y="2697480"/>
            <a:ext cx="1682496" cy="457200"/>
          </a:xfrm>
          <a:prstGeom prst="rect">
            <a:avLst/>
          </a:prstGeom>
          <a:noFill/>
          <a:ln/>
        </p:spPr>
        <p:txBody>
          <a:bodyPr wrap="square" lIns="0" tIns="0" rIns="0" bIns="0" rtlCol="0" anchor="t"/>
          <a:lstStyle/>
          <a:p>
            <a:pPr marL="0" indent="0">
              <a:buNone/>
            </a:pPr>
            <a:r>
              <a:rPr lang="en-US" sz="1200" dirty="0">
                <a:solidFill>
                  <a:srgbClr val="5B6678"/>
                </a:solidFill>
                <a:latin typeface="Calibri" pitchFamily="34" charset="0"/>
                <a:ea typeface="Calibri" pitchFamily="34" charset="-122"/>
                <a:cs typeface="Calibri" pitchFamily="34" charset="-120"/>
              </a:rPr>
              <a:t>K = 2 … 10</a:t>
            </a:r>
            <a:endParaRPr lang="en-US" sz="1200" dirty="0"/>
          </a:p>
        </p:txBody>
      </p:sp>
      <p:sp>
        <p:nvSpPr>
          <p:cNvPr id="32" name="card"/>
          <p:cNvSpPr/>
          <p:nvPr/>
        </p:nvSpPr>
        <p:spPr>
          <a:xfrm>
            <a:off x="548640" y="3749040"/>
            <a:ext cx="1956816" cy="1691640"/>
          </a:xfrm>
          <a:prstGeom prst="roundRect">
            <a:avLst>
              <a:gd name="adj" fmla="val 2162"/>
            </a:avLst>
          </a:prstGeom>
          <a:solidFill>
            <a:srgbClr val="EDF1F7"/>
          </a:solidFill>
          <a:ln w="9525">
            <a:solidFill>
              <a:srgbClr val="2F5D8C"/>
            </a:solidFill>
            <a:prstDash val="solid"/>
          </a:ln>
        </p:spPr>
      </p:sp>
      <p:sp>
        <p:nvSpPr>
          <p:cNvPr id="33" name="Shape 31"/>
          <p:cNvSpPr/>
          <p:nvPr/>
        </p:nvSpPr>
        <p:spPr>
          <a:xfrm>
            <a:off x="685800" y="3886200"/>
            <a:ext cx="411480" cy="411480"/>
          </a:xfrm>
          <a:prstGeom prst="ellipse">
            <a:avLst/>
          </a:prstGeom>
          <a:solidFill>
            <a:srgbClr val="2F5D8C"/>
          </a:solidFill>
          <a:ln w="6350">
            <a:solidFill>
              <a:srgbClr val="2F5D8C"/>
            </a:solidFill>
            <a:prstDash val="solid"/>
          </a:ln>
        </p:spPr>
      </p:sp>
      <p:sp>
        <p:nvSpPr>
          <p:cNvPr id="34" name="Text 32"/>
          <p:cNvSpPr txBox="1"/>
          <p:nvPr/>
        </p:nvSpPr>
        <p:spPr>
          <a:xfrm>
            <a:off x="685800" y="388620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5" name="Text 33"/>
          <p:cNvSpPr txBox="1"/>
          <p:nvPr/>
        </p:nvSpPr>
        <p:spPr>
          <a:xfrm>
            <a:off x="685800" y="4407408"/>
            <a:ext cx="1682496" cy="502920"/>
          </a:xfrm>
          <a:prstGeom prst="rect">
            <a:avLst/>
          </a:prstGeom>
          <a:noFill/>
          <a:ln/>
        </p:spPr>
        <p:txBody>
          <a:bodyPr wrap="square" lIns="0" tIns="0" rIns="0" bIns="0" rtlCol="0" anchor="t"/>
          <a:lstStyle/>
          <a:p>
            <a:pPr marL="0" indent="0">
              <a:buNone/>
            </a:pPr>
            <a:r>
              <a:rPr lang="en-US" sz="1500" b="1" dirty="0">
                <a:solidFill>
                  <a:srgbClr val="1F2937"/>
                </a:solidFill>
                <a:latin typeface="Cambria" pitchFamily="34" charset="0"/>
                <a:ea typeface="Cambria" pitchFamily="34" charset="-122"/>
                <a:cs typeface="Cambria" pitchFamily="34" charset="-120"/>
              </a:rPr>
              <a:t>K-Means + K-Medoids</a:t>
            </a:r>
            <a:endParaRPr lang="en-US" sz="1500" dirty="0"/>
          </a:p>
        </p:txBody>
      </p:sp>
      <p:sp>
        <p:nvSpPr>
          <p:cNvPr id="36" name="Text 34"/>
          <p:cNvSpPr txBox="1"/>
          <p:nvPr/>
        </p:nvSpPr>
        <p:spPr>
          <a:xfrm>
            <a:off x="685800" y="4937760"/>
            <a:ext cx="1682496" cy="457200"/>
          </a:xfrm>
          <a:prstGeom prst="rect">
            <a:avLst/>
          </a:prstGeom>
          <a:noFill/>
          <a:ln/>
        </p:spPr>
        <p:txBody>
          <a:bodyPr wrap="square" lIns="0" tIns="0" rIns="0" bIns="0" rtlCol="0" anchor="t"/>
          <a:lstStyle/>
          <a:p>
            <a:pPr marL="0" indent="0">
              <a:buNone/>
            </a:pPr>
            <a:r>
              <a:rPr lang="en-US" sz="1200" dirty="0">
                <a:solidFill>
                  <a:srgbClr val="5B6678"/>
                </a:solidFill>
                <a:latin typeface="Calibri" pitchFamily="34" charset="0"/>
                <a:ea typeface="Calibri" pitchFamily="34" charset="-122"/>
                <a:cs typeface="Calibri" pitchFamily="34" charset="-120"/>
              </a:rPr>
              <a:t>Both with K = 5</a:t>
            </a:r>
            <a:endParaRPr lang="en-US" sz="1200" dirty="0"/>
          </a:p>
        </p:txBody>
      </p:sp>
      <p:sp>
        <p:nvSpPr>
          <p:cNvPr id="37" name="Shape 35"/>
          <p:cNvSpPr/>
          <p:nvPr/>
        </p:nvSpPr>
        <p:spPr>
          <a:xfrm>
            <a:off x="2532888" y="4590288"/>
            <a:ext cx="274320" cy="0"/>
          </a:xfrm>
          <a:prstGeom prst="line">
            <a:avLst/>
          </a:prstGeom>
          <a:noFill/>
          <a:ln w="22225">
            <a:solidFill>
              <a:srgbClr val="2F5D8C"/>
            </a:solidFill>
            <a:prstDash val="solid"/>
            <a:tailEnd type="triangle"/>
          </a:ln>
        </p:spPr>
      </p:sp>
      <p:sp>
        <p:nvSpPr>
          <p:cNvPr id="38" name="card"/>
          <p:cNvSpPr/>
          <p:nvPr/>
        </p:nvSpPr>
        <p:spPr>
          <a:xfrm>
            <a:off x="2834640" y="3749040"/>
            <a:ext cx="1956816" cy="1691640"/>
          </a:xfrm>
          <a:prstGeom prst="roundRect">
            <a:avLst>
              <a:gd name="adj" fmla="val 2162"/>
            </a:avLst>
          </a:prstGeom>
          <a:solidFill>
            <a:srgbClr val="FFFFFF"/>
          </a:solidFill>
          <a:ln w="9525">
            <a:solidFill>
              <a:srgbClr val="D3DAE5"/>
            </a:solidFill>
            <a:prstDash val="solid"/>
          </a:ln>
        </p:spPr>
      </p:sp>
      <p:sp>
        <p:nvSpPr>
          <p:cNvPr id="39" name="Shape 37"/>
          <p:cNvSpPr/>
          <p:nvPr/>
        </p:nvSpPr>
        <p:spPr>
          <a:xfrm>
            <a:off x="2971800" y="3886200"/>
            <a:ext cx="411480" cy="411480"/>
          </a:xfrm>
          <a:prstGeom prst="ellipse">
            <a:avLst/>
          </a:prstGeom>
          <a:solidFill>
            <a:srgbClr val="2F5D8C"/>
          </a:solidFill>
          <a:ln w="6350">
            <a:solidFill>
              <a:srgbClr val="2F5D8C"/>
            </a:solidFill>
            <a:prstDash val="solid"/>
          </a:ln>
        </p:spPr>
      </p:sp>
      <p:sp>
        <p:nvSpPr>
          <p:cNvPr id="40" name="Text 38"/>
          <p:cNvSpPr txBox="1"/>
          <p:nvPr/>
        </p:nvSpPr>
        <p:spPr>
          <a:xfrm>
            <a:off x="2971800" y="388620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41" name="Text 39"/>
          <p:cNvSpPr txBox="1"/>
          <p:nvPr/>
        </p:nvSpPr>
        <p:spPr>
          <a:xfrm>
            <a:off x="2971800" y="4407408"/>
            <a:ext cx="1682496" cy="502920"/>
          </a:xfrm>
          <a:prstGeom prst="rect">
            <a:avLst/>
          </a:prstGeom>
          <a:noFill/>
          <a:ln/>
        </p:spPr>
        <p:txBody>
          <a:bodyPr wrap="square" lIns="0" tIns="0" rIns="0" bIns="0" rtlCol="0" anchor="t"/>
          <a:lstStyle/>
          <a:p>
            <a:pPr marL="0" indent="0">
              <a:buNone/>
            </a:pPr>
            <a:r>
              <a:rPr lang="en-US" sz="1500" b="1" dirty="0">
                <a:solidFill>
                  <a:srgbClr val="1F2937"/>
                </a:solidFill>
                <a:latin typeface="Cambria" pitchFamily="34" charset="0"/>
                <a:ea typeface="Cambria" pitchFamily="34" charset="-122"/>
                <a:cs typeface="Cambria" pitchFamily="34" charset="-120"/>
              </a:rPr>
              <a:t>Cluster Validation</a:t>
            </a:r>
            <a:endParaRPr lang="en-US" sz="1500" dirty="0"/>
          </a:p>
        </p:txBody>
      </p:sp>
      <p:sp>
        <p:nvSpPr>
          <p:cNvPr id="42" name="Text 40"/>
          <p:cNvSpPr txBox="1"/>
          <p:nvPr/>
        </p:nvSpPr>
        <p:spPr>
          <a:xfrm>
            <a:off x="2971800" y="4937760"/>
            <a:ext cx="1682496" cy="457200"/>
          </a:xfrm>
          <a:prstGeom prst="rect">
            <a:avLst/>
          </a:prstGeom>
          <a:noFill/>
          <a:ln/>
        </p:spPr>
        <p:txBody>
          <a:bodyPr wrap="square" lIns="0" tIns="0" rIns="0" bIns="0" rtlCol="0" anchor="t"/>
          <a:lstStyle/>
          <a:p>
            <a:pPr marL="0" indent="0">
              <a:buNone/>
            </a:pPr>
            <a:r>
              <a:rPr lang="en-US" sz="1200" dirty="0">
                <a:solidFill>
                  <a:srgbClr val="5B6678"/>
                </a:solidFill>
                <a:latin typeface="Calibri" pitchFamily="34" charset="0"/>
                <a:ea typeface="Calibri" pitchFamily="34" charset="-122"/>
                <a:cs typeface="Calibri" pitchFamily="34" charset="-120"/>
              </a:rPr>
              <a:t>Silhouette, DB index, ARI</a:t>
            </a:r>
            <a:endParaRPr lang="en-US" sz="1200" dirty="0"/>
          </a:p>
        </p:txBody>
      </p:sp>
      <p:sp>
        <p:nvSpPr>
          <p:cNvPr id="43" name="Shape 41"/>
          <p:cNvSpPr/>
          <p:nvPr/>
        </p:nvSpPr>
        <p:spPr>
          <a:xfrm>
            <a:off x="4818888" y="4590288"/>
            <a:ext cx="274320" cy="0"/>
          </a:xfrm>
          <a:prstGeom prst="line">
            <a:avLst/>
          </a:prstGeom>
          <a:noFill/>
          <a:ln w="22225">
            <a:solidFill>
              <a:srgbClr val="2F5D8C"/>
            </a:solidFill>
            <a:prstDash val="solid"/>
            <a:tailEnd type="triangle"/>
          </a:ln>
        </p:spPr>
      </p:sp>
      <p:sp>
        <p:nvSpPr>
          <p:cNvPr id="44" name="card"/>
          <p:cNvSpPr/>
          <p:nvPr/>
        </p:nvSpPr>
        <p:spPr>
          <a:xfrm>
            <a:off x="5120640" y="3749040"/>
            <a:ext cx="1956816" cy="1691640"/>
          </a:xfrm>
          <a:prstGeom prst="roundRect">
            <a:avLst>
              <a:gd name="adj" fmla="val 2162"/>
            </a:avLst>
          </a:prstGeom>
          <a:solidFill>
            <a:srgbClr val="FFFFFF"/>
          </a:solidFill>
          <a:ln w="9525">
            <a:solidFill>
              <a:srgbClr val="D3DAE5"/>
            </a:solidFill>
            <a:prstDash val="solid"/>
          </a:ln>
        </p:spPr>
      </p:sp>
      <p:sp>
        <p:nvSpPr>
          <p:cNvPr id="45" name="Shape 43"/>
          <p:cNvSpPr/>
          <p:nvPr/>
        </p:nvSpPr>
        <p:spPr>
          <a:xfrm>
            <a:off x="5257800" y="3886200"/>
            <a:ext cx="411480" cy="411480"/>
          </a:xfrm>
          <a:prstGeom prst="ellipse">
            <a:avLst/>
          </a:prstGeom>
          <a:solidFill>
            <a:srgbClr val="2F5D8C"/>
          </a:solidFill>
          <a:ln w="6350">
            <a:solidFill>
              <a:srgbClr val="2F5D8C"/>
            </a:solidFill>
            <a:prstDash val="solid"/>
          </a:ln>
        </p:spPr>
      </p:sp>
      <p:sp>
        <p:nvSpPr>
          <p:cNvPr id="46" name="Text 44"/>
          <p:cNvSpPr txBox="1"/>
          <p:nvPr/>
        </p:nvSpPr>
        <p:spPr>
          <a:xfrm>
            <a:off x="5257800" y="388620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47" name="Text 45"/>
          <p:cNvSpPr txBox="1"/>
          <p:nvPr/>
        </p:nvSpPr>
        <p:spPr>
          <a:xfrm>
            <a:off x="5257800" y="4407408"/>
            <a:ext cx="1682496" cy="502920"/>
          </a:xfrm>
          <a:prstGeom prst="rect">
            <a:avLst/>
          </a:prstGeom>
          <a:noFill/>
          <a:ln/>
        </p:spPr>
        <p:txBody>
          <a:bodyPr wrap="square" lIns="0" tIns="0" rIns="0" bIns="0" rtlCol="0" anchor="t"/>
          <a:lstStyle/>
          <a:p>
            <a:pPr marL="0" indent="0">
              <a:buNone/>
            </a:pPr>
            <a:r>
              <a:rPr lang="en-US" sz="1500" b="1" dirty="0">
                <a:solidFill>
                  <a:srgbClr val="1F2937"/>
                </a:solidFill>
                <a:latin typeface="Cambria" pitchFamily="34" charset="0"/>
                <a:ea typeface="Cambria" pitchFamily="34" charset="-122"/>
                <a:cs typeface="Cambria" pitchFamily="34" charset="-120"/>
              </a:rPr>
              <a:t>Cluster Profiling</a:t>
            </a:r>
            <a:endParaRPr lang="en-US" sz="1500" dirty="0"/>
          </a:p>
        </p:txBody>
      </p:sp>
      <p:sp>
        <p:nvSpPr>
          <p:cNvPr id="48" name="Text 46"/>
          <p:cNvSpPr txBox="1"/>
          <p:nvPr/>
        </p:nvSpPr>
        <p:spPr>
          <a:xfrm>
            <a:off x="5257800" y="4937760"/>
            <a:ext cx="1682496" cy="457200"/>
          </a:xfrm>
          <a:prstGeom prst="rect">
            <a:avLst/>
          </a:prstGeom>
          <a:noFill/>
          <a:ln/>
        </p:spPr>
        <p:txBody>
          <a:bodyPr wrap="square" lIns="0" tIns="0" rIns="0" bIns="0" rtlCol="0" anchor="t"/>
          <a:lstStyle/>
          <a:p>
            <a:pPr marL="0" indent="0">
              <a:buNone/>
            </a:pPr>
            <a:r>
              <a:rPr lang="en-US" sz="1200" dirty="0">
                <a:solidFill>
                  <a:srgbClr val="5B6678"/>
                </a:solidFill>
                <a:latin typeface="Calibri" pitchFamily="34" charset="0"/>
                <a:ea typeface="Calibri" pitchFamily="34" charset="-122"/>
                <a:cs typeface="Calibri" pitchFamily="34" charset="-120"/>
              </a:rPr>
              <a:t>Size, income, spending, age</a:t>
            </a:r>
            <a:endParaRPr lang="en-US" sz="1200" dirty="0"/>
          </a:p>
        </p:txBody>
      </p:sp>
      <p:sp>
        <p:nvSpPr>
          <p:cNvPr id="49" name="Shape 47"/>
          <p:cNvSpPr/>
          <p:nvPr/>
        </p:nvSpPr>
        <p:spPr>
          <a:xfrm>
            <a:off x="7104888" y="4590288"/>
            <a:ext cx="274320" cy="0"/>
          </a:xfrm>
          <a:prstGeom prst="line">
            <a:avLst/>
          </a:prstGeom>
          <a:noFill/>
          <a:ln w="22225">
            <a:solidFill>
              <a:srgbClr val="2F5D8C"/>
            </a:solidFill>
            <a:prstDash val="solid"/>
            <a:tailEnd type="triangle"/>
          </a:ln>
        </p:spPr>
      </p:sp>
      <p:sp>
        <p:nvSpPr>
          <p:cNvPr id="50" name="card"/>
          <p:cNvSpPr/>
          <p:nvPr/>
        </p:nvSpPr>
        <p:spPr>
          <a:xfrm>
            <a:off x="7406640" y="3749040"/>
            <a:ext cx="1956816" cy="1691640"/>
          </a:xfrm>
          <a:prstGeom prst="roundRect">
            <a:avLst>
              <a:gd name="adj" fmla="val 2162"/>
            </a:avLst>
          </a:prstGeom>
          <a:solidFill>
            <a:srgbClr val="FFFFFF"/>
          </a:solidFill>
          <a:ln w="9525">
            <a:solidFill>
              <a:srgbClr val="D3DAE5"/>
            </a:solidFill>
            <a:prstDash val="solid"/>
          </a:ln>
        </p:spPr>
      </p:sp>
      <p:sp>
        <p:nvSpPr>
          <p:cNvPr id="51" name="Shape 49"/>
          <p:cNvSpPr/>
          <p:nvPr/>
        </p:nvSpPr>
        <p:spPr>
          <a:xfrm>
            <a:off x="7543800" y="3886200"/>
            <a:ext cx="411480" cy="411480"/>
          </a:xfrm>
          <a:prstGeom prst="ellipse">
            <a:avLst/>
          </a:prstGeom>
          <a:solidFill>
            <a:srgbClr val="2F5D8C"/>
          </a:solidFill>
          <a:ln w="6350">
            <a:solidFill>
              <a:srgbClr val="2F5D8C"/>
            </a:solidFill>
            <a:prstDash val="solid"/>
          </a:ln>
        </p:spPr>
      </p:sp>
      <p:sp>
        <p:nvSpPr>
          <p:cNvPr id="52" name="Text 50"/>
          <p:cNvSpPr txBox="1"/>
          <p:nvPr/>
        </p:nvSpPr>
        <p:spPr>
          <a:xfrm>
            <a:off x="7543800" y="388620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53" name="Text 51"/>
          <p:cNvSpPr txBox="1"/>
          <p:nvPr/>
        </p:nvSpPr>
        <p:spPr>
          <a:xfrm>
            <a:off x="7543800" y="4407408"/>
            <a:ext cx="1682496" cy="502920"/>
          </a:xfrm>
          <a:prstGeom prst="rect">
            <a:avLst/>
          </a:prstGeom>
          <a:noFill/>
          <a:ln/>
        </p:spPr>
        <p:txBody>
          <a:bodyPr wrap="square" lIns="0" tIns="0" rIns="0" bIns="0" rtlCol="0" anchor="t"/>
          <a:lstStyle/>
          <a:p>
            <a:pPr marL="0" indent="0">
              <a:buNone/>
            </a:pPr>
            <a:r>
              <a:rPr lang="en-US" sz="1500" b="1" dirty="0">
                <a:solidFill>
                  <a:srgbClr val="1F2937"/>
                </a:solidFill>
                <a:latin typeface="Cambria" pitchFamily="34" charset="0"/>
                <a:ea typeface="Cambria" pitchFamily="34" charset="-122"/>
                <a:cs typeface="Cambria" pitchFamily="34" charset="-120"/>
              </a:rPr>
              <a:t>Business Interpretation</a:t>
            </a:r>
            <a:endParaRPr lang="en-US" sz="1500" dirty="0"/>
          </a:p>
        </p:txBody>
      </p:sp>
      <p:sp>
        <p:nvSpPr>
          <p:cNvPr id="54" name="Text 52"/>
          <p:cNvSpPr txBox="1"/>
          <p:nvPr/>
        </p:nvSpPr>
        <p:spPr>
          <a:xfrm>
            <a:off x="7543800" y="4937760"/>
            <a:ext cx="1682496" cy="457200"/>
          </a:xfrm>
          <a:prstGeom prst="rect">
            <a:avLst/>
          </a:prstGeom>
          <a:noFill/>
          <a:ln/>
        </p:spPr>
        <p:txBody>
          <a:bodyPr wrap="square" lIns="0" tIns="0" rIns="0" bIns="0" rtlCol="0" anchor="t"/>
          <a:lstStyle/>
          <a:p>
            <a:pPr marL="0" indent="0">
              <a:buNone/>
            </a:pPr>
            <a:r>
              <a:rPr lang="en-US" sz="1200" dirty="0">
                <a:solidFill>
                  <a:srgbClr val="5B6678"/>
                </a:solidFill>
                <a:latin typeface="Calibri" pitchFamily="34" charset="0"/>
                <a:ea typeface="Calibri" pitchFamily="34" charset="-122"/>
                <a:cs typeface="Calibri" pitchFamily="34" charset="-120"/>
              </a:rPr>
              <a:t>Descriptive labels</a:t>
            </a:r>
            <a:endParaRPr lang="en-US" sz="1200" dirty="0"/>
          </a:p>
        </p:txBody>
      </p:sp>
      <p:sp>
        <p:nvSpPr>
          <p:cNvPr id="55" name="Shape 53"/>
          <p:cNvSpPr/>
          <p:nvPr/>
        </p:nvSpPr>
        <p:spPr>
          <a:xfrm>
            <a:off x="9390888" y="4590288"/>
            <a:ext cx="274320" cy="0"/>
          </a:xfrm>
          <a:prstGeom prst="line">
            <a:avLst/>
          </a:prstGeom>
          <a:noFill/>
          <a:ln w="22225">
            <a:solidFill>
              <a:srgbClr val="2F5D8C"/>
            </a:solidFill>
            <a:prstDash val="solid"/>
            <a:tailEnd type="triangle"/>
          </a:ln>
        </p:spPr>
      </p:sp>
      <p:sp>
        <p:nvSpPr>
          <p:cNvPr id="56" name="card"/>
          <p:cNvSpPr/>
          <p:nvPr/>
        </p:nvSpPr>
        <p:spPr>
          <a:xfrm>
            <a:off x="9692640" y="3749040"/>
            <a:ext cx="1956816" cy="1691640"/>
          </a:xfrm>
          <a:prstGeom prst="roundRect">
            <a:avLst>
              <a:gd name="adj" fmla="val 2162"/>
            </a:avLst>
          </a:prstGeom>
          <a:solidFill>
            <a:srgbClr val="FFFFFF"/>
          </a:solidFill>
          <a:ln w="9525">
            <a:solidFill>
              <a:srgbClr val="D3DAE5"/>
            </a:solidFill>
            <a:prstDash val="solid"/>
          </a:ln>
        </p:spPr>
      </p:sp>
      <p:sp>
        <p:nvSpPr>
          <p:cNvPr id="57" name="Shape 55"/>
          <p:cNvSpPr/>
          <p:nvPr/>
        </p:nvSpPr>
        <p:spPr>
          <a:xfrm>
            <a:off x="9829800" y="3886200"/>
            <a:ext cx="411480" cy="411480"/>
          </a:xfrm>
          <a:prstGeom prst="ellipse">
            <a:avLst/>
          </a:prstGeom>
          <a:solidFill>
            <a:srgbClr val="2F5D8C"/>
          </a:solidFill>
          <a:ln w="6350">
            <a:solidFill>
              <a:srgbClr val="2F5D8C"/>
            </a:solidFill>
            <a:prstDash val="solid"/>
          </a:ln>
        </p:spPr>
      </p:sp>
      <p:sp>
        <p:nvSpPr>
          <p:cNvPr id="58" name="Text 56"/>
          <p:cNvSpPr txBox="1"/>
          <p:nvPr/>
        </p:nvSpPr>
        <p:spPr>
          <a:xfrm>
            <a:off x="9829800" y="388620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59" name="Text 57"/>
          <p:cNvSpPr txBox="1"/>
          <p:nvPr/>
        </p:nvSpPr>
        <p:spPr>
          <a:xfrm>
            <a:off x="9829800" y="4407408"/>
            <a:ext cx="1682496" cy="502920"/>
          </a:xfrm>
          <a:prstGeom prst="rect">
            <a:avLst/>
          </a:prstGeom>
          <a:noFill/>
          <a:ln/>
        </p:spPr>
        <p:txBody>
          <a:bodyPr wrap="square" lIns="0" tIns="0" rIns="0" bIns="0" rtlCol="0" anchor="t"/>
          <a:lstStyle/>
          <a:p>
            <a:pPr marL="0" indent="0">
              <a:buNone/>
            </a:pPr>
            <a:r>
              <a:rPr lang="en-US" sz="1500" b="1" dirty="0">
                <a:solidFill>
                  <a:srgbClr val="1F2937"/>
                </a:solidFill>
                <a:latin typeface="Cambria" pitchFamily="34" charset="0"/>
                <a:ea typeface="Cambria" pitchFamily="34" charset="-122"/>
                <a:cs typeface="Cambria" pitchFamily="34" charset="-120"/>
              </a:rPr>
              <a:t>CustomerLens Dashboard</a:t>
            </a:r>
            <a:endParaRPr lang="en-US" sz="1500" dirty="0"/>
          </a:p>
        </p:txBody>
      </p:sp>
      <p:sp>
        <p:nvSpPr>
          <p:cNvPr id="60" name="Text 58"/>
          <p:cNvSpPr txBox="1"/>
          <p:nvPr/>
        </p:nvSpPr>
        <p:spPr>
          <a:xfrm>
            <a:off x="9829800" y="4937760"/>
            <a:ext cx="1682496" cy="457200"/>
          </a:xfrm>
          <a:prstGeom prst="rect">
            <a:avLst/>
          </a:prstGeom>
          <a:noFill/>
          <a:ln/>
        </p:spPr>
        <p:txBody>
          <a:bodyPr wrap="square" lIns="0" tIns="0" rIns="0" bIns="0" rtlCol="0" anchor="t"/>
          <a:lstStyle/>
          <a:p>
            <a:pPr marL="0" indent="0">
              <a:buNone/>
            </a:pPr>
            <a:r>
              <a:rPr lang="en-US" sz="1200" dirty="0">
                <a:solidFill>
                  <a:srgbClr val="5B6678"/>
                </a:solidFill>
                <a:latin typeface="Calibri" pitchFamily="34" charset="0"/>
                <a:ea typeface="Calibri" pitchFamily="34" charset="-122"/>
                <a:cs typeface="Calibri" pitchFamily="34" charset="-120"/>
              </a:rPr>
              <a:t>Streamlit + React</a:t>
            </a:r>
            <a:endParaRPr lang="en-US" sz="1200" dirty="0"/>
          </a:p>
        </p:txBody>
      </p:sp>
      <p:sp>
        <p:nvSpPr>
          <p:cNvPr id="61" name="Shape 59"/>
          <p:cNvSpPr/>
          <p:nvPr/>
        </p:nvSpPr>
        <p:spPr>
          <a:xfrm>
            <a:off x="10671048" y="3200400"/>
            <a:ext cx="0" cy="246888"/>
          </a:xfrm>
          <a:prstGeom prst="line">
            <a:avLst/>
          </a:prstGeom>
          <a:noFill/>
          <a:ln w="22225">
            <a:solidFill>
              <a:srgbClr val="2F5D8C"/>
            </a:solidFill>
            <a:prstDash val="solid"/>
          </a:ln>
        </p:spPr>
      </p:sp>
      <p:sp>
        <p:nvSpPr>
          <p:cNvPr id="62" name="Shape 60"/>
          <p:cNvSpPr/>
          <p:nvPr/>
        </p:nvSpPr>
        <p:spPr>
          <a:xfrm>
            <a:off x="1527048" y="3447288"/>
            <a:ext cx="9144000" cy="0"/>
          </a:xfrm>
          <a:prstGeom prst="line">
            <a:avLst/>
          </a:prstGeom>
          <a:noFill/>
          <a:ln w="22225">
            <a:solidFill>
              <a:srgbClr val="2F5D8C"/>
            </a:solidFill>
            <a:prstDash val="solid"/>
          </a:ln>
        </p:spPr>
      </p:sp>
      <p:sp>
        <p:nvSpPr>
          <p:cNvPr id="63" name="Shape 61"/>
          <p:cNvSpPr/>
          <p:nvPr/>
        </p:nvSpPr>
        <p:spPr>
          <a:xfrm>
            <a:off x="1527048" y="3447288"/>
            <a:ext cx="0" cy="301752"/>
          </a:xfrm>
          <a:prstGeom prst="line">
            <a:avLst/>
          </a:prstGeom>
          <a:noFill/>
          <a:ln w="22225">
            <a:solidFill>
              <a:srgbClr val="2F5D8C"/>
            </a:solidFill>
            <a:prstDash val="solid"/>
            <a:tailEnd type="triangle"/>
          </a:ln>
        </p:spPr>
      </p:sp>
      <p:sp>
        <p:nvSpPr>
          <p:cNvPr id="64" name="Text 62"/>
          <p:cNvSpPr txBox="1"/>
          <p:nvPr/>
        </p:nvSpPr>
        <p:spPr>
          <a:xfrm>
            <a:off x="548640" y="5715000"/>
            <a:ext cx="11064240" cy="365760"/>
          </a:xfrm>
          <a:prstGeom prst="rect">
            <a:avLst/>
          </a:prstGeom>
          <a:noFill/>
          <a:ln/>
        </p:spPr>
        <p:txBody>
          <a:bodyPr wrap="square" lIns="0" tIns="0" rIns="0" bIns="0" rtlCol="0" anchor="t"/>
          <a:lstStyle/>
          <a:p>
            <a:pPr marL="0" indent="0">
              <a:buNone/>
            </a:pPr>
            <a:r>
              <a:rPr lang="en-US" sz="1400" dirty="0">
                <a:solidFill>
                  <a:srgbClr val="5B6678"/>
                </a:solidFill>
                <a:latin typeface="Calibri" pitchFamily="34" charset="0"/>
                <a:ea typeface="Calibri" pitchFamily="34" charset="-122"/>
                <a:cs typeface="Calibri" pitchFamily="34" charset="-120"/>
              </a:rPr>
              <a:t>Optimal-K evaluation and final clustering run on the same standardised feature matrix.</a:t>
            </a:r>
            <a:endParaRPr lang="en-US" sz="1400" dirty="0"/>
          </a:p>
        </p:txBody>
      </p:sp>
      <p:sp>
        <p:nvSpPr>
          <p:cNvPr id="6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8599"/>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64240" cy="777240"/>
          </a:xfrm>
          <a:prstGeom prst="rect">
            <a:avLst/>
          </a:prstGeom>
          <a:noFill/>
          <a:ln/>
        </p:spPr>
        <p:txBody>
          <a:bodyPr wrap="square" lIns="0" tIns="0" rIns="0" bIns="0" rtlCol="0" anchor="ctr"/>
          <a:lstStyle/>
          <a:p>
            <a:pPr marL="0" indent="0">
              <a:buNone/>
            </a:pPr>
            <a:r>
              <a:rPr lang="en-US" sz="3200" b="1" dirty="0">
                <a:solidFill>
                  <a:srgbClr val="1F2937"/>
                </a:solidFill>
                <a:latin typeface="Cambria" pitchFamily="34" charset="0"/>
                <a:ea typeface="Cambria" pitchFamily="34" charset="-122"/>
                <a:cs typeface="Cambria" pitchFamily="34" charset="-120"/>
              </a:rPr>
              <a:t>Optimal K Selection: K = 5 (best of K = 2…10)</a:t>
            </a:r>
            <a:endParaRPr lang="en-US" sz="3200" dirty="0"/>
          </a:p>
        </p:txBody>
      </p:sp>
      <p:sp>
        <p:nvSpPr>
          <p:cNvPr id="3" name="image-card"/>
          <p:cNvSpPr/>
          <p:nvPr/>
        </p:nvSpPr>
        <p:spPr>
          <a:xfrm>
            <a:off x="548640" y="1371600"/>
            <a:ext cx="5440680" cy="3611880"/>
          </a:xfrm>
          <a:prstGeom prst="roundRect">
            <a:avLst>
              <a:gd name="adj" fmla="val 759"/>
            </a:avLst>
          </a:prstGeom>
          <a:solidFill>
            <a:srgbClr val="FFFFFF"/>
          </a:solidFill>
          <a:ln w="9525">
            <a:solidFill>
              <a:srgbClr val="D3DAE5"/>
            </a:solidFill>
            <a:prstDash val="solid"/>
          </a:ln>
        </p:spPr>
      </p:sp>
      <p:pic>
        <p:nvPicPr>
          <p:cNvPr id="4" name="Image 0" descr="Silhouette, Davies-Bouldin, K-Means inertia and K-Medoids cost versus K"/>
          <p:cNvPicPr>
            <a:picLocks noChangeAspect="1"/>
          </p:cNvPicPr>
          <p:nvPr/>
        </p:nvPicPr>
        <p:blipFill>
          <a:blip r:embed="rId3"/>
          <a:stretch>
            <a:fillRect/>
          </a:stretch>
        </p:blipFill>
        <p:spPr>
          <a:xfrm>
            <a:off x="594360" y="1417320"/>
            <a:ext cx="5349240" cy="3501321"/>
          </a:xfrm>
          <a:prstGeom prst="rect">
            <a:avLst/>
          </a:prstGeom>
        </p:spPr>
      </p:pic>
      <p:sp>
        <p:nvSpPr>
          <p:cNvPr id="5" name="Text 2"/>
          <p:cNvSpPr txBox="1"/>
          <p:nvPr/>
        </p:nvSpPr>
        <p:spPr>
          <a:xfrm>
            <a:off x="548640" y="5029200"/>
            <a:ext cx="5440680" cy="365760"/>
          </a:xfrm>
          <a:prstGeom prst="rect">
            <a:avLst/>
          </a:prstGeom>
          <a:noFill/>
          <a:ln/>
        </p:spPr>
        <p:txBody>
          <a:bodyPr wrap="square" lIns="0" tIns="0" rIns="0" bIns="0" rtlCol="0" anchor="t"/>
          <a:lstStyle/>
          <a:p>
            <a:pPr marL="0" indent="0" algn="ctr">
              <a:buNone/>
            </a:pPr>
            <a:r>
              <a:rPr lang="en-US" sz="1100" dirty="0">
                <a:solidFill>
                  <a:srgbClr val="5B6678"/>
                </a:solidFill>
                <a:latin typeface="Calibri" pitchFamily="34" charset="0"/>
                <a:ea typeface="Calibri" pitchFamily="34" charset="-122"/>
                <a:cs typeface="Calibri" pitchFamily="34" charset="-120"/>
              </a:rPr>
              <a:t>K = 2…10, plotted from the project result CSVs</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263640" y="1371600"/>
          <a:ext cx="5394960" cy="2926080"/>
        </p:xfrm>
        <a:graphic>
          <a:graphicData uri="http://schemas.openxmlformats.org/drawingml/2006/table">
            <a:tbl>
              <a:tblPr/>
              <a:tblGrid>
                <a:gridCol w="54864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292608">
                <a:tc>
                  <a:txBody>
                    <a:bodyPr/>
                    <a:lstStyle/>
                    <a:p>
                      <a:pPr marL="0" indent="0" algn="ctr">
                        <a:buNone/>
                      </a:pPr>
                      <a:r>
                        <a:rPr lang="en-US" sz="1100" b="1" dirty="0">
                          <a:solidFill>
                            <a:srgbClr val="1F2937"/>
                          </a:solidFill>
                          <a:latin typeface="Calibri" pitchFamily="34" charset="0"/>
                          <a:ea typeface="Calibri" pitchFamily="34" charset="-122"/>
                          <a:cs typeface="Calibri" pitchFamily="34" charset="-120"/>
                        </a:rPr>
                        <a:t>K</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EDF1F7"/>
                    </a:solidFill>
                  </a:tcPr>
                </a:tc>
                <a:tc>
                  <a:txBody>
                    <a:bodyPr/>
                    <a:lstStyle/>
                    <a:p>
                      <a:pPr marL="0" indent="0" algn="ctr">
                        <a:buNone/>
                      </a:pPr>
                      <a:r>
                        <a:rPr lang="en-US" sz="1100" b="1" dirty="0">
                          <a:solidFill>
                            <a:srgbClr val="1F2937"/>
                          </a:solidFill>
                          <a:latin typeface="Calibri" pitchFamily="34" charset="0"/>
                          <a:ea typeface="Calibri" pitchFamily="34" charset="-122"/>
                          <a:cs typeface="Calibri" pitchFamily="34" charset="-120"/>
                        </a:rPr>
                        <a:t>Sil. KM</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EDF1F7"/>
                    </a:solidFill>
                  </a:tcPr>
                </a:tc>
                <a:tc>
                  <a:txBody>
                    <a:bodyPr/>
                    <a:lstStyle/>
                    <a:p>
                      <a:pPr marL="0" indent="0" algn="ctr">
                        <a:buNone/>
                      </a:pPr>
                      <a:r>
                        <a:rPr lang="en-US" sz="1100" b="1" dirty="0">
                          <a:solidFill>
                            <a:srgbClr val="1F2937"/>
                          </a:solidFill>
                          <a:latin typeface="Calibri" pitchFamily="34" charset="0"/>
                          <a:ea typeface="Calibri" pitchFamily="34" charset="-122"/>
                          <a:cs typeface="Calibri" pitchFamily="34" charset="-120"/>
                        </a:rPr>
                        <a:t>Sil. KMed</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EDF1F7"/>
                    </a:solidFill>
                  </a:tcPr>
                </a:tc>
                <a:tc>
                  <a:txBody>
                    <a:bodyPr/>
                    <a:lstStyle/>
                    <a:p>
                      <a:pPr marL="0" indent="0" algn="ctr">
                        <a:buNone/>
                      </a:pPr>
                      <a:r>
                        <a:rPr lang="en-US" sz="1100" b="1" dirty="0">
                          <a:solidFill>
                            <a:srgbClr val="1F2937"/>
                          </a:solidFill>
                          <a:latin typeface="Calibri" pitchFamily="34" charset="0"/>
                          <a:ea typeface="Calibri" pitchFamily="34" charset="-122"/>
                          <a:cs typeface="Calibri" pitchFamily="34" charset="-120"/>
                        </a:rPr>
                        <a:t>DB KM</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EDF1F7"/>
                    </a:solidFill>
                  </a:tcPr>
                </a:tc>
                <a:tc>
                  <a:txBody>
                    <a:bodyPr/>
                    <a:lstStyle/>
                    <a:p>
                      <a:pPr marL="0" indent="0" algn="ctr">
                        <a:buNone/>
                      </a:pPr>
                      <a:r>
                        <a:rPr lang="en-US" sz="1100" b="1" dirty="0">
                          <a:solidFill>
                            <a:srgbClr val="1F2937"/>
                          </a:solidFill>
                          <a:latin typeface="Calibri" pitchFamily="34" charset="0"/>
                          <a:ea typeface="Calibri" pitchFamily="34" charset="-122"/>
                          <a:cs typeface="Calibri" pitchFamily="34" charset="-120"/>
                        </a:rPr>
                        <a:t>DB KMed</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EDF1F7"/>
                    </a:solidFill>
                  </a:tcPr>
                </a:tc>
                <a:extLst>
                  <a:ext uri="{0D108BD9-81ED-4DB2-BD59-A6C34878D82A}">
                    <a16:rowId xmlns:a16="http://schemas.microsoft.com/office/drawing/2014/main" val="10000"/>
                  </a:ext>
                </a:extLst>
              </a:tr>
              <a:tr h="292608">
                <a:tc>
                  <a:txBody>
                    <a:bodyPr/>
                    <a:lstStyle/>
                    <a:p>
                      <a:pPr marL="0" indent="0" algn="ctr">
                        <a:buNone/>
                      </a:pPr>
                      <a:r>
                        <a:rPr lang="en-US" sz="1100" dirty="0">
                          <a:solidFill>
                            <a:srgbClr val="1F2937"/>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F2937"/>
                          </a:solidFill>
                          <a:latin typeface="Calibri" pitchFamily="34" charset="0"/>
                          <a:ea typeface="Calibri" pitchFamily="34" charset="-122"/>
                          <a:cs typeface="Calibri" pitchFamily="34" charset="-120"/>
                        </a:rPr>
                        <a:t>0.3213</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F2937"/>
                          </a:solidFill>
                          <a:latin typeface="Calibri" pitchFamily="34" charset="0"/>
                          <a:ea typeface="Calibri" pitchFamily="34" charset="-122"/>
                          <a:cs typeface="Calibri" pitchFamily="34" charset="-120"/>
                        </a:rPr>
                        <a:t>0.3916</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F2937"/>
                          </a:solidFill>
                          <a:latin typeface="Calibri" pitchFamily="34" charset="0"/>
                          <a:ea typeface="Calibri" pitchFamily="34" charset="-122"/>
                          <a:cs typeface="Calibri" pitchFamily="34" charset="-120"/>
                        </a:rPr>
                        <a:t>1.2670</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F2937"/>
                          </a:solidFill>
                          <a:latin typeface="Calibri" pitchFamily="34" charset="0"/>
                          <a:ea typeface="Calibri" pitchFamily="34" charset="-122"/>
                          <a:cs typeface="Calibri" pitchFamily="34" charset="-120"/>
                        </a:rPr>
                        <a:t>0.9540</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lgn="ctr">
                        <a:buNone/>
                      </a:pPr>
                      <a:r>
                        <a:rPr lang="en-US" sz="1100" dirty="0">
                          <a:solidFill>
                            <a:srgbClr val="1F2937"/>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tc>
                  <a:txBody>
                    <a:bodyPr/>
                    <a:lstStyle/>
                    <a:p>
                      <a:pPr marL="0" indent="0" algn="ctr">
                        <a:buNone/>
                      </a:pPr>
                      <a:r>
                        <a:rPr lang="en-US" sz="1100" dirty="0">
                          <a:solidFill>
                            <a:srgbClr val="1F2937"/>
                          </a:solidFill>
                          <a:latin typeface="Calibri" pitchFamily="34" charset="0"/>
                          <a:ea typeface="Calibri" pitchFamily="34" charset="-122"/>
                          <a:cs typeface="Calibri" pitchFamily="34" charset="-120"/>
                        </a:rPr>
                        <a:t>0.4666</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tc>
                  <a:txBody>
                    <a:bodyPr/>
                    <a:lstStyle/>
                    <a:p>
                      <a:pPr marL="0" indent="0" algn="ctr">
                        <a:buNone/>
                      </a:pPr>
                      <a:r>
                        <a:rPr lang="en-US" sz="1100" dirty="0">
                          <a:solidFill>
                            <a:srgbClr val="1F2937"/>
                          </a:solidFill>
                          <a:latin typeface="Calibri" pitchFamily="34" charset="0"/>
                          <a:ea typeface="Calibri" pitchFamily="34" charset="-122"/>
                          <a:cs typeface="Calibri" pitchFamily="34" charset="-120"/>
                        </a:rPr>
                        <a:t>0.4641</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tc>
                  <a:txBody>
                    <a:bodyPr/>
                    <a:lstStyle/>
                    <a:p>
                      <a:pPr marL="0" indent="0" algn="ctr">
                        <a:buNone/>
                      </a:pPr>
                      <a:r>
                        <a:rPr lang="en-US" sz="1100" dirty="0">
                          <a:solidFill>
                            <a:srgbClr val="1F2937"/>
                          </a:solidFill>
                          <a:latin typeface="Calibri" pitchFamily="34" charset="0"/>
                          <a:ea typeface="Calibri" pitchFamily="34" charset="-122"/>
                          <a:cs typeface="Calibri" pitchFamily="34" charset="-120"/>
                        </a:rPr>
                        <a:t>0.7165</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tc>
                  <a:txBody>
                    <a:bodyPr/>
                    <a:lstStyle/>
                    <a:p>
                      <a:pPr marL="0" indent="0" algn="ctr">
                        <a:buNone/>
                      </a:pPr>
                      <a:r>
                        <a:rPr lang="en-US" sz="1100" dirty="0">
                          <a:solidFill>
                            <a:srgbClr val="1F2937"/>
                          </a:solidFill>
                          <a:latin typeface="Calibri" pitchFamily="34" charset="0"/>
                          <a:ea typeface="Calibri" pitchFamily="34" charset="-122"/>
                          <a:cs typeface="Calibri" pitchFamily="34" charset="-120"/>
                        </a:rPr>
                        <a:t>0.7230</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extLst>
                  <a:ext uri="{0D108BD9-81ED-4DB2-BD59-A6C34878D82A}">
                    <a16:rowId xmlns:a16="http://schemas.microsoft.com/office/drawing/2014/main" val="10002"/>
                  </a:ext>
                </a:extLst>
              </a:tr>
              <a:tr h="292608">
                <a:tc>
                  <a:txBody>
                    <a:bodyPr/>
                    <a:lstStyle/>
                    <a:p>
                      <a:pPr marL="0" indent="0" algn="ctr">
                        <a:buNone/>
                      </a:pPr>
                      <a:r>
                        <a:rPr lang="en-US" sz="1100" dirty="0">
                          <a:solidFill>
                            <a:srgbClr val="1F2937"/>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F2937"/>
                          </a:solidFill>
                          <a:latin typeface="Calibri" pitchFamily="34" charset="0"/>
                          <a:ea typeface="Calibri" pitchFamily="34" charset="-122"/>
                          <a:cs typeface="Calibri" pitchFamily="34" charset="-120"/>
                        </a:rPr>
                        <a:t>0.4939</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F2937"/>
                          </a:solidFill>
                          <a:latin typeface="Calibri" pitchFamily="34" charset="0"/>
                          <a:ea typeface="Calibri" pitchFamily="34" charset="-122"/>
                          <a:cs typeface="Calibri" pitchFamily="34" charset="-120"/>
                        </a:rPr>
                        <a:t>0.4857</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F2937"/>
                          </a:solidFill>
                          <a:latin typeface="Calibri" pitchFamily="34" charset="0"/>
                          <a:ea typeface="Calibri" pitchFamily="34" charset="-122"/>
                          <a:cs typeface="Calibri" pitchFamily="34" charset="-120"/>
                        </a:rPr>
                        <a:t>0.7096</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F2937"/>
                          </a:solidFill>
                          <a:latin typeface="Calibri" pitchFamily="34" charset="0"/>
                          <a:ea typeface="Calibri" pitchFamily="34" charset="-122"/>
                          <a:cs typeface="Calibri" pitchFamily="34" charset="-120"/>
                        </a:rPr>
                        <a:t>0.7218</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2608">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2F5D8C"/>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0.5547</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2F5D8C"/>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0.5562</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2F5D8C"/>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0.5722</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2F5D8C"/>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0.5661</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2F5D8C"/>
                    </a:solidFill>
                  </a:tcPr>
                </a:tc>
                <a:extLst>
                  <a:ext uri="{0D108BD9-81ED-4DB2-BD59-A6C34878D82A}">
                    <a16:rowId xmlns:a16="http://schemas.microsoft.com/office/drawing/2014/main" val="10004"/>
                  </a:ext>
                </a:extLst>
              </a:tr>
              <a:tr h="292608">
                <a:tc>
                  <a:txBody>
                    <a:bodyPr/>
                    <a:lstStyle/>
                    <a:p>
                      <a:pPr marL="0" indent="0" algn="ctr">
                        <a:buNone/>
                      </a:pPr>
                      <a:r>
                        <a:rPr lang="en-US" sz="1100" dirty="0">
                          <a:solidFill>
                            <a:srgbClr val="1F2937"/>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F2937"/>
                          </a:solidFill>
                          <a:latin typeface="Calibri" pitchFamily="34" charset="0"/>
                          <a:ea typeface="Calibri" pitchFamily="34" charset="-122"/>
                          <a:cs typeface="Calibri" pitchFamily="34" charset="-120"/>
                        </a:rPr>
                        <a:t>0.5399</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F2937"/>
                          </a:solidFill>
                          <a:latin typeface="Calibri" pitchFamily="34" charset="0"/>
                          <a:ea typeface="Calibri" pitchFamily="34" charset="-122"/>
                          <a:cs typeface="Calibri" pitchFamily="34" charset="-120"/>
                        </a:rPr>
                        <a:t>0.4558</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F2937"/>
                          </a:solidFill>
                          <a:latin typeface="Calibri" pitchFamily="34" charset="0"/>
                          <a:ea typeface="Calibri" pitchFamily="34" charset="-122"/>
                          <a:cs typeface="Calibri" pitchFamily="34" charset="-120"/>
                        </a:rPr>
                        <a:t>0.6546</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F2937"/>
                          </a:solidFill>
                          <a:latin typeface="Calibri" pitchFamily="34" charset="0"/>
                          <a:ea typeface="Calibri" pitchFamily="34" charset="-122"/>
                          <a:cs typeface="Calibri" pitchFamily="34" charset="-120"/>
                        </a:rPr>
                        <a:t>0.6700</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92608">
                <a:tc>
                  <a:txBody>
                    <a:bodyPr/>
                    <a:lstStyle/>
                    <a:p>
                      <a:pPr marL="0" indent="0" algn="ctr">
                        <a:buNone/>
                      </a:pPr>
                      <a:r>
                        <a:rPr lang="en-US" sz="1100" dirty="0">
                          <a:solidFill>
                            <a:srgbClr val="1F2937"/>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tc>
                  <a:txBody>
                    <a:bodyPr/>
                    <a:lstStyle/>
                    <a:p>
                      <a:pPr marL="0" indent="0" algn="ctr">
                        <a:buNone/>
                      </a:pPr>
                      <a:r>
                        <a:rPr lang="en-US" sz="1100" dirty="0">
                          <a:solidFill>
                            <a:srgbClr val="1F2937"/>
                          </a:solidFill>
                          <a:latin typeface="Calibri" pitchFamily="34" charset="0"/>
                          <a:ea typeface="Calibri" pitchFamily="34" charset="-122"/>
                          <a:cs typeface="Calibri" pitchFamily="34" charset="-120"/>
                        </a:rPr>
                        <a:t>0.5281</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tc>
                  <a:txBody>
                    <a:bodyPr/>
                    <a:lstStyle/>
                    <a:p>
                      <a:pPr marL="0" indent="0" algn="ctr">
                        <a:buNone/>
                      </a:pPr>
                      <a:r>
                        <a:rPr lang="en-US" sz="1100" dirty="0">
                          <a:solidFill>
                            <a:srgbClr val="1F2937"/>
                          </a:solidFill>
                          <a:latin typeface="Calibri" pitchFamily="34" charset="0"/>
                          <a:ea typeface="Calibri" pitchFamily="34" charset="-122"/>
                          <a:cs typeface="Calibri" pitchFamily="34" charset="-120"/>
                        </a:rPr>
                        <a:t>0.4516</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tc>
                  <a:txBody>
                    <a:bodyPr/>
                    <a:lstStyle/>
                    <a:p>
                      <a:pPr marL="0" indent="0" algn="ctr">
                        <a:buNone/>
                      </a:pPr>
                      <a:r>
                        <a:rPr lang="en-US" sz="1100" dirty="0">
                          <a:solidFill>
                            <a:srgbClr val="1F2937"/>
                          </a:solidFill>
                          <a:latin typeface="Calibri" pitchFamily="34" charset="0"/>
                          <a:ea typeface="Calibri" pitchFamily="34" charset="-122"/>
                          <a:cs typeface="Calibri" pitchFamily="34" charset="-120"/>
                        </a:rPr>
                        <a:t>0.7148</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tc>
                  <a:txBody>
                    <a:bodyPr/>
                    <a:lstStyle/>
                    <a:p>
                      <a:pPr marL="0" indent="0" algn="ctr">
                        <a:buNone/>
                      </a:pPr>
                      <a:r>
                        <a:rPr lang="en-US" sz="1100" dirty="0">
                          <a:solidFill>
                            <a:srgbClr val="1F2937"/>
                          </a:solidFill>
                          <a:latin typeface="Calibri" pitchFamily="34" charset="0"/>
                          <a:ea typeface="Calibri" pitchFamily="34" charset="-122"/>
                          <a:cs typeface="Calibri" pitchFamily="34" charset="-120"/>
                        </a:rPr>
                        <a:t>0.7341</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extLst>
                  <a:ext uri="{0D108BD9-81ED-4DB2-BD59-A6C34878D82A}">
                    <a16:rowId xmlns:a16="http://schemas.microsoft.com/office/drawing/2014/main" val="10006"/>
                  </a:ext>
                </a:extLst>
              </a:tr>
              <a:tr h="292608">
                <a:tc>
                  <a:txBody>
                    <a:bodyPr/>
                    <a:lstStyle/>
                    <a:p>
                      <a:pPr marL="0" indent="0" algn="ctr">
                        <a:buNone/>
                      </a:pPr>
                      <a:r>
                        <a:rPr lang="en-US" sz="1100" dirty="0">
                          <a:solidFill>
                            <a:srgbClr val="1F2937"/>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F2937"/>
                          </a:solidFill>
                          <a:latin typeface="Calibri" pitchFamily="34" charset="0"/>
                          <a:ea typeface="Calibri" pitchFamily="34" charset="-122"/>
                          <a:cs typeface="Calibri" pitchFamily="34" charset="-120"/>
                        </a:rPr>
                        <a:t>0.4567</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F2937"/>
                          </a:solidFill>
                          <a:latin typeface="Calibri" pitchFamily="34" charset="0"/>
                          <a:ea typeface="Calibri" pitchFamily="34" charset="-122"/>
                          <a:cs typeface="Calibri" pitchFamily="34" charset="-120"/>
                        </a:rPr>
                        <a:t>0.4544</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F2937"/>
                          </a:solidFill>
                          <a:latin typeface="Calibri" pitchFamily="34" charset="0"/>
                          <a:ea typeface="Calibri" pitchFamily="34" charset="-122"/>
                          <a:cs typeface="Calibri" pitchFamily="34" charset="-120"/>
                        </a:rPr>
                        <a:t>0.7579</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F2937"/>
                          </a:solidFill>
                          <a:latin typeface="Calibri" pitchFamily="34" charset="0"/>
                          <a:ea typeface="Calibri" pitchFamily="34" charset="-122"/>
                          <a:cs typeface="Calibri" pitchFamily="34" charset="-120"/>
                        </a:rPr>
                        <a:t>0.7349</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92608">
                <a:tc>
                  <a:txBody>
                    <a:bodyPr/>
                    <a:lstStyle/>
                    <a:p>
                      <a:pPr marL="0" indent="0" algn="ctr">
                        <a:buNone/>
                      </a:pPr>
                      <a:r>
                        <a:rPr lang="en-US" sz="1100" dirty="0">
                          <a:solidFill>
                            <a:srgbClr val="1F2937"/>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tc>
                  <a:txBody>
                    <a:bodyPr/>
                    <a:lstStyle/>
                    <a:p>
                      <a:pPr marL="0" indent="0" algn="ctr">
                        <a:buNone/>
                      </a:pPr>
                      <a:r>
                        <a:rPr lang="en-US" sz="1100" dirty="0">
                          <a:solidFill>
                            <a:srgbClr val="1F2937"/>
                          </a:solidFill>
                          <a:latin typeface="Calibri" pitchFamily="34" charset="0"/>
                          <a:ea typeface="Calibri" pitchFamily="34" charset="-122"/>
                          <a:cs typeface="Calibri" pitchFamily="34" charset="-120"/>
                        </a:rPr>
                        <a:t>0.4571</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tc>
                  <a:txBody>
                    <a:bodyPr/>
                    <a:lstStyle/>
                    <a:p>
                      <a:pPr marL="0" indent="0" algn="ctr">
                        <a:buNone/>
                      </a:pPr>
                      <a:r>
                        <a:rPr lang="en-US" sz="1100" dirty="0">
                          <a:solidFill>
                            <a:srgbClr val="1F2937"/>
                          </a:solidFill>
                          <a:latin typeface="Calibri" pitchFamily="34" charset="0"/>
                          <a:ea typeface="Calibri" pitchFamily="34" charset="-122"/>
                          <a:cs typeface="Calibri" pitchFamily="34" charset="-120"/>
                        </a:rPr>
                        <a:t>0.4252</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tc>
                  <a:txBody>
                    <a:bodyPr/>
                    <a:lstStyle/>
                    <a:p>
                      <a:pPr marL="0" indent="0" algn="ctr">
                        <a:buNone/>
                      </a:pPr>
                      <a:r>
                        <a:rPr lang="en-US" sz="1100" dirty="0">
                          <a:solidFill>
                            <a:srgbClr val="1F2937"/>
                          </a:solidFill>
                          <a:latin typeface="Calibri" pitchFamily="34" charset="0"/>
                          <a:ea typeface="Calibri" pitchFamily="34" charset="-122"/>
                          <a:cs typeface="Calibri" pitchFamily="34" charset="-120"/>
                        </a:rPr>
                        <a:t>0.7632</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tc>
                  <a:txBody>
                    <a:bodyPr/>
                    <a:lstStyle/>
                    <a:p>
                      <a:pPr marL="0" indent="0" algn="ctr">
                        <a:buNone/>
                      </a:pPr>
                      <a:r>
                        <a:rPr lang="en-US" sz="1100" dirty="0">
                          <a:solidFill>
                            <a:srgbClr val="1F2937"/>
                          </a:solidFill>
                          <a:latin typeface="Calibri" pitchFamily="34" charset="0"/>
                          <a:ea typeface="Calibri" pitchFamily="34" charset="-122"/>
                          <a:cs typeface="Calibri" pitchFamily="34" charset="-120"/>
                        </a:rPr>
                        <a:t>0.7736</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extLst>
                  <a:ext uri="{0D108BD9-81ED-4DB2-BD59-A6C34878D82A}">
                    <a16:rowId xmlns:a16="http://schemas.microsoft.com/office/drawing/2014/main" val="10008"/>
                  </a:ext>
                </a:extLst>
              </a:tr>
              <a:tr h="292608">
                <a:tc>
                  <a:txBody>
                    <a:bodyPr/>
                    <a:lstStyle/>
                    <a:p>
                      <a:pPr marL="0" indent="0" algn="ctr">
                        <a:buNone/>
                      </a:pPr>
                      <a:r>
                        <a:rPr lang="en-US" sz="1100" dirty="0">
                          <a:solidFill>
                            <a:srgbClr val="1F2937"/>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F2937"/>
                          </a:solidFill>
                          <a:latin typeface="Calibri" pitchFamily="34" charset="0"/>
                          <a:ea typeface="Calibri" pitchFamily="34" charset="-122"/>
                          <a:cs typeface="Calibri" pitchFamily="34" charset="-120"/>
                        </a:rPr>
                        <a:t>0.4362</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F2937"/>
                          </a:solidFill>
                          <a:latin typeface="Calibri" pitchFamily="34" charset="0"/>
                          <a:ea typeface="Calibri" pitchFamily="34" charset="-122"/>
                          <a:cs typeface="Calibri" pitchFamily="34" charset="-120"/>
                        </a:rPr>
                        <a:t>0.4347</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F2937"/>
                          </a:solidFill>
                          <a:latin typeface="Calibri" pitchFamily="34" charset="0"/>
                          <a:ea typeface="Calibri" pitchFamily="34" charset="-122"/>
                          <a:cs typeface="Calibri" pitchFamily="34" charset="-120"/>
                        </a:rPr>
                        <a:t>0.7645</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F2937"/>
                          </a:solidFill>
                          <a:latin typeface="Calibri" pitchFamily="34" charset="0"/>
                          <a:ea typeface="Calibri" pitchFamily="34" charset="-122"/>
                          <a:cs typeface="Calibri" pitchFamily="34" charset="-120"/>
                        </a:rPr>
                        <a:t>0.7909</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7" name="Text 3"/>
          <p:cNvSpPr txBox="1"/>
          <p:nvPr/>
        </p:nvSpPr>
        <p:spPr>
          <a:xfrm>
            <a:off x="6263640" y="4526280"/>
            <a:ext cx="5394960" cy="457200"/>
          </a:xfrm>
          <a:prstGeom prst="rect">
            <a:avLst/>
          </a:prstGeom>
          <a:noFill/>
          <a:ln/>
        </p:spPr>
        <p:txBody>
          <a:bodyPr wrap="square" lIns="0" tIns="0" rIns="0" bIns="0" rtlCol="0" anchor="t"/>
          <a:lstStyle/>
          <a:p>
            <a:pPr marL="0" indent="0">
              <a:buNone/>
            </a:pPr>
            <a:r>
              <a:rPr lang="en-US" sz="1000" dirty="0">
                <a:solidFill>
                  <a:srgbClr val="5B6678"/>
                </a:solidFill>
                <a:latin typeface="Calibri" pitchFamily="34" charset="0"/>
                <a:ea typeface="Calibri" pitchFamily="34" charset="-122"/>
                <a:cs typeface="Calibri" pitchFamily="34" charset="-120"/>
              </a:rPr>
              <a:t>Sil. = Silhouette (higher is better); DB = Davies-Bouldin (lower is better); KM = K-Means, KMed = K-Medoids (PAM)</a:t>
            </a:r>
            <a:endParaRPr lang="en-US" sz="1000" dirty="0"/>
          </a:p>
        </p:txBody>
      </p:sp>
      <p:sp>
        <p:nvSpPr>
          <p:cNvPr id="6" name="card"/>
          <p:cNvSpPr/>
          <p:nvPr/>
        </p:nvSpPr>
        <p:spPr>
          <a:xfrm>
            <a:off x="548640" y="5440680"/>
            <a:ext cx="3611880" cy="868680"/>
          </a:xfrm>
          <a:prstGeom prst="roundRect">
            <a:avLst>
              <a:gd name="adj" fmla="val 4211"/>
            </a:avLst>
          </a:prstGeom>
          <a:solidFill>
            <a:srgbClr val="FFFFFF"/>
          </a:solidFill>
          <a:ln w="9525">
            <a:solidFill>
              <a:srgbClr val="D3DAE5"/>
            </a:solidFill>
            <a:prstDash val="solid"/>
          </a:ln>
        </p:spPr>
      </p:sp>
      <p:sp>
        <p:nvSpPr>
          <p:cNvPr id="9" name="Text 5"/>
          <p:cNvSpPr txBox="1"/>
          <p:nvPr/>
        </p:nvSpPr>
        <p:spPr>
          <a:xfrm>
            <a:off x="731520" y="5486400"/>
            <a:ext cx="3291840" cy="320040"/>
          </a:xfrm>
          <a:prstGeom prst="rect">
            <a:avLst/>
          </a:prstGeom>
          <a:noFill/>
          <a:ln/>
        </p:spPr>
        <p:txBody>
          <a:bodyPr wrap="square" lIns="0" tIns="0" rIns="0" bIns="0" rtlCol="0" anchor="t"/>
          <a:lstStyle/>
          <a:p>
            <a:pPr marL="0" indent="0">
              <a:buNone/>
            </a:pPr>
            <a:r>
              <a:rPr lang="en-US" sz="1400" b="1" dirty="0">
                <a:solidFill>
                  <a:srgbClr val="2F5D8C"/>
                </a:solidFill>
                <a:latin typeface="Cambria" pitchFamily="34" charset="0"/>
                <a:ea typeface="Cambria" pitchFamily="34" charset="-122"/>
                <a:cs typeface="Cambria" pitchFamily="34" charset="-120"/>
              </a:rPr>
              <a:t>Silhouette is highest at K = 5</a:t>
            </a:r>
            <a:endParaRPr lang="en-US" sz="1400" dirty="0"/>
          </a:p>
        </p:txBody>
      </p:sp>
      <p:sp>
        <p:nvSpPr>
          <p:cNvPr id="10" name="Text 6"/>
          <p:cNvSpPr txBox="1"/>
          <p:nvPr/>
        </p:nvSpPr>
        <p:spPr>
          <a:xfrm>
            <a:off x="731520" y="5806440"/>
            <a:ext cx="3291840" cy="475488"/>
          </a:xfrm>
          <a:prstGeom prst="rect">
            <a:avLst/>
          </a:prstGeom>
          <a:noFill/>
          <a:ln/>
        </p:spPr>
        <p:txBody>
          <a:bodyPr wrap="square" lIns="0" tIns="0" rIns="0" bIns="0" rtlCol="0" anchor="t"/>
          <a:lstStyle/>
          <a:p>
            <a:pPr marL="0" indent="0">
              <a:buNone/>
            </a:pPr>
            <a:r>
              <a:rPr lang="en-US" sz="1100" dirty="0">
                <a:solidFill>
                  <a:srgbClr val="374151"/>
                </a:solidFill>
                <a:latin typeface="Calibri" pitchFamily="34" charset="0"/>
                <a:ea typeface="Calibri" pitchFamily="34" charset="-122"/>
                <a:cs typeface="Calibri" pitchFamily="34" charset="-120"/>
              </a:rPr>
              <a:t>among evaluated K, both algorithms (0.5547, 0.5562)</a:t>
            </a:r>
            <a:endParaRPr lang="en-US" sz="1100" dirty="0"/>
          </a:p>
        </p:txBody>
      </p:sp>
      <p:sp>
        <p:nvSpPr>
          <p:cNvPr id="11" name="card"/>
          <p:cNvSpPr/>
          <p:nvPr/>
        </p:nvSpPr>
        <p:spPr>
          <a:xfrm>
            <a:off x="4343400" y="5440680"/>
            <a:ext cx="3611880" cy="868680"/>
          </a:xfrm>
          <a:prstGeom prst="roundRect">
            <a:avLst>
              <a:gd name="adj" fmla="val 4211"/>
            </a:avLst>
          </a:prstGeom>
          <a:solidFill>
            <a:srgbClr val="FFFFFF"/>
          </a:solidFill>
          <a:ln w="9525">
            <a:solidFill>
              <a:srgbClr val="D3DAE5"/>
            </a:solidFill>
            <a:prstDash val="solid"/>
          </a:ln>
        </p:spPr>
      </p:sp>
      <p:sp>
        <p:nvSpPr>
          <p:cNvPr id="12" name="Text 8"/>
          <p:cNvSpPr txBox="1"/>
          <p:nvPr/>
        </p:nvSpPr>
        <p:spPr>
          <a:xfrm>
            <a:off x="4526280" y="5486400"/>
            <a:ext cx="3291840" cy="320040"/>
          </a:xfrm>
          <a:prstGeom prst="rect">
            <a:avLst/>
          </a:prstGeom>
          <a:noFill/>
          <a:ln/>
        </p:spPr>
        <p:txBody>
          <a:bodyPr wrap="square" lIns="0" tIns="0" rIns="0" bIns="0" rtlCol="0" anchor="t"/>
          <a:lstStyle/>
          <a:p>
            <a:pPr marL="0" indent="0">
              <a:buNone/>
            </a:pPr>
            <a:r>
              <a:rPr lang="en-US" sz="1400" b="1" dirty="0">
                <a:solidFill>
                  <a:srgbClr val="2F5D8C"/>
                </a:solidFill>
                <a:latin typeface="Cambria" pitchFamily="34" charset="0"/>
                <a:ea typeface="Cambria" pitchFamily="34" charset="-122"/>
                <a:cs typeface="Cambria" pitchFamily="34" charset="-120"/>
              </a:rPr>
              <a:t>Davies-Bouldin is lowest at K = 5</a:t>
            </a:r>
            <a:endParaRPr lang="en-US" sz="1400" dirty="0"/>
          </a:p>
        </p:txBody>
      </p:sp>
      <p:sp>
        <p:nvSpPr>
          <p:cNvPr id="13" name="Text 9"/>
          <p:cNvSpPr txBox="1"/>
          <p:nvPr/>
        </p:nvSpPr>
        <p:spPr>
          <a:xfrm>
            <a:off x="4526280" y="5806440"/>
            <a:ext cx="3291840" cy="475488"/>
          </a:xfrm>
          <a:prstGeom prst="rect">
            <a:avLst/>
          </a:prstGeom>
          <a:noFill/>
          <a:ln/>
        </p:spPr>
        <p:txBody>
          <a:bodyPr wrap="square" lIns="0" tIns="0" rIns="0" bIns="0" rtlCol="0" anchor="t"/>
          <a:lstStyle/>
          <a:p>
            <a:pPr marL="0" indent="0">
              <a:buNone/>
            </a:pPr>
            <a:r>
              <a:rPr lang="en-US" sz="1100" dirty="0">
                <a:solidFill>
                  <a:srgbClr val="374151"/>
                </a:solidFill>
                <a:latin typeface="Calibri" pitchFamily="34" charset="0"/>
                <a:ea typeface="Calibri" pitchFamily="34" charset="-122"/>
                <a:cs typeface="Calibri" pitchFamily="34" charset="-120"/>
              </a:rPr>
              <a:t>among evaluated K, both algorithms (0.5722, 0.5661)</a:t>
            </a:r>
            <a:endParaRPr lang="en-US" sz="1100" dirty="0"/>
          </a:p>
        </p:txBody>
      </p:sp>
      <p:sp>
        <p:nvSpPr>
          <p:cNvPr id="14" name="card"/>
          <p:cNvSpPr/>
          <p:nvPr/>
        </p:nvSpPr>
        <p:spPr>
          <a:xfrm>
            <a:off x="8138160" y="5440680"/>
            <a:ext cx="3611880" cy="868680"/>
          </a:xfrm>
          <a:prstGeom prst="roundRect">
            <a:avLst>
              <a:gd name="adj" fmla="val 4211"/>
            </a:avLst>
          </a:prstGeom>
          <a:solidFill>
            <a:srgbClr val="FFFFFF"/>
          </a:solidFill>
          <a:ln w="9525">
            <a:solidFill>
              <a:srgbClr val="D3DAE5"/>
            </a:solidFill>
            <a:prstDash val="solid"/>
          </a:ln>
        </p:spPr>
      </p:sp>
      <p:sp>
        <p:nvSpPr>
          <p:cNvPr id="15" name="Text 11"/>
          <p:cNvSpPr txBox="1"/>
          <p:nvPr/>
        </p:nvSpPr>
        <p:spPr>
          <a:xfrm>
            <a:off x="8321040" y="5486400"/>
            <a:ext cx="3291840" cy="320040"/>
          </a:xfrm>
          <a:prstGeom prst="rect">
            <a:avLst/>
          </a:prstGeom>
          <a:noFill/>
          <a:ln/>
        </p:spPr>
        <p:txBody>
          <a:bodyPr wrap="square" lIns="0" tIns="0" rIns="0" bIns="0" rtlCol="0" anchor="t"/>
          <a:lstStyle/>
          <a:p>
            <a:pPr marL="0" indent="0">
              <a:buNone/>
            </a:pPr>
            <a:r>
              <a:rPr lang="en-US" sz="1400" b="1" dirty="0">
                <a:solidFill>
                  <a:srgbClr val="2F5D8C"/>
                </a:solidFill>
                <a:latin typeface="Cambria" pitchFamily="34" charset="0"/>
                <a:ea typeface="Cambria" pitchFamily="34" charset="-122"/>
                <a:cs typeface="Cambria" pitchFamily="34" charset="-120"/>
              </a:rPr>
              <a:t>Objective curves bend near K = 5</a:t>
            </a:r>
            <a:endParaRPr lang="en-US" sz="1400" dirty="0"/>
          </a:p>
        </p:txBody>
      </p:sp>
      <p:sp>
        <p:nvSpPr>
          <p:cNvPr id="16" name="Text 12"/>
          <p:cNvSpPr txBox="1"/>
          <p:nvPr/>
        </p:nvSpPr>
        <p:spPr>
          <a:xfrm>
            <a:off x="8321040" y="5806440"/>
            <a:ext cx="3291840" cy="475488"/>
          </a:xfrm>
          <a:prstGeom prst="rect">
            <a:avLst/>
          </a:prstGeom>
          <a:noFill/>
          <a:ln/>
        </p:spPr>
        <p:txBody>
          <a:bodyPr wrap="square" lIns="0" tIns="0" rIns="0" bIns="0" rtlCol="0" anchor="t"/>
          <a:lstStyle/>
          <a:p>
            <a:pPr marL="0" indent="0">
              <a:buNone/>
            </a:pPr>
            <a:r>
              <a:rPr lang="en-US" sz="1100" dirty="0">
                <a:solidFill>
                  <a:srgbClr val="374151"/>
                </a:solidFill>
                <a:latin typeface="Calibri" pitchFamily="34" charset="0"/>
                <a:ea typeface="Calibri" pitchFamily="34" charset="-122"/>
                <a:cs typeface="Calibri" pitchFamily="34" charset="-120"/>
              </a:rPr>
              <a:t>but fall steadily: elbow supports, not proves, K = 5</a:t>
            </a:r>
            <a:endParaRPr lang="en-US" sz="11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8599"/>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64240" cy="777240"/>
          </a:xfrm>
          <a:prstGeom prst="rect">
            <a:avLst/>
          </a:prstGeom>
          <a:noFill/>
          <a:ln/>
        </p:spPr>
        <p:txBody>
          <a:bodyPr wrap="square" lIns="0" tIns="0" rIns="0" bIns="0" rtlCol="0" anchor="ctr"/>
          <a:lstStyle/>
          <a:p>
            <a:pPr marL="0" indent="0">
              <a:buNone/>
            </a:pPr>
            <a:r>
              <a:rPr lang="en-US" sz="3200" b="1" dirty="0">
                <a:solidFill>
                  <a:srgbClr val="1F2937"/>
                </a:solidFill>
                <a:latin typeface="Cambria" pitchFamily="34" charset="0"/>
                <a:ea typeface="Cambria" pitchFamily="34" charset="-122"/>
                <a:cs typeface="Cambria" pitchFamily="34" charset="-120"/>
              </a:rPr>
              <a:t>K-Means Segmentation: Income vs Spending Score</a:t>
            </a:r>
            <a:endParaRPr lang="en-US" sz="3200" dirty="0"/>
          </a:p>
        </p:txBody>
      </p:sp>
      <p:sp>
        <p:nvSpPr>
          <p:cNvPr id="3" name="image-card"/>
          <p:cNvSpPr/>
          <p:nvPr/>
        </p:nvSpPr>
        <p:spPr>
          <a:xfrm>
            <a:off x="548640" y="1325880"/>
            <a:ext cx="7584804" cy="4846320"/>
          </a:xfrm>
          <a:prstGeom prst="roundRect">
            <a:avLst>
              <a:gd name="adj" fmla="val 566"/>
            </a:avLst>
          </a:prstGeom>
          <a:solidFill>
            <a:srgbClr val="FFFFFF"/>
          </a:solidFill>
          <a:ln w="9525">
            <a:solidFill>
              <a:srgbClr val="D3DAE5"/>
            </a:solidFill>
            <a:prstDash val="solid"/>
          </a:ln>
        </p:spPr>
      </p:sp>
      <p:pic>
        <p:nvPicPr>
          <p:cNvPr id="4" name="Image 0" descr="K-Means segmentation, K=5, Annual Income versus Spending Score with centroids"/>
          <p:cNvPicPr>
            <a:picLocks noChangeAspect="1"/>
          </p:cNvPicPr>
          <p:nvPr/>
        </p:nvPicPr>
        <p:blipFill>
          <a:blip r:embed="rId3"/>
          <a:stretch>
            <a:fillRect/>
          </a:stretch>
        </p:blipFill>
        <p:spPr>
          <a:xfrm>
            <a:off x="594360" y="1371600"/>
            <a:ext cx="7493364" cy="4754880"/>
          </a:xfrm>
          <a:prstGeom prst="rect">
            <a:avLst/>
          </a:prstGeom>
        </p:spPr>
      </p:pic>
      <p:sp>
        <p:nvSpPr>
          <p:cNvPr id="5" name="card"/>
          <p:cNvSpPr/>
          <p:nvPr/>
        </p:nvSpPr>
        <p:spPr>
          <a:xfrm>
            <a:off x="8407764" y="1325880"/>
            <a:ext cx="3250836" cy="4846320"/>
          </a:xfrm>
          <a:prstGeom prst="roundRect">
            <a:avLst>
              <a:gd name="adj" fmla="val 1125"/>
            </a:avLst>
          </a:prstGeom>
          <a:solidFill>
            <a:srgbClr val="FFFFFF"/>
          </a:solidFill>
          <a:ln w="9525">
            <a:solidFill>
              <a:srgbClr val="D3DAE5"/>
            </a:solidFill>
            <a:prstDash val="solid"/>
          </a:ln>
        </p:spPr>
      </p:sp>
      <p:sp>
        <p:nvSpPr>
          <p:cNvPr id="6" name="Text 3"/>
          <p:cNvSpPr txBox="1"/>
          <p:nvPr/>
        </p:nvSpPr>
        <p:spPr>
          <a:xfrm>
            <a:off x="8636364" y="1463040"/>
            <a:ext cx="2793636" cy="365760"/>
          </a:xfrm>
          <a:prstGeom prst="rect">
            <a:avLst/>
          </a:prstGeom>
          <a:noFill/>
          <a:ln/>
        </p:spPr>
        <p:txBody>
          <a:bodyPr wrap="square" lIns="0" tIns="0" rIns="0" bIns="0" rtlCol="0" anchor="t"/>
          <a:lstStyle/>
          <a:p>
            <a:pPr marL="0" indent="0">
              <a:buNone/>
            </a:pPr>
            <a:r>
              <a:rPr lang="en-US" sz="1800" b="1" dirty="0">
                <a:solidFill>
                  <a:srgbClr val="2F5D8C"/>
                </a:solidFill>
                <a:latin typeface="Cambria" pitchFamily="34" charset="0"/>
                <a:ea typeface="Cambria" pitchFamily="34" charset="-122"/>
                <a:cs typeface="Cambria" pitchFamily="34" charset="-120"/>
              </a:rPr>
              <a:t>K = 5 clusters</a:t>
            </a:r>
            <a:endParaRPr lang="en-US" sz="1800" dirty="0"/>
          </a:p>
        </p:txBody>
      </p:sp>
      <p:sp>
        <p:nvSpPr>
          <p:cNvPr id="7" name="Shape 4"/>
          <p:cNvSpPr/>
          <p:nvPr/>
        </p:nvSpPr>
        <p:spPr>
          <a:xfrm>
            <a:off x="8636364" y="2029968"/>
            <a:ext cx="237744" cy="237744"/>
          </a:xfrm>
          <a:prstGeom prst="ellipse">
            <a:avLst/>
          </a:prstGeom>
          <a:solidFill>
            <a:srgbClr val="2CA02C"/>
          </a:solidFill>
          <a:ln w="9525">
            <a:solidFill>
              <a:srgbClr val="FFFFFF"/>
            </a:solidFill>
            <a:prstDash val="solid"/>
          </a:ln>
        </p:spPr>
      </p:sp>
      <p:sp>
        <p:nvSpPr>
          <p:cNvPr id="8" name="Text 5"/>
          <p:cNvSpPr txBox="1"/>
          <p:nvPr/>
        </p:nvSpPr>
        <p:spPr>
          <a:xfrm>
            <a:off x="9002124" y="1965960"/>
            <a:ext cx="1879236" cy="365760"/>
          </a:xfrm>
          <a:prstGeom prst="rect">
            <a:avLst/>
          </a:prstGeom>
          <a:noFill/>
          <a:ln/>
        </p:spPr>
        <p:txBody>
          <a:bodyPr wrap="square" lIns="0" tIns="0" rIns="0" bIns="0" rtlCol="0" anchor="ctr"/>
          <a:lstStyle/>
          <a:p>
            <a:pPr marL="0" indent="0">
              <a:buNone/>
            </a:pPr>
            <a:r>
              <a:rPr lang="en-US" sz="1300" dirty="0">
                <a:solidFill>
                  <a:srgbClr val="1F2937"/>
                </a:solidFill>
                <a:latin typeface="Calibri" pitchFamily="34" charset="0"/>
                <a:ea typeface="Calibri" pitchFamily="34" charset="-122"/>
                <a:cs typeface="Calibri" pitchFamily="34" charset="-120"/>
              </a:rPr>
              <a:t>High-Value</a:t>
            </a:r>
            <a:endParaRPr lang="en-US" sz="1300" dirty="0"/>
          </a:p>
        </p:txBody>
      </p:sp>
      <p:sp>
        <p:nvSpPr>
          <p:cNvPr id="9" name="Text 6"/>
          <p:cNvSpPr txBox="1"/>
          <p:nvPr/>
        </p:nvSpPr>
        <p:spPr>
          <a:xfrm>
            <a:off x="10881360" y="1965960"/>
            <a:ext cx="548640" cy="365760"/>
          </a:xfrm>
          <a:prstGeom prst="rect">
            <a:avLst/>
          </a:prstGeom>
          <a:noFill/>
          <a:ln/>
        </p:spPr>
        <p:txBody>
          <a:bodyPr wrap="square" lIns="0" tIns="0" rIns="0" bIns="0" rtlCol="0" anchor="ctr"/>
          <a:lstStyle/>
          <a:p>
            <a:pPr marL="0" indent="0" algn="r">
              <a:buNone/>
            </a:pPr>
            <a:r>
              <a:rPr lang="en-US" sz="1300" dirty="0">
                <a:solidFill>
                  <a:srgbClr val="5B6678"/>
                </a:solidFill>
                <a:latin typeface="Calibri" pitchFamily="34" charset="0"/>
                <a:ea typeface="Calibri" pitchFamily="34" charset="-122"/>
                <a:cs typeface="Calibri" pitchFamily="34" charset="-120"/>
              </a:rPr>
              <a:t>39</a:t>
            </a:r>
            <a:endParaRPr lang="en-US" sz="1300" dirty="0"/>
          </a:p>
        </p:txBody>
      </p:sp>
      <p:sp>
        <p:nvSpPr>
          <p:cNvPr id="10" name="Shape 7"/>
          <p:cNvSpPr/>
          <p:nvPr/>
        </p:nvSpPr>
        <p:spPr>
          <a:xfrm>
            <a:off x="8636364" y="2505456"/>
            <a:ext cx="237744" cy="237744"/>
          </a:xfrm>
          <a:prstGeom prst="ellipse">
            <a:avLst/>
          </a:prstGeom>
          <a:solidFill>
            <a:srgbClr val="8C564B"/>
          </a:solidFill>
          <a:ln w="9525">
            <a:solidFill>
              <a:srgbClr val="FFFFFF"/>
            </a:solidFill>
            <a:prstDash val="solid"/>
          </a:ln>
        </p:spPr>
      </p:sp>
      <p:sp>
        <p:nvSpPr>
          <p:cNvPr id="11" name="Text 8"/>
          <p:cNvSpPr txBox="1"/>
          <p:nvPr/>
        </p:nvSpPr>
        <p:spPr>
          <a:xfrm>
            <a:off x="9002124" y="2441448"/>
            <a:ext cx="1879236" cy="365760"/>
          </a:xfrm>
          <a:prstGeom prst="rect">
            <a:avLst/>
          </a:prstGeom>
          <a:noFill/>
          <a:ln/>
        </p:spPr>
        <p:txBody>
          <a:bodyPr wrap="square" lIns="0" tIns="0" rIns="0" bIns="0" rtlCol="0" anchor="ctr"/>
          <a:lstStyle/>
          <a:p>
            <a:pPr marL="0" indent="0">
              <a:buNone/>
            </a:pPr>
            <a:r>
              <a:rPr lang="en-US" sz="1300" dirty="0">
                <a:solidFill>
                  <a:srgbClr val="1F2937"/>
                </a:solidFill>
                <a:latin typeface="Calibri" pitchFamily="34" charset="0"/>
                <a:ea typeface="Calibri" pitchFamily="34" charset="-122"/>
                <a:cs typeface="Calibri" pitchFamily="34" charset="-120"/>
              </a:rPr>
              <a:t>High-Spending Budget</a:t>
            </a:r>
            <a:endParaRPr lang="en-US" sz="1300" dirty="0"/>
          </a:p>
        </p:txBody>
      </p:sp>
      <p:sp>
        <p:nvSpPr>
          <p:cNvPr id="12" name="Text 9"/>
          <p:cNvSpPr txBox="1"/>
          <p:nvPr/>
        </p:nvSpPr>
        <p:spPr>
          <a:xfrm>
            <a:off x="10881360" y="2441448"/>
            <a:ext cx="548640" cy="365760"/>
          </a:xfrm>
          <a:prstGeom prst="rect">
            <a:avLst/>
          </a:prstGeom>
          <a:noFill/>
          <a:ln/>
        </p:spPr>
        <p:txBody>
          <a:bodyPr wrap="square" lIns="0" tIns="0" rIns="0" bIns="0" rtlCol="0" anchor="ctr"/>
          <a:lstStyle/>
          <a:p>
            <a:pPr marL="0" indent="0" algn="r">
              <a:buNone/>
            </a:pPr>
            <a:r>
              <a:rPr lang="en-US" sz="1300" dirty="0">
                <a:solidFill>
                  <a:srgbClr val="5B6678"/>
                </a:solidFill>
                <a:latin typeface="Calibri" pitchFamily="34" charset="0"/>
                <a:ea typeface="Calibri" pitchFamily="34" charset="-122"/>
                <a:cs typeface="Calibri" pitchFamily="34" charset="-120"/>
              </a:rPr>
              <a:t>22</a:t>
            </a:r>
            <a:endParaRPr lang="en-US" sz="1300" dirty="0"/>
          </a:p>
        </p:txBody>
      </p:sp>
      <p:sp>
        <p:nvSpPr>
          <p:cNvPr id="13" name="Shape 10"/>
          <p:cNvSpPr/>
          <p:nvPr/>
        </p:nvSpPr>
        <p:spPr>
          <a:xfrm>
            <a:off x="8636364" y="2980944"/>
            <a:ext cx="237744" cy="237744"/>
          </a:xfrm>
          <a:prstGeom prst="ellipse">
            <a:avLst/>
          </a:prstGeom>
          <a:solidFill>
            <a:srgbClr val="1F77B4"/>
          </a:solidFill>
          <a:ln w="9525">
            <a:solidFill>
              <a:srgbClr val="FFFFFF"/>
            </a:solidFill>
            <a:prstDash val="solid"/>
          </a:ln>
        </p:spPr>
      </p:sp>
      <p:sp>
        <p:nvSpPr>
          <p:cNvPr id="14" name="Text 11"/>
          <p:cNvSpPr txBox="1"/>
          <p:nvPr/>
        </p:nvSpPr>
        <p:spPr>
          <a:xfrm>
            <a:off x="9002124" y="2916936"/>
            <a:ext cx="1879236" cy="365760"/>
          </a:xfrm>
          <a:prstGeom prst="rect">
            <a:avLst/>
          </a:prstGeom>
          <a:noFill/>
          <a:ln/>
        </p:spPr>
        <p:txBody>
          <a:bodyPr wrap="square" lIns="0" tIns="0" rIns="0" bIns="0" rtlCol="0" anchor="ctr"/>
          <a:lstStyle/>
          <a:p>
            <a:pPr marL="0" indent="0">
              <a:buNone/>
            </a:pPr>
            <a:r>
              <a:rPr lang="en-US" sz="1300" dirty="0">
                <a:solidFill>
                  <a:srgbClr val="1F2937"/>
                </a:solidFill>
                <a:latin typeface="Calibri" pitchFamily="34" charset="0"/>
                <a:ea typeface="Calibri" pitchFamily="34" charset="-122"/>
                <a:cs typeface="Calibri" pitchFamily="34" charset="-120"/>
              </a:rPr>
              <a:t>Balanced / Moderate</a:t>
            </a:r>
            <a:endParaRPr lang="en-US" sz="1300" dirty="0"/>
          </a:p>
        </p:txBody>
      </p:sp>
      <p:sp>
        <p:nvSpPr>
          <p:cNvPr id="15" name="Text 12"/>
          <p:cNvSpPr txBox="1"/>
          <p:nvPr/>
        </p:nvSpPr>
        <p:spPr>
          <a:xfrm>
            <a:off x="10881360" y="2916936"/>
            <a:ext cx="548640" cy="365760"/>
          </a:xfrm>
          <a:prstGeom prst="rect">
            <a:avLst/>
          </a:prstGeom>
          <a:noFill/>
          <a:ln/>
        </p:spPr>
        <p:txBody>
          <a:bodyPr wrap="square" lIns="0" tIns="0" rIns="0" bIns="0" rtlCol="0" anchor="ctr"/>
          <a:lstStyle/>
          <a:p>
            <a:pPr marL="0" indent="0" algn="r">
              <a:buNone/>
            </a:pPr>
            <a:r>
              <a:rPr lang="en-US" sz="1300" dirty="0">
                <a:solidFill>
                  <a:srgbClr val="5B6678"/>
                </a:solidFill>
                <a:latin typeface="Calibri" pitchFamily="34" charset="0"/>
                <a:ea typeface="Calibri" pitchFamily="34" charset="-122"/>
                <a:cs typeface="Calibri" pitchFamily="34" charset="-120"/>
              </a:rPr>
              <a:t>81</a:t>
            </a:r>
            <a:endParaRPr lang="en-US" sz="1300" dirty="0"/>
          </a:p>
        </p:txBody>
      </p:sp>
      <p:sp>
        <p:nvSpPr>
          <p:cNvPr id="16" name="Shape 13"/>
          <p:cNvSpPr/>
          <p:nvPr/>
        </p:nvSpPr>
        <p:spPr>
          <a:xfrm>
            <a:off x="8636364" y="3456432"/>
            <a:ext cx="237744" cy="237744"/>
          </a:xfrm>
          <a:prstGeom prst="ellipse">
            <a:avLst/>
          </a:prstGeom>
          <a:solidFill>
            <a:srgbClr val="17BECF"/>
          </a:solidFill>
          <a:ln w="9525">
            <a:solidFill>
              <a:srgbClr val="FFFFFF"/>
            </a:solidFill>
            <a:prstDash val="solid"/>
          </a:ln>
        </p:spPr>
      </p:sp>
      <p:sp>
        <p:nvSpPr>
          <p:cNvPr id="17" name="Text 14"/>
          <p:cNvSpPr txBox="1"/>
          <p:nvPr/>
        </p:nvSpPr>
        <p:spPr>
          <a:xfrm>
            <a:off x="9002124" y="3392424"/>
            <a:ext cx="1879236" cy="365760"/>
          </a:xfrm>
          <a:prstGeom prst="rect">
            <a:avLst/>
          </a:prstGeom>
          <a:noFill/>
          <a:ln/>
        </p:spPr>
        <p:txBody>
          <a:bodyPr wrap="square" lIns="0" tIns="0" rIns="0" bIns="0" rtlCol="0" anchor="ctr"/>
          <a:lstStyle/>
          <a:p>
            <a:pPr marL="0" indent="0">
              <a:buNone/>
            </a:pPr>
            <a:r>
              <a:rPr lang="en-US" sz="1300" dirty="0">
                <a:solidFill>
                  <a:srgbClr val="1F2937"/>
                </a:solidFill>
                <a:latin typeface="Calibri" pitchFamily="34" charset="0"/>
                <a:ea typeface="Calibri" pitchFamily="34" charset="-122"/>
                <a:cs typeface="Calibri" pitchFamily="34" charset="-120"/>
              </a:rPr>
              <a:t>Low-Engagement</a:t>
            </a:r>
            <a:endParaRPr lang="en-US" sz="1300" dirty="0"/>
          </a:p>
        </p:txBody>
      </p:sp>
      <p:sp>
        <p:nvSpPr>
          <p:cNvPr id="18" name="Text 15"/>
          <p:cNvSpPr txBox="1"/>
          <p:nvPr/>
        </p:nvSpPr>
        <p:spPr>
          <a:xfrm>
            <a:off x="10881360" y="3392424"/>
            <a:ext cx="548640" cy="365760"/>
          </a:xfrm>
          <a:prstGeom prst="rect">
            <a:avLst/>
          </a:prstGeom>
          <a:noFill/>
          <a:ln/>
        </p:spPr>
        <p:txBody>
          <a:bodyPr wrap="square" lIns="0" tIns="0" rIns="0" bIns="0" rtlCol="0" anchor="ctr"/>
          <a:lstStyle/>
          <a:p>
            <a:pPr marL="0" indent="0" algn="r">
              <a:buNone/>
            </a:pPr>
            <a:r>
              <a:rPr lang="en-US" sz="1300" dirty="0">
                <a:solidFill>
                  <a:srgbClr val="5B6678"/>
                </a:solidFill>
                <a:latin typeface="Calibri" pitchFamily="34" charset="0"/>
                <a:ea typeface="Calibri" pitchFamily="34" charset="-122"/>
                <a:cs typeface="Calibri" pitchFamily="34" charset="-120"/>
              </a:rPr>
              <a:t>23</a:t>
            </a:r>
            <a:endParaRPr lang="en-US" sz="1300" dirty="0"/>
          </a:p>
        </p:txBody>
      </p:sp>
      <p:sp>
        <p:nvSpPr>
          <p:cNvPr id="19" name="Shape 16"/>
          <p:cNvSpPr/>
          <p:nvPr/>
        </p:nvSpPr>
        <p:spPr>
          <a:xfrm>
            <a:off x="8636364" y="3931920"/>
            <a:ext cx="237744" cy="237744"/>
          </a:xfrm>
          <a:prstGeom prst="ellipse">
            <a:avLst/>
          </a:prstGeom>
          <a:solidFill>
            <a:srgbClr val="7F7F7F"/>
          </a:solidFill>
          <a:ln w="9525">
            <a:solidFill>
              <a:srgbClr val="FFFFFF"/>
            </a:solidFill>
            <a:prstDash val="solid"/>
          </a:ln>
        </p:spPr>
      </p:sp>
      <p:sp>
        <p:nvSpPr>
          <p:cNvPr id="20" name="Text 17"/>
          <p:cNvSpPr txBox="1"/>
          <p:nvPr/>
        </p:nvSpPr>
        <p:spPr>
          <a:xfrm>
            <a:off x="9002124" y="3867912"/>
            <a:ext cx="1879236" cy="365760"/>
          </a:xfrm>
          <a:prstGeom prst="rect">
            <a:avLst/>
          </a:prstGeom>
          <a:noFill/>
          <a:ln/>
        </p:spPr>
        <p:txBody>
          <a:bodyPr wrap="square" lIns="0" tIns="0" rIns="0" bIns="0" rtlCol="0" anchor="ctr"/>
          <a:lstStyle/>
          <a:p>
            <a:pPr marL="0" indent="0">
              <a:buNone/>
            </a:pPr>
            <a:r>
              <a:rPr lang="en-US" sz="1300" dirty="0">
                <a:solidFill>
                  <a:srgbClr val="1F2937"/>
                </a:solidFill>
                <a:latin typeface="Calibri" pitchFamily="34" charset="0"/>
                <a:ea typeface="Calibri" pitchFamily="34" charset="-122"/>
                <a:cs typeface="Calibri" pitchFamily="34" charset="-120"/>
              </a:rPr>
              <a:t>High-Income Low-Spending</a:t>
            </a:r>
            <a:endParaRPr lang="en-US" sz="1300" dirty="0"/>
          </a:p>
        </p:txBody>
      </p:sp>
      <p:sp>
        <p:nvSpPr>
          <p:cNvPr id="21" name="Text 18"/>
          <p:cNvSpPr txBox="1"/>
          <p:nvPr/>
        </p:nvSpPr>
        <p:spPr>
          <a:xfrm>
            <a:off x="10881360" y="3867912"/>
            <a:ext cx="548640" cy="365760"/>
          </a:xfrm>
          <a:prstGeom prst="rect">
            <a:avLst/>
          </a:prstGeom>
          <a:noFill/>
          <a:ln/>
        </p:spPr>
        <p:txBody>
          <a:bodyPr wrap="square" lIns="0" tIns="0" rIns="0" bIns="0" rtlCol="0" anchor="ctr"/>
          <a:lstStyle/>
          <a:p>
            <a:pPr marL="0" indent="0" algn="r">
              <a:buNone/>
            </a:pPr>
            <a:r>
              <a:rPr lang="en-US" sz="1300" dirty="0">
                <a:solidFill>
                  <a:srgbClr val="5B6678"/>
                </a:solidFill>
                <a:latin typeface="Calibri" pitchFamily="34" charset="0"/>
                <a:ea typeface="Calibri" pitchFamily="34" charset="-122"/>
                <a:cs typeface="Calibri" pitchFamily="34" charset="-120"/>
              </a:rPr>
              <a:t>35</a:t>
            </a:r>
            <a:endParaRPr lang="en-US" sz="1300" dirty="0"/>
          </a:p>
        </p:txBody>
      </p:sp>
      <p:sp>
        <p:nvSpPr>
          <p:cNvPr id="22" name="Text 19"/>
          <p:cNvSpPr txBox="1"/>
          <p:nvPr/>
        </p:nvSpPr>
        <p:spPr>
          <a:xfrm>
            <a:off x="8636364" y="4343400"/>
            <a:ext cx="2793636" cy="274320"/>
          </a:xfrm>
          <a:prstGeom prst="rect">
            <a:avLst/>
          </a:prstGeom>
          <a:noFill/>
          <a:ln/>
        </p:spPr>
        <p:txBody>
          <a:bodyPr wrap="square" lIns="0" tIns="0" rIns="0" bIns="0" rtlCol="0" anchor="t"/>
          <a:lstStyle/>
          <a:p>
            <a:pPr marL="0" indent="0">
              <a:buNone/>
            </a:pPr>
            <a:r>
              <a:rPr lang="en-US" sz="1000" dirty="0">
                <a:solidFill>
                  <a:srgbClr val="5B6678"/>
                </a:solidFill>
                <a:latin typeface="Calibri" pitchFamily="34" charset="0"/>
                <a:ea typeface="Calibri" pitchFamily="34" charset="-122"/>
                <a:cs typeface="Calibri" pitchFamily="34" charset="-120"/>
              </a:rPr>
              <a:t>customer counts shown on the right</a:t>
            </a:r>
            <a:endParaRPr lang="en-US" sz="1000" dirty="0"/>
          </a:p>
        </p:txBody>
      </p:sp>
      <p:sp>
        <p:nvSpPr>
          <p:cNvPr id="23" name="Text 20"/>
          <p:cNvSpPr txBox="1"/>
          <p:nvPr/>
        </p:nvSpPr>
        <p:spPr>
          <a:xfrm>
            <a:off x="8636364" y="4709160"/>
            <a:ext cx="2793636" cy="1371600"/>
          </a:xfrm>
          <a:prstGeom prst="rect">
            <a:avLst/>
          </a:prstGeom>
          <a:noFill/>
          <a:ln/>
        </p:spPr>
        <p:txBody>
          <a:bodyPr wrap="square" lIns="0" tIns="0" rIns="0" bIns="0" rtlCol="0" anchor="t"/>
          <a:lstStyle/>
          <a:p>
            <a:pPr marL="0" indent="0">
              <a:spcAft>
                <a:spcPts val="500"/>
              </a:spcAft>
              <a:buNone/>
            </a:pPr>
            <a:r>
              <a:rPr lang="en-US" sz="1300" dirty="0">
                <a:solidFill>
                  <a:srgbClr val="374151"/>
                </a:solidFill>
                <a:latin typeface="Calibri" pitchFamily="34" charset="0"/>
                <a:ea typeface="Calibri" pitchFamily="34" charset="-122"/>
                <a:cs typeface="Calibri" pitchFamily="34" charset="-120"/>
              </a:rPr>
              <a:t>✕  marks each K-Means centroid (original units)</a:t>
            </a:r>
            <a:endParaRPr lang="en-US" sz="1300" dirty="0"/>
          </a:p>
          <a:p>
            <a:pPr marL="0" indent="0">
              <a:spcAft>
                <a:spcPts val="500"/>
              </a:spcAft>
              <a:buNone/>
            </a:pPr>
            <a:r>
              <a:rPr lang="en-US" sz="1300" dirty="0">
                <a:solidFill>
                  <a:srgbClr val="374151"/>
                </a:solidFill>
                <a:latin typeface="Calibri" pitchFamily="34" charset="0"/>
                <a:ea typeface="Calibri" pitchFamily="34" charset="-122"/>
                <a:cs typeface="Calibri" pitchFamily="34" charset="-120"/>
              </a:rPr>
              <a:t>Five groups are visually well separated</a:t>
            </a:r>
            <a:endParaRPr lang="en-US" sz="1300" dirty="0"/>
          </a:p>
          <a:p>
            <a:pPr marL="0" indent="0">
              <a:spcAft>
                <a:spcPts val="500"/>
              </a:spcAft>
              <a:buNone/>
            </a:pPr>
            <a:r>
              <a:rPr lang="en-US" sz="1300" dirty="0">
                <a:solidFill>
                  <a:srgbClr val="374151"/>
                </a:solidFill>
                <a:latin typeface="Calibri" pitchFamily="34" charset="0"/>
                <a:ea typeface="Calibri" pitchFamily="34" charset="-122"/>
                <a:cs typeface="Calibri" pitchFamily="34" charset="-120"/>
              </a:rPr>
              <a:t>Silhouette 0.5547, Davies-Bouldin 0.5722</a:t>
            </a:r>
            <a:endParaRPr lang="en-US" sz="13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8599"/>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64240" cy="777240"/>
          </a:xfrm>
          <a:prstGeom prst="rect">
            <a:avLst/>
          </a:prstGeom>
          <a:noFill/>
          <a:ln/>
        </p:spPr>
        <p:txBody>
          <a:bodyPr wrap="square" lIns="0" tIns="0" rIns="0" bIns="0" rtlCol="0" anchor="ctr"/>
          <a:lstStyle/>
          <a:p>
            <a:pPr marL="0" indent="0">
              <a:buNone/>
            </a:pPr>
            <a:r>
              <a:rPr lang="en-US" sz="3200" b="1" dirty="0">
                <a:solidFill>
                  <a:srgbClr val="1F2937"/>
                </a:solidFill>
                <a:latin typeface="Cambria" pitchFamily="34" charset="0"/>
                <a:ea typeface="Cambria" pitchFamily="34" charset="-122"/>
                <a:cs typeface="Cambria" pitchFamily="34" charset="-120"/>
              </a:rPr>
              <a:t>K-Medoids (PAM) Segmentation</a:t>
            </a:r>
            <a:endParaRPr lang="en-US" sz="3200" dirty="0"/>
          </a:p>
        </p:txBody>
      </p:sp>
      <p:sp>
        <p:nvSpPr>
          <p:cNvPr id="3" name="image-card"/>
          <p:cNvSpPr/>
          <p:nvPr/>
        </p:nvSpPr>
        <p:spPr>
          <a:xfrm>
            <a:off x="548640" y="1325880"/>
            <a:ext cx="6084232" cy="4434840"/>
          </a:xfrm>
          <a:prstGeom prst="roundRect">
            <a:avLst>
              <a:gd name="adj" fmla="val 619"/>
            </a:avLst>
          </a:prstGeom>
          <a:solidFill>
            <a:srgbClr val="FFFFFF"/>
          </a:solidFill>
          <a:ln w="9525">
            <a:solidFill>
              <a:srgbClr val="D3DAE5"/>
            </a:solidFill>
            <a:prstDash val="solid"/>
          </a:ln>
        </p:spPr>
      </p:sp>
      <p:pic>
        <p:nvPicPr>
          <p:cNvPr id="4" name="Image 0" descr="K-Medoids PAM segmentation, K=5, with medoids shown as diamonds"/>
          <p:cNvPicPr>
            <a:picLocks noChangeAspect="1"/>
          </p:cNvPicPr>
          <p:nvPr/>
        </p:nvPicPr>
        <p:blipFill>
          <a:blip r:embed="rId3"/>
          <a:stretch>
            <a:fillRect/>
          </a:stretch>
        </p:blipFill>
        <p:spPr>
          <a:xfrm>
            <a:off x="594360" y="1371600"/>
            <a:ext cx="5992792" cy="4343400"/>
          </a:xfrm>
          <a:prstGeom prst="rect">
            <a:avLst/>
          </a:prstGeom>
        </p:spPr>
      </p:pic>
      <p:sp>
        <p:nvSpPr>
          <p:cNvPr id="5" name="Text 2"/>
          <p:cNvSpPr txBox="1"/>
          <p:nvPr/>
        </p:nvSpPr>
        <p:spPr>
          <a:xfrm>
            <a:off x="548640" y="5852160"/>
            <a:ext cx="6084232" cy="274320"/>
          </a:xfrm>
          <a:prstGeom prst="rect">
            <a:avLst/>
          </a:prstGeom>
          <a:noFill/>
          <a:ln/>
        </p:spPr>
        <p:txBody>
          <a:bodyPr wrap="square" lIns="0" tIns="0" rIns="0" bIns="0" rtlCol="0" anchor="t"/>
          <a:lstStyle/>
          <a:p>
            <a:pPr marL="0" indent="0" algn="ctr">
              <a:buNone/>
            </a:pPr>
            <a:r>
              <a:rPr lang="en-US" sz="1100" dirty="0">
                <a:solidFill>
                  <a:srgbClr val="5B6678"/>
                </a:solidFill>
                <a:latin typeface="Calibri" pitchFamily="34" charset="0"/>
                <a:ea typeface="Calibri" pitchFamily="34" charset="-122"/>
                <a:cs typeface="Calibri" pitchFamily="34" charset="-120"/>
              </a:rPr>
              <a:t>Project notebook output: K = 5, ◆ = medoid (an actual customer). Cluster IDs/colours are independent of the K-Means figure.</a:t>
            </a:r>
            <a:endParaRPr lang="en-US" sz="1100" dirty="0"/>
          </a:p>
        </p:txBody>
      </p:sp>
      <p:sp>
        <p:nvSpPr>
          <p:cNvPr id="6" name="card"/>
          <p:cNvSpPr/>
          <p:nvPr/>
        </p:nvSpPr>
        <p:spPr>
          <a:xfrm>
            <a:off x="6907192" y="1325880"/>
            <a:ext cx="4751408" cy="2286000"/>
          </a:xfrm>
          <a:prstGeom prst="roundRect">
            <a:avLst>
              <a:gd name="adj" fmla="val 1600"/>
            </a:avLst>
          </a:prstGeom>
          <a:solidFill>
            <a:srgbClr val="FFFFFF"/>
          </a:solidFill>
          <a:ln w="9525">
            <a:solidFill>
              <a:srgbClr val="D3DAE5"/>
            </a:solidFill>
            <a:prstDash val="solid"/>
          </a:ln>
        </p:spPr>
      </p:sp>
      <p:sp>
        <p:nvSpPr>
          <p:cNvPr id="7" name="Text 4"/>
          <p:cNvSpPr txBox="1"/>
          <p:nvPr/>
        </p:nvSpPr>
        <p:spPr>
          <a:xfrm>
            <a:off x="7135792" y="1417320"/>
            <a:ext cx="4294208" cy="365760"/>
          </a:xfrm>
          <a:prstGeom prst="rect">
            <a:avLst/>
          </a:prstGeom>
          <a:noFill/>
          <a:ln/>
        </p:spPr>
        <p:txBody>
          <a:bodyPr wrap="square" lIns="0" tIns="0" rIns="0" bIns="0" rtlCol="0" anchor="t"/>
          <a:lstStyle/>
          <a:p>
            <a:pPr marL="0" indent="0">
              <a:buNone/>
            </a:pPr>
            <a:r>
              <a:rPr lang="en-US" sz="1800" b="1" dirty="0">
                <a:solidFill>
                  <a:srgbClr val="2F5D8C"/>
                </a:solidFill>
                <a:latin typeface="Cambria" pitchFamily="34" charset="0"/>
                <a:ea typeface="Cambria" pitchFamily="34" charset="-122"/>
                <a:cs typeface="Cambria" pitchFamily="34" charset="-120"/>
              </a:rPr>
              <a:t>How PAM works</a:t>
            </a:r>
            <a:endParaRPr lang="en-US" sz="1800" dirty="0"/>
          </a:p>
        </p:txBody>
      </p:sp>
      <p:sp>
        <p:nvSpPr>
          <p:cNvPr id="8" name="Text 5"/>
          <p:cNvSpPr txBox="1"/>
          <p:nvPr/>
        </p:nvSpPr>
        <p:spPr>
          <a:xfrm>
            <a:off x="7135792" y="1828800"/>
            <a:ext cx="4294208" cy="173736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374151"/>
                </a:solidFill>
                <a:latin typeface="Calibri" pitchFamily="34" charset="0"/>
                <a:ea typeface="Calibri" pitchFamily="34" charset="-122"/>
                <a:cs typeface="Calibri" pitchFamily="34" charset="-120"/>
              </a:rPr>
              <a:t>BUILD: greedily choose K starting medoids</a:t>
            </a:r>
            <a:endParaRPr lang="en-US" sz="1300" dirty="0"/>
          </a:p>
          <a:p>
            <a:pPr marL="342900" indent="-342900">
              <a:spcAft>
                <a:spcPts val="500"/>
              </a:spcAft>
              <a:buSzPct val="100000"/>
              <a:buChar char="•"/>
            </a:pPr>
            <a:r>
              <a:rPr lang="en-US" sz="1300" dirty="0">
                <a:solidFill>
                  <a:srgbClr val="374151"/>
                </a:solidFill>
                <a:latin typeface="Calibri" pitchFamily="34" charset="0"/>
                <a:ea typeface="Calibri" pitchFamily="34" charset="-122"/>
                <a:cs typeface="Calibri" pitchFamily="34" charset="-120"/>
              </a:rPr>
              <a:t>SWAP: exchange a medoid with a non-medoid if total cost falls</a:t>
            </a:r>
            <a:endParaRPr lang="en-US" sz="1300" dirty="0"/>
          </a:p>
          <a:p>
            <a:pPr marL="342900" indent="-342900">
              <a:spcAft>
                <a:spcPts val="500"/>
              </a:spcAft>
              <a:buSzPct val="100000"/>
              <a:buChar char="•"/>
            </a:pPr>
            <a:r>
              <a:rPr lang="en-US" sz="1300" dirty="0">
                <a:solidFill>
                  <a:srgbClr val="374151"/>
                </a:solidFill>
                <a:latin typeface="Calibri" pitchFamily="34" charset="0"/>
                <a:ea typeface="Calibri" pitchFamily="34" charset="-122"/>
                <a:cs typeface="Calibri" pitchFamily="34" charset="-120"/>
              </a:rPr>
              <a:t>Assign each customer to the nearest medoid</a:t>
            </a:r>
            <a:endParaRPr lang="en-US" sz="1300" dirty="0"/>
          </a:p>
        </p:txBody>
      </p:sp>
      <p:sp>
        <p:nvSpPr>
          <p:cNvPr id="9" name="card"/>
          <p:cNvSpPr/>
          <p:nvPr/>
        </p:nvSpPr>
        <p:spPr>
          <a:xfrm>
            <a:off x="6907192" y="3749040"/>
            <a:ext cx="4751408" cy="2423160"/>
          </a:xfrm>
          <a:prstGeom prst="roundRect">
            <a:avLst>
              <a:gd name="adj" fmla="val 1509"/>
            </a:avLst>
          </a:prstGeom>
          <a:solidFill>
            <a:srgbClr val="FFFFFF"/>
          </a:solidFill>
          <a:ln w="9525">
            <a:solidFill>
              <a:srgbClr val="D3DAE5"/>
            </a:solidFill>
            <a:prstDash val="solid"/>
          </a:ln>
        </p:spPr>
      </p:sp>
      <p:sp>
        <p:nvSpPr>
          <p:cNvPr id="10" name="Text 7"/>
          <p:cNvSpPr txBox="1"/>
          <p:nvPr/>
        </p:nvSpPr>
        <p:spPr>
          <a:xfrm>
            <a:off x="7135792" y="3840480"/>
            <a:ext cx="4294208" cy="365760"/>
          </a:xfrm>
          <a:prstGeom prst="rect">
            <a:avLst/>
          </a:prstGeom>
          <a:noFill/>
          <a:ln/>
        </p:spPr>
        <p:txBody>
          <a:bodyPr wrap="square" lIns="0" tIns="0" rIns="0" bIns="0" rtlCol="0" anchor="t"/>
          <a:lstStyle/>
          <a:p>
            <a:pPr marL="0" indent="0">
              <a:buNone/>
            </a:pPr>
            <a:r>
              <a:rPr lang="en-US" sz="1800" b="1" dirty="0">
                <a:solidFill>
                  <a:srgbClr val="2F5D8C"/>
                </a:solidFill>
                <a:latin typeface="Cambria" pitchFamily="34" charset="0"/>
                <a:ea typeface="Cambria" pitchFamily="34" charset="-122"/>
                <a:cs typeface="Cambria" pitchFamily="34" charset="-120"/>
              </a:rPr>
              <a:t>Result at K = 5</a:t>
            </a:r>
            <a:endParaRPr lang="en-US" sz="1800" dirty="0"/>
          </a:p>
        </p:txBody>
      </p:sp>
      <p:sp>
        <p:nvSpPr>
          <p:cNvPr id="11" name="Text 8"/>
          <p:cNvSpPr txBox="1"/>
          <p:nvPr/>
        </p:nvSpPr>
        <p:spPr>
          <a:xfrm>
            <a:off x="7135792" y="4251960"/>
            <a:ext cx="4294208" cy="187452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374151"/>
                </a:solidFill>
                <a:latin typeface="Calibri" pitchFamily="34" charset="0"/>
                <a:ea typeface="Calibri" pitchFamily="34" charset="-122"/>
                <a:cs typeface="Calibri" pitchFamily="34" charset="-120"/>
              </a:rPr>
              <a:t>Medoid customers: IDs 81, 162, 177, 16, 25</a:t>
            </a:r>
            <a:endParaRPr lang="en-US" sz="1300" dirty="0"/>
          </a:p>
          <a:p>
            <a:pPr marL="342900" indent="-342900">
              <a:spcAft>
                <a:spcPts val="500"/>
              </a:spcAft>
              <a:buSzPct val="100000"/>
              <a:buChar char="•"/>
            </a:pPr>
            <a:r>
              <a:rPr lang="en-US" sz="1300" dirty="0">
                <a:solidFill>
                  <a:srgbClr val="374151"/>
                </a:solidFill>
                <a:latin typeface="Calibri" pitchFamily="34" charset="0"/>
                <a:ea typeface="Calibri" pitchFamily="34" charset="-122"/>
                <a:cs typeface="Calibri" pitchFamily="34" charset="-120"/>
              </a:rPr>
              <a:t>Cluster sizes: 84, 39, 35, 21, 21</a:t>
            </a:r>
            <a:endParaRPr lang="en-US" sz="1300" dirty="0"/>
          </a:p>
          <a:p>
            <a:pPr marL="342900" indent="-342900">
              <a:spcAft>
                <a:spcPts val="500"/>
              </a:spcAft>
              <a:buSzPct val="100000"/>
              <a:buChar char="•"/>
            </a:pPr>
            <a:r>
              <a:rPr lang="en-US" sz="1300" dirty="0">
                <a:solidFill>
                  <a:srgbClr val="374151"/>
                </a:solidFill>
                <a:latin typeface="Calibri" pitchFamily="34" charset="0"/>
                <a:ea typeface="Calibri" pitchFamily="34" charset="-122"/>
                <a:cs typeface="Calibri" pitchFamily="34" charset="-120"/>
              </a:rPr>
              <a:t>Cost 100.72 = sum of distances to medoids — a different objective from K-Means inertia, so not directly comparable</a:t>
            </a:r>
            <a:endParaRPr lang="en-US" sz="13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8599"/>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64240" cy="777240"/>
          </a:xfrm>
          <a:prstGeom prst="rect">
            <a:avLst/>
          </a:prstGeom>
          <a:noFill/>
          <a:ln/>
        </p:spPr>
        <p:txBody>
          <a:bodyPr wrap="square" lIns="0" tIns="0" rIns="0" bIns="0" rtlCol="0" anchor="ctr"/>
          <a:lstStyle/>
          <a:p>
            <a:pPr marL="0" indent="0">
              <a:buNone/>
            </a:pPr>
            <a:r>
              <a:rPr lang="en-US" sz="3200" b="1" dirty="0">
                <a:solidFill>
                  <a:srgbClr val="1F2937"/>
                </a:solidFill>
                <a:latin typeface="Cambria" pitchFamily="34" charset="0"/>
                <a:ea typeface="Cambria" pitchFamily="34" charset="-122"/>
                <a:cs typeface="Cambria" pitchFamily="34" charset="-120"/>
              </a:rPr>
              <a:t>Cluster Profiles (K-Means, K = 5)</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720840" cy="2880360"/>
        </p:xfrm>
        <a:graphic>
          <a:graphicData uri="http://schemas.openxmlformats.org/drawingml/2006/table">
            <a:tbl>
              <a:tblPr/>
              <a:tblGrid>
                <a:gridCol w="45720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gridCol w="822960">
                  <a:extLst>
                    <a:ext uri="{9D8B030D-6E8A-4147-A177-3AD203B41FA5}">
                      <a16:colId xmlns:a16="http://schemas.microsoft.com/office/drawing/2014/main" val="20005"/>
                    </a:ext>
                  </a:extLst>
                </a:gridCol>
                <a:gridCol w="731520">
                  <a:extLst>
                    <a:ext uri="{9D8B030D-6E8A-4147-A177-3AD203B41FA5}">
                      <a16:colId xmlns:a16="http://schemas.microsoft.com/office/drawing/2014/main" val="20006"/>
                    </a:ext>
                  </a:extLst>
                </a:gridCol>
              </a:tblGrid>
              <a:tr h="502920">
                <a:tc>
                  <a:txBody>
                    <a:bodyPr/>
                    <a:lstStyle/>
                    <a:p>
                      <a:pPr marL="0" indent="0" algn="ctr">
                        <a:buNone/>
                      </a:pPr>
                      <a:r>
                        <a:rPr lang="en-US" sz="1100" b="1" dirty="0">
                          <a:solidFill>
                            <a:srgbClr val="1F2937"/>
                          </a:solidFill>
                          <a:latin typeface="Calibri" pitchFamily="34" charset="0"/>
                          <a:ea typeface="Calibri" pitchFamily="34" charset="-122"/>
                          <a:cs typeface="Calibri" pitchFamily="34" charset="-120"/>
                        </a:rPr>
                        <a:t>ID</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EDF1F7"/>
                    </a:solidFill>
                  </a:tcPr>
                </a:tc>
                <a:tc>
                  <a:txBody>
                    <a:bodyPr/>
                    <a:lstStyle/>
                    <a:p>
                      <a:pPr marL="0" indent="0" algn="l">
                        <a:buNone/>
                      </a:pPr>
                      <a:r>
                        <a:rPr lang="en-US" sz="1100" b="1" dirty="0">
                          <a:solidFill>
                            <a:srgbClr val="1F2937"/>
                          </a:solidFill>
                          <a:latin typeface="Calibri" pitchFamily="34" charset="0"/>
                          <a:ea typeface="Calibri" pitchFamily="34" charset="-122"/>
                          <a:cs typeface="Calibri" pitchFamily="34" charset="-120"/>
                        </a:rPr>
                        <a:t>Segment label</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EDF1F7"/>
                    </a:solidFill>
                  </a:tcPr>
                </a:tc>
                <a:tc>
                  <a:txBody>
                    <a:bodyPr/>
                    <a:lstStyle/>
                    <a:p>
                      <a:pPr marL="0" indent="0" algn="ctr">
                        <a:buNone/>
                      </a:pPr>
                      <a:r>
                        <a:rPr lang="en-US" sz="1100" b="1" dirty="0">
                          <a:solidFill>
                            <a:srgbClr val="1F2937"/>
                          </a:solidFill>
                          <a:latin typeface="Calibri" pitchFamily="34" charset="0"/>
                          <a:ea typeface="Calibri" pitchFamily="34" charset="-122"/>
                          <a:cs typeface="Calibri" pitchFamily="34" charset="-120"/>
                        </a:rPr>
                        <a:t>Customers</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EDF1F7"/>
                    </a:solidFill>
                  </a:tcPr>
                </a:tc>
                <a:tc>
                  <a:txBody>
                    <a:bodyPr/>
                    <a:lstStyle/>
                    <a:p>
                      <a:pPr marL="0" indent="0" algn="ctr">
                        <a:buNone/>
                      </a:pPr>
                      <a:r>
                        <a:rPr lang="en-US" sz="1100" b="1" dirty="0">
                          <a:solidFill>
                            <a:srgbClr val="1F2937"/>
                          </a:solidFill>
                          <a:latin typeface="Calibri" pitchFamily="34" charset="0"/>
                          <a:ea typeface="Calibri" pitchFamily="34" charset="-122"/>
                          <a:cs typeface="Calibri" pitchFamily="34" charset="-120"/>
                        </a:rPr>
                        <a:t>Share</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EDF1F7"/>
                    </a:solidFill>
                  </a:tcPr>
                </a:tc>
                <a:tc>
                  <a:txBody>
                    <a:bodyPr/>
                    <a:lstStyle/>
                    <a:p>
                      <a:pPr marL="0" indent="0" algn="ctr">
                        <a:buNone/>
                      </a:pPr>
                      <a:r>
                        <a:rPr lang="en-US" sz="1100" b="1" dirty="0">
                          <a:solidFill>
                            <a:srgbClr val="1F2937"/>
                          </a:solidFill>
                          <a:latin typeface="Calibri" pitchFamily="34" charset="0"/>
                          <a:ea typeface="Calibri" pitchFamily="34" charset="-122"/>
                          <a:cs typeface="Calibri" pitchFamily="34" charset="-120"/>
                        </a:rPr>
                        <a:t>Avg income (k$)</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EDF1F7"/>
                    </a:solidFill>
                  </a:tcPr>
                </a:tc>
                <a:tc>
                  <a:txBody>
                    <a:bodyPr/>
                    <a:lstStyle/>
                    <a:p>
                      <a:pPr marL="0" indent="0" algn="ctr">
                        <a:buNone/>
                      </a:pPr>
                      <a:r>
                        <a:rPr lang="en-US" sz="1100" b="1" dirty="0">
                          <a:solidFill>
                            <a:srgbClr val="1F2937"/>
                          </a:solidFill>
                          <a:latin typeface="Calibri" pitchFamily="34" charset="0"/>
                          <a:ea typeface="Calibri" pitchFamily="34" charset="-122"/>
                          <a:cs typeface="Calibri" pitchFamily="34" charset="-120"/>
                        </a:rPr>
                        <a:t>Avg spending</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EDF1F7"/>
                    </a:solidFill>
                  </a:tcPr>
                </a:tc>
                <a:tc>
                  <a:txBody>
                    <a:bodyPr/>
                    <a:lstStyle/>
                    <a:p>
                      <a:pPr marL="0" indent="0" algn="ctr">
                        <a:buNone/>
                      </a:pPr>
                      <a:r>
                        <a:rPr lang="en-US" sz="1100" b="1" dirty="0">
                          <a:solidFill>
                            <a:srgbClr val="1F2937"/>
                          </a:solidFill>
                          <a:latin typeface="Calibri" pitchFamily="34" charset="0"/>
                          <a:ea typeface="Calibri" pitchFamily="34" charset="-122"/>
                          <a:cs typeface="Calibri" pitchFamily="34" charset="-120"/>
                        </a:rPr>
                        <a:t>Avg age</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EDF1F7"/>
                    </a:solidFill>
                  </a:tcPr>
                </a:tc>
                <a:extLst>
                  <a:ext uri="{0D108BD9-81ED-4DB2-BD59-A6C34878D82A}">
                    <a16:rowId xmlns:a16="http://schemas.microsoft.com/office/drawing/2014/main" val="10000"/>
                  </a:ext>
                </a:extLst>
              </a:tr>
              <a:tr h="475488">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1F77B4"/>
                    </a:solidFill>
                  </a:tcPr>
                </a:tc>
                <a:tc>
                  <a:txBody>
                    <a:bodyPr/>
                    <a:lstStyle/>
                    <a:p>
                      <a:pPr marL="0" indent="0" algn="l">
                        <a:buNone/>
                      </a:pPr>
                      <a:r>
                        <a:rPr lang="en-US" sz="1300" dirty="0">
                          <a:solidFill>
                            <a:srgbClr val="1F2937"/>
                          </a:solidFill>
                          <a:latin typeface="Calibri" pitchFamily="34" charset="0"/>
                          <a:ea typeface="Calibri" pitchFamily="34" charset="-122"/>
                          <a:cs typeface="Calibri" pitchFamily="34" charset="-120"/>
                        </a:rPr>
                        <a:t>Balanced / Moderate</a:t>
                      </a:r>
                      <a:endParaRPr lang="en-US" sz="13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937"/>
                          </a:solidFill>
                          <a:latin typeface="Calibri" pitchFamily="34" charset="0"/>
                          <a:ea typeface="Calibri" pitchFamily="34" charset="-122"/>
                          <a:cs typeface="Calibri" pitchFamily="34" charset="-120"/>
                        </a:rPr>
                        <a:t>81</a:t>
                      </a:r>
                      <a:endParaRPr lang="en-US" sz="13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937"/>
                          </a:solidFill>
                          <a:latin typeface="Calibri" pitchFamily="34" charset="0"/>
                          <a:ea typeface="Calibri" pitchFamily="34" charset="-122"/>
                          <a:cs typeface="Calibri" pitchFamily="34" charset="-120"/>
                        </a:rPr>
                        <a:t>40.5%</a:t>
                      </a:r>
                      <a:endParaRPr lang="en-US" sz="13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937"/>
                          </a:solidFill>
                          <a:latin typeface="Calibri" pitchFamily="34" charset="0"/>
                          <a:ea typeface="Calibri" pitchFamily="34" charset="-122"/>
                          <a:cs typeface="Calibri" pitchFamily="34" charset="-120"/>
                        </a:rPr>
                        <a:t>55.30</a:t>
                      </a:r>
                      <a:endParaRPr lang="en-US" sz="13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937"/>
                          </a:solidFill>
                          <a:latin typeface="Calibri" pitchFamily="34" charset="0"/>
                          <a:ea typeface="Calibri" pitchFamily="34" charset="-122"/>
                          <a:cs typeface="Calibri" pitchFamily="34" charset="-120"/>
                        </a:rPr>
                        <a:t>49.52</a:t>
                      </a:r>
                      <a:endParaRPr lang="en-US" sz="13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937"/>
                          </a:solidFill>
                          <a:latin typeface="Calibri" pitchFamily="34" charset="0"/>
                          <a:ea typeface="Calibri" pitchFamily="34" charset="-122"/>
                          <a:cs typeface="Calibri" pitchFamily="34" charset="-120"/>
                        </a:rPr>
                        <a:t>42.72</a:t>
                      </a:r>
                      <a:endParaRPr lang="en-US" sz="13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2CA02C"/>
                    </a:solidFill>
                  </a:tcPr>
                </a:tc>
                <a:tc>
                  <a:txBody>
                    <a:bodyPr/>
                    <a:lstStyle/>
                    <a:p>
                      <a:pPr marL="0" indent="0" algn="l">
                        <a:buNone/>
                      </a:pPr>
                      <a:r>
                        <a:rPr lang="en-US" sz="1300" dirty="0">
                          <a:solidFill>
                            <a:srgbClr val="1F2937"/>
                          </a:solidFill>
                          <a:latin typeface="Calibri" pitchFamily="34" charset="0"/>
                          <a:ea typeface="Calibri" pitchFamily="34" charset="-122"/>
                          <a:cs typeface="Calibri" pitchFamily="34" charset="-120"/>
                        </a:rPr>
                        <a:t>High-Value</a:t>
                      </a:r>
                      <a:endParaRPr lang="en-US" sz="13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tc>
                  <a:txBody>
                    <a:bodyPr/>
                    <a:lstStyle/>
                    <a:p>
                      <a:pPr marL="0" indent="0" algn="ctr">
                        <a:buNone/>
                      </a:pPr>
                      <a:r>
                        <a:rPr lang="en-US" sz="1300" dirty="0">
                          <a:solidFill>
                            <a:srgbClr val="1F2937"/>
                          </a:solidFill>
                          <a:latin typeface="Calibri" pitchFamily="34" charset="0"/>
                          <a:ea typeface="Calibri" pitchFamily="34" charset="-122"/>
                          <a:cs typeface="Calibri" pitchFamily="34" charset="-120"/>
                        </a:rPr>
                        <a:t>39</a:t>
                      </a:r>
                      <a:endParaRPr lang="en-US" sz="13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tc>
                  <a:txBody>
                    <a:bodyPr/>
                    <a:lstStyle/>
                    <a:p>
                      <a:pPr marL="0" indent="0" algn="ctr">
                        <a:buNone/>
                      </a:pPr>
                      <a:r>
                        <a:rPr lang="en-US" sz="1300" dirty="0">
                          <a:solidFill>
                            <a:srgbClr val="1F2937"/>
                          </a:solidFill>
                          <a:latin typeface="Calibri" pitchFamily="34" charset="0"/>
                          <a:ea typeface="Calibri" pitchFamily="34" charset="-122"/>
                          <a:cs typeface="Calibri" pitchFamily="34" charset="-120"/>
                        </a:rPr>
                        <a:t>19.5%</a:t>
                      </a:r>
                      <a:endParaRPr lang="en-US" sz="13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tc>
                  <a:txBody>
                    <a:bodyPr/>
                    <a:lstStyle/>
                    <a:p>
                      <a:pPr marL="0" indent="0" algn="ctr">
                        <a:buNone/>
                      </a:pPr>
                      <a:r>
                        <a:rPr lang="en-US" sz="1300" dirty="0">
                          <a:solidFill>
                            <a:srgbClr val="1F2937"/>
                          </a:solidFill>
                          <a:latin typeface="Calibri" pitchFamily="34" charset="0"/>
                          <a:ea typeface="Calibri" pitchFamily="34" charset="-122"/>
                          <a:cs typeface="Calibri" pitchFamily="34" charset="-120"/>
                        </a:rPr>
                        <a:t>86.54</a:t>
                      </a:r>
                      <a:endParaRPr lang="en-US" sz="13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tc>
                  <a:txBody>
                    <a:bodyPr/>
                    <a:lstStyle/>
                    <a:p>
                      <a:pPr marL="0" indent="0" algn="ctr">
                        <a:buNone/>
                      </a:pPr>
                      <a:r>
                        <a:rPr lang="en-US" sz="1300" dirty="0">
                          <a:solidFill>
                            <a:srgbClr val="1F2937"/>
                          </a:solidFill>
                          <a:latin typeface="Calibri" pitchFamily="34" charset="0"/>
                          <a:ea typeface="Calibri" pitchFamily="34" charset="-122"/>
                          <a:cs typeface="Calibri" pitchFamily="34" charset="-120"/>
                        </a:rPr>
                        <a:t>82.13</a:t>
                      </a:r>
                      <a:endParaRPr lang="en-US" sz="13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tc>
                  <a:txBody>
                    <a:bodyPr/>
                    <a:lstStyle/>
                    <a:p>
                      <a:pPr marL="0" indent="0" algn="ctr">
                        <a:buNone/>
                      </a:pPr>
                      <a:r>
                        <a:rPr lang="en-US" sz="1300" dirty="0">
                          <a:solidFill>
                            <a:srgbClr val="1F2937"/>
                          </a:solidFill>
                          <a:latin typeface="Calibri" pitchFamily="34" charset="0"/>
                          <a:ea typeface="Calibri" pitchFamily="34" charset="-122"/>
                          <a:cs typeface="Calibri" pitchFamily="34" charset="-120"/>
                        </a:rPr>
                        <a:t>32.69</a:t>
                      </a:r>
                      <a:endParaRPr lang="en-US" sz="13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extLst>
                  <a:ext uri="{0D108BD9-81ED-4DB2-BD59-A6C34878D82A}">
                    <a16:rowId xmlns:a16="http://schemas.microsoft.com/office/drawing/2014/main" val="10002"/>
                  </a:ext>
                </a:extLst>
              </a:tr>
              <a:tr h="475488">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8C564B"/>
                    </a:solidFill>
                  </a:tcPr>
                </a:tc>
                <a:tc>
                  <a:txBody>
                    <a:bodyPr/>
                    <a:lstStyle/>
                    <a:p>
                      <a:pPr marL="0" indent="0" algn="l">
                        <a:buNone/>
                      </a:pPr>
                      <a:r>
                        <a:rPr lang="en-US" sz="1300" dirty="0">
                          <a:solidFill>
                            <a:srgbClr val="1F2937"/>
                          </a:solidFill>
                          <a:latin typeface="Calibri" pitchFamily="34" charset="0"/>
                          <a:ea typeface="Calibri" pitchFamily="34" charset="-122"/>
                          <a:cs typeface="Calibri" pitchFamily="34" charset="-120"/>
                        </a:rPr>
                        <a:t>High-Spending Budget</a:t>
                      </a:r>
                      <a:endParaRPr lang="en-US" sz="13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937"/>
                          </a:solidFill>
                          <a:latin typeface="Calibri" pitchFamily="34" charset="0"/>
                          <a:ea typeface="Calibri" pitchFamily="34" charset="-122"/>
                          <a:cs typeface="Calibri" pitchFamily="34" charset="-120"/>
                        </a:rPr>
                        <a:t>22</a:t>
                      </a:r>
                      <a:endParaRPr lang="en-US" sz="13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937"/>
                          </a:solidFill>
                          <a:latin typeface="Calibri" pitchFamily="34" charset="0"/>
                          <a:ea typeface="Calibri" pitchFamily="34" charset="-122"/>
                          <a:cs typeface="Calibri" pitchFamily="34" charset="-120"/>
                        </a:rPr>
                        <a:t>11.0%</a:t>
                      </a:r>
                      <a:endParaRPr lang="en-US" sz="13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937"/>
                          </a:solidFill>
                          <a:latin typeface="Calibri" pitchFamily="34" charset="0"/>
                          <a:ea typeface="Calibri" pitchFamily="34" charset="-122"/>
                          <a:cs typeface="Calibri" pitchFamily="34" charset="-120"/>
                        </a:rPr>
                        <a:t>25.73</a:t>
                      </a:r>
                      <a:endParaRPr lang="en-US" sz="13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937"/>
                          </a:solidFill>
                          <a:latin typeface="Calibri" pitchFamily="34" charset="0"/>
                          <a:ea typeface="Calibri" pitchFamily="34" charset="-122"/>
                          <a:cs typeface="Calibri" pitchFamily="34" charset="-120"/>
                        </a:rPr>
                        <a:t>79.36</a:t>
                      </a:r>
                      <a:endParaRPr lang="en-US" sz="13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937"/>
                          </a:solidFill>
                          <a:latin typeface="Calibri" pitchFamily="34" charset="0"/>
                          <a:ea typeface="Calibri" pitchFamily="34" charset="-122"/>
                          <a:cs typeface="Calibri" pitchFamily="34" charset="-120"/>
                        </a:rPr>
                        <a:t>25.27</a:t>
                      </a:r>
                      <a:endParaRPr lang="en-US" sz="13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7F7F7F"/>
                    </a:solidFill>
                  </a:tcPr>
                </a:tc>
                <a:tc>
                  <a:txBody>
                    <a:bodyPr/>
                    <a:lstStyle/>
                    <a:p>
                      <a:pPr marL="0" indent="0" algn="l">
                        <a:buNone/>
                      </a:pPr>
                      <a:r>
                        <a:rPr lang="en-US" sz="1300" dirty="0">
                          <a:solidFill>
                            <a:srgbClr val="1F2937"/>
                          </a:solidFill>
                          <a:latin typeface="Calibri" pitchFamily="34" charset="0"/>
                          <a:ea typeface="Calibri" pitchFamily="34" charset="-122"/>
                          <a:cs typeface="Calibri" pitchFamily="34" charset="-120"/>
                        </a:rPr>
                        <a:t>High-Income Low-Spending</a:t>
                      </a:r>
                      <a:endParaRPr lang="en-US" sz="13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tc>
                  <a:txBody>
                    <a:bodyPr/>
                    <a:lstStyle/>
                    <a:p>
                      <a:pPr marL="0" indent="0" algn="ctr">
                        <a:buNone/>
                      </a:pPr>
                      <a:r>
                        <a:rPr lang="en-US" sz="1300" dirty="0">
                          <a:solidFill>
                            <a:srgbClr val="1F2937"/>
                          </a:solidFill>
                          <a:latin typeface="Calibri" pitchFamily="34" charset="0"/>
                          <a:ea typeface="Calibri" pitchFamily="34" charset="-122"/>
                          <a:cs typeface="Calibri" pitchFamily="34" charset="-120"/>
                        </a:rPr>
                        <a:t>35</a:t>
                      </a:r>
                      <a:endParaRPr lang="en-US" sz="13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tc>
                  <a:txBody>
                    <a:bodyPr/>
                    <a:lstStyle/>
                    <a:p>
                      <a:pPr marL="0" indent="0" algn="ctr">
                        <a:buNone/>
                      </a:pPr>
                      <a:r>
                        <a:rPr lang="en-US" sz="1300" dirty="0">
                          <a:solidFill>
                            <a:srgbClr val="1F2937"/>
                          </a:solidFill>
                          <a:latin typeface="Calibri" pitchFamily="34" charset="0"/>
                          <a:ea typeface="Calibri" pitchFamily="34" charset="-122"/>
                          <a:cs typeface="Calibri" pitchFamily="34" charset="-120"/>
                        </a:rPr>
                        <a:t>17.5%</a:t>
                      </a:r>
                      <a:endParaRPr lang="en-US" sz="13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tc>
                  <a:txBody>
                    <a:bodyPr/>
                    <a:lstStyle/>
                    <a:p>
                      <a:pPr marL="0" indent="0" algn="ctr">
                        <a:buNone/>
                      </a:pPr>
                      <a:r>
                        <a:rPr lang="en-US" sz="1300" dirty="0">
                          <a:solidFill>
                            <a:srgbClr val="1F2937"/>
                          </a:solidFill>
                          <a:latin typeface="Calibri" pitchFamily="34" charset="0"/>
                          <a:ea typeface="Calibri" pitchFamily="34" charset="-122"/>
                          <a:cs typeface="Calibri" pitchFamily="34" charset="-120"/>
                        </a:rPr>
                        <a:t>88.20</a:t>
                      </a:r>
                      <a:endParaRPr lang="en-US" sz="13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tc>
                  <a:txBody>
                    <a:bodyPr/>
                    <a:lstStyle/>
                    <a:p>
                      <a:pPr marL="0" indent="0" algn="ctr">
                        <a:buNone/>
                      </a:pPr>
                      <a:r>
                        <a:rPr lang="en-US" sz="1300" dirty="0">
                          <a:solidFill>
                            <a:srgbClr val="1F2937"/>
                          </a:solidFill>
                          <a:latin typeface="Calibri" pitchFamily="34" charset="0"/>
                          <a:ea typeface="Calibri" pitchFamily="34" charset="-122"/>
                          <a:cs typeface="Calibri" pitchFamily="34" charset="-120"/>
                        </a:rPr>
                        <a:t>17.11</a:t>
                      </a:r>
                      <a:endParaRPr lang="en-US" sz="13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tc>
                  <a:txBody>
                    <a:bodyPr/>
                    <a:lstStyle/>
                    <a:p>
                      <a:pPr marL="0" indent="0" algn="ctr">
                        <a:buNone/>
                      </a:pPr>
                      <a:r>
                        <a:rPr lang="en-US" sz="1300" dirty="0">
                          <a:solidFill>
                            <a:srgbClr val="1F2937"/>
                          </a:solidFill>
                          <a:latin typeface="Calibri" pitchFamily="34" charset="0"/>
                          <a:ea typeface="Calibri" pitchFamily="34" charset="-122"/>
                          <a:cs typeface="Calibri" pitchFamily="34" charset="-120"/>
                        </a:rPr>
                        <a:t>41.11</a:t>
                      </a:r>
                      <a:endParaRPr lang="en-US" sz="13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extLst>
                  <a:ext uri="{0D108BD9-81ED-4DB2-BD59-A6C34878D82A}">
                    <a16:rowId xmlns:a16="http://schemas.microsoft.com/office/drawing/2014/main" val="10004"/>
                  </a:ext>
                </a:extLst>
              </a:tr>
              <a:tr h="475488">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17BECF"/>
                    </a:solidFill>
                  </a:tcPr>
                </a:tc>
                <a:tc>
                  <a:txBody>
                    <a:bodyPr/>
                    <a:lstStyle/>
                    <a:p>
                      <a:pPr marL="0" indent="0" algn="l">
                        <a:buNone/>
                      </a:pPr>
                      <a:r>
                        <a:rPr lang="en-US" sz="1300" dirty="0">
                          <a:solidFill>
                            <a:srgbClr val="1F2937"/>
                          </a:solidFill>
                          <a:latin typeface="Calibri" pitchFamily="34" charset="0"/>
                          <a:ea typeface="Calibri" pitchFamily="34" charset="-122"/>
                          <a:cs typeface="Calibri" pitchFamily="34" charset="-120"/>
                        </a:rPr>
                        <a:t>Low-Engagement</a:t>
                      </a:r>
                      <a:endParaRPr lang="en-US" sz="13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937"/>
                          </a:solidFill>
                          <a:latin typeface="Calibri" pitchFamily="34" charset="0"/>
                          <a:ea typeface="Calibri" pitchFamily="34" charset="-122"/>
                          <a:cs typeface="Calibri" pitchFamily="34" charset="-120"/>
                        </a:rPr>
                        <a:t>23</a:t>
                      </a:r>
                      <a:endParaRPr lang="en-US" sz="13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937"/>
                          </a:solidFill>
                          <a:latin typeface="Calibri" pitchFamily="34" charset="0"/>
                          <a:ea typeface="Calibri" pitchFamily="34" charset="-122"/>
                          <a:cs typeface="Calibri" pitchFamily="34" charset="-120"/>
                        </a:rPr>
                        <a:t>11.5%</a:t>
                      </a:r>
                      <a:endParaRPr lang="en-US" sz="13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937"/>
                          </a:solidFill>
                          <a:latin typeface="Calibri" pitchFamily="34" charset="0"/>
                          <a:ea typeface="Calibri" pitchFamily="34" charset="-122"/>
                          <a:cs typeface="Calibri" pitchFamily="34" charset="-120"/>
                        </a:rPr>
                        <a:t>26.30</a:t>
                      </a:r>
                      <a:endParaRPr lang="en-US" sz="13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937"/>
                          </a:solidFill>
                          <a:latin typeface="Calibri" pitchFamily="34" charset="0"/>
                          <a:ea typeface="Calibri" pitchFamily="34" charset="-122"/>
                          <a:cs typeface="Calibri" pitchFamily="34" charset="-120"/>
                        </a:rPr>
                        <a:t>20.91</a:t>
                      </a:r>
                      <a:endParaRPr lang="en-US" sz="13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937"/>
                          </a:solidFill>
                          <a:latin typeface="Calibri" pitchFamily="34" charset="0"/>
                          <a:ea typeface="Calibri" pitchFamily="34" charset="-122"/>
                          <a:cs typeface="Calibri" pitchFamily="34" charset="-120"/>
                        </a:rPr>
                        <a:t>45.22</a:t>
                      </a:r>
                      <a:endParaRPr lang="en-US" sz="13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4" name="card"/>
          <p:cNvSpPr/>
          <p:nvPr/>
        </p:nvSpPr>
        <p:spPr>
          <a:xfrm>
            <a:off x="548640" y="4526280"/>
            <a:ext cx="6720840" cy="1600200"/>
          </a:xfrm>
          <a:prstGeom prst="roundRect">
            <a:avLst>
              <a:gd name="adj" fmla="val 2286"/>
            </a:avLst>
          </a:prstGeom>
          <a:solidFill>
            <a:srgbClr val="FFFFFF"/>
          </a:solidFill>
          <a:ln w="9525">
            <a:solidFill>
              <a:srgbClr val="D3DAE5"/>
            </a:solidFill>
            <a:prstDash val="solid"/>
          </a:ln>
        </p:spPr>
      </p:sp>
      <p:sp>
        <p:nvSpPr>
          <p:cNvPr id="5" name="Text 2"/>
          <p:cNvSpPr txBox="1"/>
          <p:nvPr/>
        </p:nvSpPr>
        <p:spPr>
          <a:xfrm>
            <a:off x="777240" y="4617720"/>
            <a:ext cx="6309360" cy="1417320"/>
          </a:xfrm>
          <a:prstGeom prst="rect">
            <a:avLst/>
          </a:prstGeom>
          <a:noFill/>
          <a:ln/>
        </p:spPr>
        <p:txBody>
          <a:bodyPr wrap="square" lIns="0" tIns="0" rIns="0" bIns="0" rtlCol="0" anchor="ctr"/>
          <a:lstStyle/>
          <a:p>
            <a:pPr marL="342900" indent="-342900">
              <a:spcAft>
                <a:spcPts val="500"/>
              </a:spcAft>
              <a:buSzPct val="100000"/>
              <a:buChar char="•"/>
            </a:pPr>
            <a:r>
              <a:rPr lang="en-US" sz="1400" dirty="0">
                <a:solidFill>
                  <a:srgbClr val="374151"/>
                </a:solidFill>
                <a:latin typeface="Calibri" pitchFamily="34" charset="0"/>
                <a:ea typeface="Calibri" pitchFamily="34" charset="-122"/>
                <a:cs typeface="Calibri" pitchFamily="34" charset="-120"/>
              </a:rPr>
              <a:t>Cluster 0 is the largest group (40.5%) and sits near the dataset means.</a:t>
            </a:r>
            <a:endParaRPr lang="en-US" sz="1400" dirty="0"/>
          </a:p>
          <a:p>
            <a:pPr marL="342900" indent="-342900">
              <a:spcAft>
                <a:spcPts val="500"/>
              </a:spcAft>
              <a:buSzPct val="100000"/>
              <a:buChar char="•"/>
            </a:pPr>
            <a:r>
              <a:rPr lang="en-US" sz="1400" dirty="0">
                <a:solidFill>
                  <a:srgbClr val="374151"/>
                </a:solidFill>
                <a:latin typeface="Calibri" pitchFamily="34" charset="0"/>
                <a:ea typeface="Calibri" pitchFamily="34" charset="-122"/>
                <a:cs typeface="Calibri" pitchFamily="34" charset="-120"/>
              </a:rPr>
              <a:t>Clusters 2 and 4 share low income but differ sharply in spending (79.4 vs 20.9).</a:t>
            </a:r>
            <a:endParaRPr lang="en-US" sz="1400" dirty="0"/>
          </a:p>
          <a:p>
            <a:pPr marL="342900" indent="-342900">
              <a:spcAft>
                <a:spcPts val="500"/>
              </a:spcAft>
              <a:buSzPct val="100000"/>
              <a:buChar char="•"/>
            </a:pPr>
            <a:r>
              <a:rPr lang="en-US" sz="1400" dirty="0">
                <a:solidFill>
                  <a:srgbClr val="374151"/>
                </a:solidFill>
                <a:latin typeface="Calibri" pitchFamily="34" charset="0"/>
                <a:ea typeface="Calibri" pitchFamily="34" charset="-122"/>
                <a:cs typeface="Calibri" pitchFamily="34" charset="-120"/>
              </a:rPr>
              <a:t>Cluster 1 is the youngest high-income group (avg age 32.7).</a:t>
            </a:r>
            <a:endParaRPr lang="en-US" sz="1400" dirty="0"/>
          </a:p>
        </p:txBody>
      </p:sp>
      <p:sp>
        <p:nvSpPr>
          <p:cNvPr id="6" name="image-card"/>
          <p:cNvSpPr/>
          <p:nvPr/>
        </p:nvSpPr>
        <p:spPr>
          <a:xfrm>
            <a:off x="7543800" y="1371600"/>
            <a:ext cx="4114800" cy="2834640"/>
          </a:xfrm>
          <a:prstGeom prst="roundRect">
            <a:avLst>
              <a:gd name="adj" fmla="val 968"/>
            </a:avLst>
          </a:prstGeom>
          <a:solidFill>
            <a:srgbClr val="FFFFFF"/>
          </a:solidFill>
          <a:ln w="9525">
            <a:solidFill>
              <a:srgbClr val="D3DAE5"/>
            </a:solidFill>
            <a:prstDash val="solid"/>
          </a:ln>
        </p:spPr>
      </p:sp>
      <p:pic>
        <p:nvPicPr>
          <p:cNvPr id="7" name="Image 0" descr="Average income and spending score by cluster"/>
          <p:cNvPicPr>
            <a:picLocks noChangeAspect="1"/>
          </p:cNvPicPr>
          <p:nvPr/>
        </p:nvPicPr>
        <p:blipFill>
          <a:blip r:embed="rId3"/>
          <a:stretch>
            <a:fillRect/>
          </a:stretch>
        </p:blipFill>
        <p:spPr>
          <a:xfrm>
            <a:off x="7589520" y="1417320"/>
            <a:ext cx="4023360" cy="2467661"/>
          </a:xfrm>
          <a:prstGeom prst="rect">
            <a:avLst/>
          </a:prstGeom>
        </p:spPr>
      </p:pic>
      <p:sp>
        <p:nvSpPr>
          <p:cNvPr id="8" name="Text 4"/>
          <p:cNvSpPr txBox="1"/>
          <p:nvPr/>
        </p:nvSpPr>
        <p:spPr>
          <a:xfrm>
            <a:off x="7543800" y="4251960"/>
            <a:ext cx="4114800" cy="274320"/>
          </a:xfrm>
          <a:prstGeom prst="rect">
            <a:avLst/>
          </a:prstGeom>
          <a:noFill/>
          <a:ln/>
        </p:spPr>
        <p:txBody>
          <a:bodyPr wrap="square" lIns="0" tIns="0" rIns="0" bIns="0" rtlCol="0" anchor="t"/>
          <a:lstStyle/>
          <a:p>
            <a:pPr marL="0" indent="0" algn="ctr">
              <a:buNone/>
            </a:pPr>
            <a:r>
              <a:rPr lang="en-US" sz="1100" dirty="0">
                <a:solidFill>
                  <a:srgbClr val="5B6678"/>
                </a:solidFill>
                <a:latin typeface="Calibri" pitchFamily="34" charset="0"/>
                <a:ea typeface="Calibri" pitchFamily="34" charset="-122"/>
                <a:cs typeface="Calibri" pitchFamily="34" charset="-120"/>
              </a:rPr>
              <a:t>Average income and spending by cluster (from project result CSV)</a:t>
            </a:r>
            <a:endParaRPr lang="en-US" sz="11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8599"/>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64240" cy="777240"/>
          </a:xfrm>
          <a:prstGeom prst="rect">
            <a:avLst/>
          </a:prstGeom>
          <a:noFill/>
          <a:ln/>
        </p:spPr>
        <p:txBody>
          <a:bodyPr wrap="square" lIns="0" tIns="0" rIns="0" bIns="0" rtlCol="0" anchor="ctr"/>
          <a:lstStyle/>
          <a:p>
            <a:pPr marL="0" indent="0">
              <a:buNone/>
            </a:pPr>
            <a:r>
              <a:rPr lang="en-US" sz="3200" b="1" dirty="0">
                <a:solidFill>
                  <a:srgbClr val="1F2937"/>
                </a:solidFill>
                <a:latin typeface="Cambria" pitchFamily="34" charset="0"/>
                <a:ea typeface="Cambria" pitchFamily="34" charset="-122"/>
                <a:cs typeface="Cambria" pitchFamily="34" charset="-120"/>
              </a:rPr>
              <a:t>Algorithm Comparison at K = 5</a:t>
            </a:r>
            <a:endParaRPr lang="en-US"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309360" cy="3017520"/>
        </p:xfrm>
        <a:graphic>
          <a:graphicData uri="http://schemas.openxmlformats.org/drawingml/2006/table">
            <a:tbl>
              <a:tblPr/>
              <a:tblGrid>
                <a:gridCol w="32004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tblGrid>
              <a:tr h="502920">
                <a:tc>
                  <a:txBody>
                    <a:bodyPr/>
                    <a:lstStyle/>
                    <a:p>
                      <a:pPr marL="0" indent="0" algn="l">
                        <a:buNone/>
                      </a:pPr>
                      <a:r>
                        <a:rPr lang="en-US" sz="1400" b="1" dirty="0">
                          <a:solidFill>
                            <a:srgbClr val="1F2937"/>
                          </a:solidFill>
                          <a:latin typeface="Calibri" pitchFamily="34" charset="0"/>
                          <a:ea typeface="Calibri" pitchFamily="34" charset="-122"/>
                          <a:cs typeface="Calibri" pitchFamily="34" charset="-120"/>
                        </a:rPr>
                        <a:t>Metric</a:t>
                      </a:r>
                      <a:endParaRPr lang="en-US" sz="14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EDF1F7"/>
                    </a:solidFill>
                  </a:tcPr>
                </a:tc>
                <a:tc>
                  <a:txBody>
                    <a:bodyPr/>
                    <a:lstStyle/>
                    <a:p>
                      <a:pPr marL="0" indent="0" algn="ctr">
                        <a:buNone/>
                      </a:pPr>
                      <a:r>
                        <a:rPr lang="en-US" sz="1400" b="1" dirty="0">
                          <a:solidFill>
                            <a:srgbClr val="1F2937"/>
                          </a:solidFill>
                          <a:latin typeface="Calibri" pitchFamily="34" charset="0"/>
                          <a:ea typeface="Calibri" pitchFamily="34" charset="-122"/>
                          <a:cs typeface="Calibri" pitchFamily="34" charset="-120"/>
                        </a:rPr>
                        <a:t>K-Means</a:t>
                      </a:r>
                      <a:endParaRPr lang="en-US" sz="14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EDF1F7"/>
                    </a:solidFill>
                  </a:tcPr>
                </a:tc>
                <a:tc>
                  <a:txBody>
                    <a:bodyPr/>
                    <a:lstStyle/>
                    <a:p>
                      <a:pPr marL="0" indent="0" algn="ctr">
                        <a:buNone/>
                      </a:pPr>
                      <a:r>
                        <a:rPr lang="en-US" sz="1400" b="1" dirty="0">
                          <a:solidFill>
                            <a:srgbClr val="1F2937"/>
                          </a:solidFill>
                          <a:latin typeface="Calibri" pitchFamily="34" charset="0"/>
                          <a:ea typeface="Calibri" pitchFamily="34" charset="-122"/>
                          <a:cs typeface="Calibri" pitchFamily="34" charset="-120"/>
                        </a:rPr>
                        <a:t>K-Medoids (PAM)</a:t>
                      </a:r>
                      <a:endParaRPr lang="en-US" sz="14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EDF1F7"/>
                    </a:solidFill>
                  </a:tcPr>
                </a:tc>
                <a:extLst>
                  <a:ext uri="{0D108BD9-81ED-4DB2-BD59-A6C34878D82A}">
                    <a16:rowId xmlns:a16="http://schemas.microsoft.com/office/drawing/2014/main" val="10000"/>
                  </a:ext>
                </a:extLst>
              </a:tr>
              <a:tr h="502920">
                <a:tc>
                  <a:txBody>
                    <a:bodyPr/>
                    <a:lstStyle/>
                    <a:p>
                      <a:pPr marL="0" indent="0" algn="l">
                        <a:buNone/>
                      </a:pPr>
                      <a:r>
                        <a:rPr lang="en-US" sz="1500" b="1" dirty="0">
                          <a:solidFill>
                            <a:srgbClr val="1F2937"/>
                          </a:solidFill>
                          <a:latin typeface="Calibri" pitchFamily="34" charset="0"/>
                          <a:ea typeface="Calibri" pitchFamily="34" charset="-122"/>
                          <a:cs typeface="Calibri" pitchFamily="34" charset="-120"/>
                        </a:rPr>
                        <a:t>K</a:t>
                      </a:r>
                      <a:endParaRPr lang="en-US" sz="15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tc>
                  <a:txBody>
                    <a:bodyPr/>
                    <a:lstStyle/>
                    <a:p>
                      <a:pPr marL="0" indent="0" algn="ctr">
                        <a:buNone/>
                      </a:pPr>
                      <a:r>
                        <a:rPr lang="en-US" sz="1500" dirty="0">
                          <a:solidFill>
                            <a:srgbClr val="1F2937"/>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1500" b="1" dirty="0">
                          <a:solidFill>
                            <a:srgbClr val="1F2937"/>
                          </a:solidFill>
                          <a:latin typeface="Calibri" pitchFamily="34" charset="0"/>
                          <a:ea typeface="Calibri" pitchFamily="34" charset="-122"/>
                          <a:cs typeface="Calibri" pitchFamily="34" charset="-120"/>
                        </a:rPr>
                        <a:t>Silhouette (higher is better)</a:t>
                      </a:r>
                      <a:endParaRPr lang="en-US" sz="15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tc>
                  <a:txBody>
                    <a:bodyPr/>
                    <a:lstStyle/>
                    <a:p>
                      <a:pPr marL="0" indent="0" algn="ctr">
                        <a:buNone/>
                      </a:pPr>
                      <a:r>
                        <a:rPr lang="en-US" sz="1500" dirty="0">
                          <a:solidFill>
                            <a:srgbClr val="1F2937"/>
                          </a:solidFill>
                          <a:latin typeface="Calibri" pitchFamily="34" charset="0"/>
                          <a:ea typeface="Calibri" pitchFamily="34" charset="-122"/>
                          <a:cs typeface="Calibri" pitchFamily="34" charset="-120"/>
                        </a:rPr>
                        <a:t>0.5547</a:t>
                      </a:r>
                      <a:endParaRPr lang="en-US" sz="15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tc>
                  <a:txBody>
                    <a:bodyPr/>
                    <a:lstStyle/>
                    <a:p>
                      <a:pPr marL="0" indent="0" algn="ctr">
                        <a:buNone/>
                      </a:pPr>
                      <a:r>
                        <a:rPr lang="en-US" sz="1500" b="1" dirty="0">
                          <a:solidFill>
                            <a:srgbClr val="2F5D8C"/>
                          </a:solidFill>
                          <a:latin typeface="Calibri" pitchFamily="34" charset="0"/>
                          <a:ea typeface="Calibri" pitchFamily="34" charset="-122"/>
                          <a:cs typeface="Calibri" pitchFamily="34" charset="-120"/>
                        </a:rPr>
                        <a:t>0.5562</a:t>
                      </a:r>
                      <a:endParaRPr lang="en-US" sz="15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lgn="l">
                        <a:buNone/>
                      </a:pPr>
                      <a:r>
                        <a:rPr lang="en-US" sz="1500" b="1" dirty="0">
                          <a:solidFill>
                            <a:srgbClr val="1F2937"/>
                          </a:solidFill>
                          <a:latin typeface="Calibri" pitchFamily="34" charset="0"/>
                          <a:ea typeface="Calibri" pitchFamily="34" charset="-122"/>
                          <a:cs typeface="Calibri" pitchFamily="34" charset="-120"/>
                        </a:rPr>
                        <a:t>Davies-Bouldin (lower is better)</a:t>
                      </a:r>
                      <a:endParaRPr lang="en-US" sz="15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tc>
                  <a:txBody>
                    <a:bodyPr/>
                    <a:lstStyle/>
                    <a:p>
                      <a:pPr marL="0" indent="0" algn="ctr">
                        <a:buNone/>
                      </a:pPr>
                      <a:r>
                        <a:rPr lang="en-US" sz="1500" dirty="0">
                          <a:solidFill>
                            <a:srgbClr val="1F2937"/>
                          </a:solidFill>
                          <a:latin typeface="Calibri" pitchFamily="34" charset="0"/>
                          <a:ea typeface="Calibri" pitchFamily="34" charset="-122"/>
                          <a:cs typeface="Calibri" pitchFamily="34" charset="-120"/>
                        </a:rPr>
                        <a:t>0.5722</a:t>
                      </a:r>
                      <a:endParaRPr lang="en-US" sz="15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tc>
                  <a:txBody>
                    <a:bodyPr/>
                    <a:lstStyle/>
                    <a:p>
                      <a:pPr marL="0" indent="0" algn="ctr">
                        <a:buNone/>
                      </a:pPr>
                      <a:r>
                        <a:rPr lang="en-US" sz="1500" b="1" dirty="0">
                          <a:solidFill>
                            <a:srgbClr val="2F5D8C"/>
                          </a:solidFill>
                          <a:latin typeface="Calibri" pitchFamily="34" charset="0"/>
                          <a:ea typeface="Calibri" pitchFamily="34" charset="-122"/>
                          <a:cs typeface="Calibri" pitchFamily="34" charset="-120"/>
                        </a:rPr>
                        <a:t>0.5661</a:t>
                      </a:r>
                      <a:endParaRPr lang="en-US" sz="15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l">
                        <a:buNone/>
                      </a:pPr>
                      <a:r>
                        <a:rPr lang="en-US" sz="1500" b="1" dirty="0">
                          <a:solidFill>
                            <a:srgbClr val="1F2937"/>
                          </a:solidFill>
                          <a:latin typeface="Calibri" pitchFamily="34" charset="0"/>
                          <a:ea typeface="Calibri" pitchFamily="34" charset="-122"/>
                          <a:cs typeface="Calibri" pitchFamily="34" charset="-120"/>
                        </a:rPr>
                        <a:t>Runtime*</a:t>
                      </a:r>
                      <a:endParaRPr lang="en-US" sz="15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tc>
                  <a:txBody>
                    <a:bodyPr/>
                    <a:lstStyle/>
                    <a:p>
                      <a:pPr marL="0" indent="0" algn="ctr">
                        <a:buNone/>
                      </a:pPr>
                      <a:r>
                        <a:rPr lang="en-US" sz="1500" dirty="0">
                          <a:solidFill>
                            <a:srgbClr val="1F2937"/>
                          </a:solidFill>
                          <a:latin typeface="Calibri" pitchFamily="34" charset="0"/>
                          <a:ea typeface="Calibri" pitchFamily="34" charset="-122"/>
                          <a:cs typeface="Calibri" pitchFamily="34" charset="-120"/>
                        </a:rPr>
                        <a:t>0.164474 s</a:t>
                      </a:r>
                      <a:endParaRPr lang="en-US" sz="15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7"/>
                          </a:solidFill>
                          <a:latin typeface="Calibri" pitchFamily="34" charset="0"/>
                          <a:ea typeface="Calibri" pitchFamily="34" charset="-122"/>
                          <a:cs typeface="Calibri" pitchFamily="34" charset="-120"/>
                        </a:rPr>
                        <a:t>0.076011 s</a:t>
                      </a:r>
                      <a:endParaRPr lang="en-US" sz="15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2920">
                <a:tc>
                  <a:txBody>
                    <a:bodyPr/>
                    <a:lstStyle/>
                    <a:p>
                      <a:pPr marL="0" indent="0" algn="l">
                        <a:buNone/>
                      </a:pPr>
                      <a:r>
                        <a:rPr lang="en-US" sz="1500" b="1" dirty="0">
                          <a:solidFill>
                            <a:srgbClr val="1F2937"/>
                          </a:solidFill>
                          <a:latin typeface="Calibri" pitchFamily="34" charset="0"/>
                          <a:ea typeface="Calibri" pitchFamily="34" charset="-122"/>
                          <a:cs typeface="Calibri" pitchFamily="34" charset="-120"/>
                        </a:rPr>
                        <a:t>ARI (agreement between partitions)</a:t>
                      </a:r>
                      <a:endParaRPr lang="en-US" sz="15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tc gridSpan="2">
                  <a:txBody>
                    <a:bodyPr/>
                    <a:lstStyle/>
                    <a:p>
                      <a:pPr marL="0" indent="0" algn="ctr">
                        <a:buNone/>
                      </a:pPr>
                      <a:r>
                        <a:rPr lang="en-US" sz="1500" b="1" dirty="0">
                          <a:solidFill>
                            <a:srgbClr val="1F2937"/>
                          </a:solidFill>
                          <a:latin typeface="Calibri" pitchFamily="34" charset="0"/>
                          <a:ea typeface="Calibri" pitchFamily="34" charset="-122"/>
                          <a:cs typeface="Calibri" pitchFamily="34" charset="-120"/>
                        </a:rPr>
                        <a:t>0.9597</a:t>
                      </a:r>
                      <a:endParaRPr lang="en-US" sz="15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tc hMerge="1">
                  <a:txBody>
                    <a:bodyPr/>
                    <a:lstStyle/>
                    <a:p>
                      <a:endParaRPr lang="en-US"/>
                    </a:p>
                  </a:txBody>
                  <a:tcPr/>
                </a:tc>
                <a:extLst>
                  <a:ext uri="{0D108BD9-81ED-4DB2-BD59-A6C34878D82A}">
                    <a16:rowId xmlns:a16="http://schemas.microsoft.com/office/drawing/2014/main" val="10005"/>
                  </a:ext>
                </a:extLst>
              </a:tr>
            </a:tbl>
          </a:graphicData>
        </a:graphic>
      </p:graphicFrame>
      <p:sp>
        <p:nvSpPr>
          <p:cNvPr id="4" name="Text 1"/>
          <p:cNvSpPr txBox="1"/>
          <p:nvPr/>
        </p:nvSpPr>
        <p:spPr>
          <a:xfrm>
            <a:off x="548640" y="4480560"/>
            <a:ext cx="6309360" cy="777240"/>
          </a:xfrm>
          <a:prstGeom prst="rect">
            <a:avLst/>
          </a:prstGeom>
          <a:noFill/>
          <a:ln/>
        </p:spPr>
        <p:txBody>
          <a:bodyPr wrap="square" lIns="0" tIns="0" rIns="0" bIns="0" rtlCol="0" anchor="t"/>
          <a:lstStyle/>
          <a:p>
            <a:pPr marL="0" indent="0">
              <a:buNone/>
            </a:pPr>
            <a:r>
              <a:rPr lang="en-US" sz="1100" dirty="0">
                <a:solidFill>
                  <a:srgbClr val="5B6678"/>
                </a:solidFill>
                <a:latin typeface="Calibri" pitchFamily="34" charset="0"/>
                <a:ea typeface="Calibri" pitchFamily="34" charset="-122"/>
                <a:cs typeface="Calibri" pitchFamily="34" charset="-120"/>
              </a:rPr>
              <a:t>*Recorded runtime from the project's own run; specific to this implementation, run and machine. K-Means was timed with n_init = 20 restarts; the PAM timing excludes the pairwise distance-matrix step. It does not show that either algorithm is generally faster. ARI = Adjusted Rand Index (partition agreement), not accuracy.</a:t>
            </a:r>
            <a:endParaRPr lang="en-US" sz="1100" dirty="0"/>
          </a:p>
        </p:txBody>
      </p:sp>
      <p:sp>
        <p:nvSpPr>
          <p:cNvPr id="5" name="Text 2"/>
          <p:cNvSpPr txBox="1"/>
          <p:nvPr/>
        </p:nvSpPr>
        <p:spPr>
          <a:xfrm>
            <a:off x="548640" y="5303520"/>
            <a:ext cx="6309360" cy="548640"/>
          </a:xfrm>
          <a:prstGeom prst="rect">
            <a:avLst/>
          </a:prstGeom>
          <a:noFill/>
          <a:ln/>
        </p:spPr>
        <p:txBody>
          <a:bodyPr wrap="square" lIns="0" tIns="0" rIns="0" bIns="0" rtlCol="0" anchor="t"/>
          <a:lstStyle/>
          <a:p>
            <a:pPr marL="0" indent="0">
              <a:buNone/>
            </a:pPr>
            <a:r>
              <a:rPr lang="en-US" sz="1100" dirty="0">
                <a:solidFill>
                  <a:srgbClr val="5B6678"/>
                </a:solidFill>
                <a:latin typeface="Calibri" pitchFamily="34" charset="0"/>
                <a:ea typeface="Calibri" pitchFamily="34" charset="-122"/>
                <a:cs typeface="Calibri" pitchFamily="34" charset="-120"/>
              </a:rPr>
              <a:t>Objective values (K-Means inertia 65.57, K-Medoids cost 100.72) measure different things and are deliberately not compared.</a:t>
            </a:r>
            <a:endParaRPr lang="en-US" sz="1100" dirty="0"/>
          </a:p>
        </p:txBody>
      </p:sp>
      <p:sp>
        <p:nvSpPr>
          <p:cNvPr id="6" name="card"/>
          <p:cNvSpPr/>
          <p:nvPr/>
        </p:nvSpPr>
        <p:spPr>
          <a:xfrm>
            <a:off x="7132320" y="1371600"/>
            <a:ext cx="4526280" cy="2514600"/>
          </a:xfrm>
          <a:prstGeom prst="roundRect">
            <a:avLst>
              <a:gd name="adj" fmla="val 1455"/>
            </a:avLst>
          </a:prstGeom>
          <a:solidFill>
            <a:srgbClr val="FFFFFF"/>
          </a:solidFill>
          <a:ln w="9525">
            <a:solidFill>
              <a:srgbClr val="D3DAE5"/>
            </a:solidFill>
            <a:prstDash val="solid"/>
          </a:ln>
        </p:spPr>
      </p:sp>
      <p:sp>
        <p:nvSpPr>
          <p:cNvPr id="7" name="Text 4"/>
          <p:cNvSpPr txBox="1"/>
          <p:nvPr/>
        </p:nvSpPr>
        <p:spPr>
          <a:xfrm>
            <a:off x="7315200" y="1444752"/>
            <a:ext cx="4206240" cy="320040"/>
          </a:xfrm>
          <a:prstGeom prst="rect">
            <a:avLst/>
          </a:prstGeom>
          <a:noFill/>
          <a:ln/>
        </p:spPr>
        <p:txBody>
          <a:bodyPr wrap="square" lIns="0" tIns="0" rIns="0" bIns="0" rtlCol="0" anchor="t"/>
          <a:lstStyle/>
          <a:p>
            <a:pPr marL="0" indent="0">
              <a:buNone/>
            </a:pPr>
            <a:r>
              <a:rPr lang="en-US" sz="1400" b="1" dirty="0">
                <a:solidFill>
                  <a:srgbClr val="2F5D8C"/>
                </a:solidFill>
                <a:latin typeface="Calibri" pitchFamily="34" charset="0"/>
                <a:ea typeface="Calibri" pitchFamily="34" charset="-122"/>
                <a:cs typeface="Calibri" pitchFamily="34" charset="-120"/>
              </a:rPr>
              <a:t>Partition agreement (customers)</a:t>
            </a:r>
            <a:endParaRPr lang="en-US" sz="140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7315200" y="1810512"/>
          <a:ext cx="4160520" cy="1975104"/>
        </p:xfrm>
        <a:graphic>
          <a:graphicData uri="http://schemas.openxmlformats.org/drawingml/2006/table">
            <a:tbl>
              <a:tblPr/>
              <a:tblGrid>
                <a:gridCol w="1188720">
                  <a:extLst>
                    <a:ext uri="{9D8B030D-6E8A-4147-A177-3AD203B41FA5}">
                      <a16:colId xmlns:a16="http://schemas.microsoft.com/office/drawing/2014/main" val="20000"/>
                    </a:ext>
                  </a:extLst>
                </a:gridCol>
                <a:gridCol w="594360">
                  <a:extLst>
                    <a:ext uri="{9D8B030D-6E8A-4147-A177-3AD203B41FA5}">
                      <a16:colId xmlns:a16="http://schemas.microsoft.com/office/drawing/2014/main" val="20001"/>
                    </a:ext>
                  </a:extLst>
                </a:gridCol>
                <a:gridCol w="594360">
                  <a:extLst>
                    <a:ext uri="{9D8B030D-6E8A-4147-A177-3AD203B41FA5}">
                      <a16:colId xmlns:a16="http://schemas.microsoft.com/office/drawing/2014/main" val="20002"/>
                    </a:ext>
                  </a:extLst>
                </a:gridCol>
                <a:gridCol w="594360">
                  <a:extLst>
                    <a:ext uri="{9D8B030D-6E8A-4147-A177-3AD203B41FA5}">
                      <a16:colId xmlns:a16="http://schemas.microsoft.com/office/drawing/2014/main" val="20003"/>
                    </a:ext>
                  </a:extLst>
                </a:gridCol>
                <a:gridCol w="594360">
                  <a:extLst>
                    <a:ext uri="{9D8B030D-6E8A-4147-A177-3AD203B41FA5}">
                      <a16:colId xmlns:a16="http://schemas.microsoft.com/office/drawing/2014/main" val="20004"/>
                    </a:ext>
                  </a:extLst>
                </a:gridCol>
                <a:gridCol w="594360">
                  <a:extLst>
                    <a:ext uri="{9D8B030D-6E8A-4147-A177-3AD203B41FA5}">
                      <a16:colId xmlns:a16="http://schemas.microsoft.com/office/drawing/2014/main" val="20005"/>
                    </a:ext>
                  </a:extLst>
                </a:gridCol>
              </a:tblGrid>
              <a:tr h="329184">
                <a:tc>
                  <a:txBody>
                    <a:bodyPr/>
                    <a:lstStyle/>
                    <a:p>
                      <a:pPr marL="0" indent="0" algn="ctr">
                        <a:buNone/>
                      </a:pPr>
                      <a:r>
                        <a:rPr lang="en-US" sz="1000" b="1" dirty="0">
                          <a:solidFill>
                            <a:srgbClr val="1F2937"/>
                          </a:solidFill>
                          <a:latin typeface="Calibri" pitchFamily="34" charset="0"/>
                          <a:ea typeface="Calibri" pitchFamily="34" charset="-122"/>
                          <a:cs typeface="Calibri" pitchFamily="34" charset="-120"/>
                        </a:rPr>
                        <a:t>KM \ KMed</a:t>
                      </a:r>
                      <a:endParaRPr lang="en-US" sz="10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EDF1F7"/>
                    </a:solidFill>
                  </a:tcPr>
                </a:tc>
                <a:tc>
                  <a:txBody>
                    <a:bodyPr/>
                    <a:lstStyle/>
                    <a:p>
                      <a:pPr marL="0" indent="0" algn="ctr">
                        <a:buNone/>
                      </a:pPr>
                      <a:r>
                        <a:rPr lang="en-US" sz="1100" b="1" dirty="0">
                          <a:solidFill>
                            <a:srgbClr val="1F2937"/>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EDF1F7"/>
                    </a:solidFill>
                  </a:tcPr>
                </a:tc>
                <a:tc>
                  <a:txBody>
                    <a:bodyPr/>
                    <a:lstStyle/>
                    <a:p>
                      <a:pPr marL="0" indent="0" algn="ctr">
                        <a:buNone/>
                      </a:pPr>
                      <a:r>
                        <a:rPr lang="en-US" sz="1100" b="1" dirty="0">
                          <a:solidFill>
                            <a:srgbClr val="1F2937"/>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EDF1F7"/>
                    </a:solidFill>
                  </a:tcPr>
                </a:tc>
                <a:tc>
                  <a:txBody>
                    <a:bodyPr/>
                    <a:lstStyle/>
                    <a:p>
                      <a:pPr marL="0" indent="0" algn="ctr">
                        <a:buNone/>
                      </a:pPr>
                      <a:r>
                        <a:rPr lang="en-US" sz="1100" b="1" dirty="0">
                          <a:solidFill>
                            <a:srgbClr val="1F2937"/>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EDF1F7"/>
                    </a:solidFill>
                  </a:tcPr>
                </a:tc>
                <a:tc>
                  <a:txBody>
                    <a:bodyPr/>
                    <a:lstStyle/>
                    <a:p>
                      <a:pPr marL="0" indent="0" algn="ctr">
                        <a:buNone/>
                      </a:pPr>
                      <a:r>
                        <a:rPr lang="en-US" sz="1100" b="1" dirty="0">
                          <a:solidFill>
                            <a:srgbClr val="1F2937"/>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EDF1F7"/>
                    </a:solidFill>
                  </a:tcPr>
                </a:tc>
                <a:tc>
                  <a:txBody>
                    <a:bodyPr/>
                    <a:lstStyle/>
                    <a:p>
                      <a:pPr marL="0" indent="0" algn="ctr">
                        <a:buNone/>
                      </a:pPr>
                      <a:r>
                        <a:rPr lang="en-US" sz="1100" b="1" dirty="0">
                          <a:solidFill>
                            <a:srgbClr val="1F2937"/>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EDF1F7"/>
                    </a:solidFill>
                  </a:tcPr>
                </a:tc>
                <a:extLst>
                  <a:ext uri="{0D108BD9-81ED-4DB2-BD59-A6C34878D82A}">
                    <a16:rowId xmlns:a16="http://schemas.microsoft.com/office/drawing/2014/main" val="10000"/>
                  </a:ext>
                </a:extLst>
              </a:tr>
              <a:tr h="329184">
                <a:tc>
                  <a:txBody>
                    <a:bodyPr/>
                    <a:lstStyle/>
                    <a:p>
                      <a:pPr marL="0" indent="0" algn="ctr">
                        <a:buNone/>
                      </a:pPr>
                      <a:r>
                        <a:rPr lang="en-US" sz="1000" b="1" dirty="0">
                          <a:solidFill>
                            <a:srgbClr val="1F2937"/>
                          </a:solidFill>
                          <a:latin typeface="Calibri" pitchFamily="34" charset="0"/>
                          <a:ea typeface="Calibri" pitchFamily="34" charset="-122"/>
                          <a:cs typeface="Calibri" pitchFamily="34" charset="-120"/>
                        </a:rPr>
                        <a:t>K-Means 0</a:t>
                      </a:r>
                      <a:endParaRPr lang="en-US" sz="10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2F5D8C"/>
                          </a:solidFill>
                          <a:latin typeface="Calibri" pitchFamily="34" charset="0"/>
                          <a:ea typeface="Calibri" pitchFamily="34" charset="-122"/>
                          <a:cs typeface="Calibri" pitchFamily="34" charset="-120"/>
                        </a:rPr>
                        <a:t>81</a:t>
                      </a:r>
                      <a:endParaRPr lang="en-US" sz="12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tc>
                  <a:txBody>
                    <a:bodyPr/>
                    <a:lstStyle/>
                    <a:p>
                      <a:pPr marL="0" indent="0" algn="ctr">
                        <a:buNone/>
                      </a:pPr>
                      <a:r>
                        <a:rPr lang="en-US" sz="1200" dirty="0">
                          <a:solidFill>
                            <a:srgbClr val="9AA5B5"/>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tc>
                  <a:txBody>
                    <a:bodyPr/>
                    <a:lstStyle/>
                    <a:p>
                      <a:pPr marL="0" indent="0" algn="ctr">
                        <a:buNone/>
                      </a:pPr>
                      <a:r>
                        <a:rPr lang="en-US" sz="1200" dirty="0">
                          <a:solidFill>
                            <a:srgbClr val="9AA5B5"/>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tc>
                  <a:txBody>
                    <a:bodyPr/>
                    <a:lstStyle/>
                    <a:p>
                      <a:pPr marL="0" indent="0" algn="ctr">
                        <a:buNone/>
                      </a:pPr>
                      <a:r>
                        <a:rPr lang="en-US" sz="1200" dirty="0">
                          <a:solidFill>
                            <a:srgbClr val="9AA5B5"/>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tc>
                  <a:txBody>
                    <a:bodyPr/>
                    <a:lstStyle/>
                    <a:p>
                      <a:pPr marL="0" indent="0" algn="ctr">
                        <a:buNone/>
                      </a:pPr>
                      <a:r>
                        <a:rPr lang="en-US" sz="1200" dirty="0">
                          <a:solidFill>
                            <a:srgbClr val="9AA5B5"/>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extLst>
                  <a:ext uri="{0D108BD9-81ED-4DB2-BD59-A6C34878D82A}">
                    <a16:rowId xmlns:a16="http://schemas.microsoft.com/office/drawing/2014/main" val="10001"/>
                  </a:ext>
                </a:extLst>
              </a:tr>
              <a:tr h="329184">
                <a:tc>
                  <a:txBody>
                    <a:bodyPr/>
                    <a:lstStyle/>
                    <a:p>
                      <a:pPr marL="0" indent="0" algn="ctr">
                        <a:buNone/>
                      </a:pPr>
                      <a:r>
                        <a:rPr lang="en-US" sz="1000" b="1" dirty="0">
                          <a:solidFill>
                            <a:srgbClr val="1F2937"/>
                          </a:solidFill>
                          <a:latin typeface="Calibri" pitchFamily="34" charset="0"/>
                          <a:ea typeface="Calibri" pitchFamily="34" charset="-122"/>
                          <a:cs typeface="Calibri" pitchFamily="34" charset="-120"/>
                        </a:rPr>
                        <a:t>K-Means 1</a:t>
                      </a:r>
                      <a:endParaRPr lang="en-US" sz="10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9AA5B5"/>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tc>
                  <a:txBody>
                    <a:bodyPr/>
                    <a:lstStyle/>
                    <a:p>
                      <a:pPr marL="0" indent="0" algn="ctr">
                        <a:buNone/>
                      </a:pPr>
                      <a:r>
                        <a:rPr lang="en-US" sz="1200" b="1" dirty="0">
                          <a:solidFill>
                            <a:srgbClr val="2F5D8C"/>
                          </a:solidFill>
                          <a:latin typeface="Calibri" pitchFamily="34" charset="0"/>
                          <a:ea typeface="Calibri" pitchFamily="34" charset="-122"/>
                          <a:cs typeface="Calibri" pitchFamily="34" charset="-120"/>
                        </a:rPr>
                        <a:t>39</a:t>
                      </a:r>
                      <a:endParaRPr lang="en-US" sz="12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tc>
                  <a:txBody>
                    <a:bodyPr/>
                    <a:lstStyle/>
                    <a:p>
                      <a:pPr marL="0" indent="0" algn="ctr">
                        <a:buNone/>
                      </a:pPr>
                      <a:r>
                        <a:rPr lang="en-US" sz="1200" dirty="0">
                          <a:solidFill>
                            <a:srgbClr val="9AA5B5"/>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tc>
                  <a:txBody>
                    <a:bodyPr/>
                    <a:lstStyle/>
                    <a:p>
                      <a:pPr marL="0" indent="0" algn="ctr">
                        <a:buNone/>
                      </a:pPr>
                      <a:r>
                        <a:rPr lang="en-US" sz="1200" dirty="0">
                          <a:solidFill>
                            <a:srgbClr val="9AA5B5"/>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tc>
                  <a:txBody>
                    <a:bodyPr/>
                    <a:lstStyle/>
                    <a:p>
                      <a:pPr marL="0" indent="0" algn="ctr">
                        <a:buNone/>
                      </a:pPr>
                      <a:r>
                        <a:rPr lang="en-US" sz="1200" dirty="0">
                          <a:solidFill>
                            <a:srgbClr val="9AA5B5"/>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extLst>
                  <a:ext uri="{0D108BD9-81ED-4DB2-BD59-A6C34878D82A}">
                    <a16:rowId xmlns:a16="http://schemas.microsoft.com/office/drawing/2014/main" val="10002"/>
                  </a:ext>
                </a:extLst>
              </a:tr>
              <a:tr h="329184">
                <a:tc>
                  <a:txBody>
                    <a:bodyPr/>
                    <a:lstStyle/>
                    <a:p>
                      <a:pPr marL="0" indent="0" algn="ctr">
                        <a:buNone/>
                      </a:pPr>
                      <a:r>
                        <a:rPr lang="en-US" sz="1000" b="1" dirty="0">
                          <a:solidFill>
                            <a:srgbClr val="1F2937"/>
                          </a:solidFill>
                          <a:latin typeface="Calibri" pitchFamily="34" charset="0"/>
                          <a:ea typeface="Calibri" pitchFamily="34" charset="-122"/>
                          <a:cs typeface="Calibri" pitchFamily="34" charset="-120"/>
                        </a:rPr>
                        <a:t>K-Means 2</a:t>
                      </a:r>
                      <a:endParaRPr lang="en-US" sz="10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B7791F"/>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tc>
                  <a:txBody>
                    <a:bodyPr/>
                    <a:lstStyle/>
                    <a:p>
                      <a:pPr marL="0" indent="0" algn="ctr">
                        <a:buNone/>
                      </a:pPr>
                      <a:r>
                        <a:rPr lang="en-US" sz="1200" dirty="0">
                          <a:solidFill>
                            <a:srgbClr val="9AA5B5"/>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tc>
                  <a:txBody>
                    <a:bodyPr/>
                    <a:lstStyle/>
                    <a:p>
                      <a:pPr marL="0" indent="0" algn="ctr">
                        <a:buNone/>
                      </a:pPr>
                      <a:r>
                        <a:rPr lang="en-US" sz="1200" dirty="0">
                          <a:solidFill>
                            <a:srgbClr val="9AA5B5"/>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tc>
                  <a:txBody>
                    <a:bodyPr/>
                    <a:lstStyle/>
                    <a:p>
                      <a:pPr marL="0" indent="0" algn="ctr">
                        <a:buNone/>
                      </a:pPr>
                      <a:r>
                        <a:rPr lang="en-US" sz="1200" b="1" dirty="0">
                          <a:solidFill>
                            <a:srgbClr val="2F5D8C"/>
                          </a:solidFill>
                          <a:latin typeface="Calibri" pitchFamily="34" charset="0"/>
                          <a:ea typeface="Calibri" pitchFamily="34" charset="-122"/>
                          <a:cs typeface="Calibri" pitchFamily="34" charset="-120"/>
                        </a:rPr>
                        <a:t>21</a:t>
                      </a:r>
                      <a:endParaRPr lang="en-US" sz="12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tc>
                  <a:txBody>
                    <a:bodyPr/>
                    <a:lstStyle/>
                    <a:p>
                      <a:pPr marL="0" indent="0" algn="ctr">
                        <a:buNone/>
                      </a:pPr>
                      <a:r>
                        <a:rPr lang="en-US" sz="1200" dirty="0">
                          <a:solidFill>
                            <a:srgbClr val="9AA5B5"/>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extLst>
                  <a:ext uri="{0D108BD9-81ED-4DB2-BD59-A6C34878D82A}">
                    <a16:rowId xmlns:a16="http://schemas.microsoft.com/office/drawing/2014/main" val="10003"/>
                  </a:ext>
                </a:extLst>
              </a:tr>
              <a:tr h="329184">
                <a:tc>
                  <a:txBody>
                    <a:bodyPr/>
                    <a:lstStyle/>
                    <a:p>
                      <a:pPr marL="0" indent="0" algn="ctr">
                        <a:buNone/>
                      </a:pPr>
                      <a:r>
                        <a:rPr lang="en-US" sz="1000" b="1" dirty="0">
                          <a:solidFill>
                            <a:srgbClr val="1F2937"/>
                          </a:solidFill>
                          <a:latin typeface="Calibri" pitchFamily="34" charset="0"/>
                          <a:ea typeface="Calibri" pitchFamily="34" charset="-122"/>
                          <a:cs typeface="Calibri" pitchFamily="34" charset="-120"/>
                        </a:rPr>
                        <a:t>K-Means 3</a:t>
                      </a:r>
                      <a:endParaRPr lang="en-US" sz="10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9AA5B5"/>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tc>
                  <a:txBody>
                    <a:bodyPr/>
                    <a:lstStyle/>
                    <a:p>
                      <a:pPr marL="0" indent="0" algn="ctr">
                        <a:buNone/>
                      </a:pPr>
                      <a:r>
                        <a:rPr lang="en-US" sz="1200" dirty="0">
                          <a:solidFill>
                            <a:srgbClr val="9AA5B5"/>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tc>
                  <a:txBody>
                    <a:bodyPr/>
                    <a:lstStyle/>
                    <a:p>
                      <a:pPr marL="0" indent="0" algn="ctr">
                        <a:buNone/>
                      </a:pPr>
                      <a:r>
                        <a:rPr lang="en-US" sz="1200" b="1" dirty="0">
                          <a:solidFill>
                            <a:srgbClr val="2F5D8C"/>
                          </a:solidFill>
                          <a:latin typeface="Calibri" pitchFamily="34" charset="0"/>
                          <a:ea typeface="Calibri" pitchFamily="34" charset="-122"/>
                          <a:cs typeface="Calibri" pitchFamily="34" charset="-120"/>
                        </a:rPr>
                        <a:t>35</a:t>
                      </a:r>
                      <a:endParaRPr lang="en-US" sz="12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tc>
                  <a:txBody>
                    <a:bodyPr/>
                    <a:lstStyle/>
                    <a:p>
                      <a:pPr marL="0" indent="0" algn="ctr">
                        <a:buNone/>
                      </a:pPr>
                      <a:r>
                        <a:rPr lang="en-US" sz="1200" dirty="0">
                          <a:solidFill>
                            <a:srgbClr val="9AA5B5"/>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tc>
                  <a:txBody>
                    <a:bodyPr/>
                    <a:lstStyle/>
                    <a:p>
                      <a:pPr marL="0" indent="0" algn="ctr">
                        <a:buNone/>
                      </a:pPr>
                      <a:r>
                        <a:rPr lang="en-US" sz="1200" dirty="0">
                          <a:solidFill>
                            <a:srgbClr val="9AA5B5"/>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extLst>
                  <a:ext uri="{0D108BD9-81ED-4DB2-BD59-A6C34878D82A}">
                    <a16:rowId xmlns:a16="http://schemas.microsoft.com/office/drawing/2014/main" val="10004"/>
                  </a:ext>
                </a:extLst>
              </a:tr>
              <a:tr h="329184">
                <a:tc>
                  <a:txBody>
                    <a:bodyPr/>
                    <a:lstStyle/>
                    <a:p>
                      <a:pPr marL="0" indent="0" algn="ctr">
                        <a:buNone/>
                      </a:pPr>
                      <a:r>
                        <a:rPr lang="en-US" sz="1000" b="1" dirty="0">
                          <a:solidFill>
                            <a:srgbClr val="1F2937"/>
                          </a:solidFill>
                          <a:latin typeface="Calibri" pitchFamily="34" charset="0"/>
                          <a:ea typeface="Calibri" pitchFamily="34" charset="-122"/>
                          <a:cs typeface="Calibri" pitchFamily="34" charset="-120"/>
                        </a:rPr>
                        <a:t>K-Means 4</a:t>
                      </a:r>
                      <a:endParaRPr lang="en-US" sz="10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B7791F"/>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tc>
                  <a:txBody>
                    <a:bodyPr/>
                    <a:lstStyle/>
                    <a:p>
                      <a:pPr marL="0" indent="0" algn="ctr">
                        <a:buNone/>
                      </a:pPr>
                      <a:r>
                        <a:rPr lang="en-US" sz="1200" dirty="0">
                          <a:solidFill>
                            <a:srgbClr val="9AA5B5"/>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tc>
                  <a:txBody>
                    <a:bodyPr/>
                    <a:lstStyle/>
                    <a:p>
                      <a:pPr marL="0" indent="0" algn="ctr">
                        <a:buNone/>
                      </a:pPr>
                      <a:r>
                        <a:rPr lang="en-US" sz="1200" dirty="0">
                          <a:solidFill>
                            <a:srgbClr val="9AA5B5"/>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tc>
                  <a:txBody>
                    <a:bodyPr/>
                    <a:lstStyle/>
                    <a:p>
                      <a:pPr marL="0" indent="0" algn="ctr">
                        <a:buNone/>
                      </a:pPr>
                      <a:r>
                        <a:rPr lang="en-US" sz="1200" dirty="0">
                          <a:solidFill>
                            <a:srgbClr val="9AA5B5"/>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tc>
                  <a:txBody>
                    <a:bodyPr/>
                    <a:lstStyle/>
                    <a:p>
                      <a:pPr marL="0" indent="0" algn="ctr">
                        <a:buNone/>
                      </a:pPr>
                      <a:r>
                        <a:rPr lang="en-US" sz="1200" b="1" dirty="0">
                          <a:solidFill>
                            <a:srgbClr val="2F5D8C"/>
                          </a:solidFill>
                          <a:latin typeface="Calibri" pitchFamily="34" charset="0"/>
                          <a:ea typeface="Calibri" pitchFamily="34" charset="-122"/>
                          <a:cs typeface="Calibri" pitchFamily="34" charset="-120"/>
                        </a:rPr>
                        <a:t>21</a:t>
                      </a:r>
                      <a:endParaRPr lang="en-US" sz="1200" dirty="0">
                        <a:latin typeface="Calibri" charset="0"/>
                        <a:ea typeface="Calibri" charset="0"/>
                        <a:cs typeface="Calibri" charset="0"/>
                      </a:endParaRPr>
                    </a:p>
                  </a:txBody>
                  <a:tcPr anchor="ctr">
                    <a:lnL w="6350" cap="flat" cmpd="sng" algn="ctr">
                      <a:solidFill>
                        <a:srgbClr val="D3DAE5"/>
                      </a:solidFill>
                      <a:prstDash val="solid"/>
                      <a:round/>
                      <a:headEnd type="none" w="med" len="med"/>
                      <a:tailEnd type="none" w="med" len="med"/>
                    </a:lnL>
                    <a:lnR w="6350" cap="flat" cmpd="sng" algn="ctr">
                      <a:solidFill>
                        <a:srgbClr val="D3DAE5"/>
                      </a:solidFill>
                      <a:prstDash val="solid"/>
                      <a:round/>
                      <a:headEnd type="none" w="med" len="med"/>
                      <a:tailEnd type="none" w="med" len="med"/>
                    </a:lnR>
                    <a:lnT w="6350" cap="flat" cmpd="sng" algn="ctr">
                      <a:solidFill>
                        <a:srgbClr val="D3DAE5"/>
                      </a:solidFill>
                      <a:prstDash val="solid"/>
                      <a:round/>
                      <a:headEnd type="none" w="med" len="med"/>
                      <a:tailEnd type="none" w="med" len="med"/>
                    </a:lnT>
                    <a:lnB w="6350" cap="flat" cmpd="sng" algn="ctr">
                      <a:solidFill>
                        <a:srgbClr val="D3DAE5"/>
                      </a:solidFill>
                      <a:prstDash val="solid"/>
                      <a:round/>
                      <a:headEnd type="none" w="med" len="med"/>
                      <a:tailEnd type="none" w="med" len="med"/>
                    </a:lnB>
                    <a:solidFill>
                      <a:srgbClr val="F1F4F8"/>
                    </a:solidFill>
                  </a:tcPr>
                </a:tc>
                <a:extLst>
                  <a:ext uri="{0D108BD9-81ED-4DB2-BD59-A6C34878D82A}">
                    <a16:rowId xmlns:a16="http://schemas.microsoft.com/office/drawing/2014/main" val="10005"/>
                  </a:ext>
                </a:extLst>
              </a:tr>
            </a:tbl>
          </a:graphicData>
        </a:graphic>
      </p:graphicFrame>
      <p:sp>
        <p:nvSpPr>
          <p:cNvPr id="9" name="card"/>
          <p:cNvSpPr/>
          <p:nvPr/>
        </p:nvSpPr>
        <p:spPr>
          <a:xfrm>
            <a:off x="7132320" y="4023360"/>
            <a:ext cx="4526280" cy="2148840"/>
          </a:xfrm>
          <a:prstGeom prst="roundRect">
            <a:avLst>
              <a:gd name="adj" fmla="val 1702"/>
            </a:avLst>
          </a:prstGeom>
          <a:solidFill>
            <a:srgbClr val="EDF1F7"/>
          </a:solidFill>
          <a:ln w="9525">
            <a:solidFill>
              <a:srgbClr val="D3DAE5"/>
            </a:solidFill>
            <a:prstDash val="solid"/>
          </a:ln>
        </p:spPr>
      </p:sp>
      <p:sp>
        <p:nvSpPr>
          <p:cNvPr id="10" name="Text 6"/>
          <p:cNvSpPr txBox="1"/>
          <p:nvPr/>
        </p:nvSpPr>
        <p:spPr>
          <a:xfrm>
            <a:off x="7315200" y="4114800"/>
            <a:ext cx="4160520" cy="1965960"/>
          </a:xfrm>
          <a:prstGeom prst="rect">
            <a:avLst/>
          </a:prstGeom>
          <a:noFill/>
          <a:ln/>
        </p:spPr>
        <p:txBody>
          <a:bodyPr wrap="square" lIns="0" tIns="0" rIns="0" bIns="0" rtlCol="0" anchor="ctr"/>
          <a:lstStyle/>
          <a:p>
            <a:pPr marL="342900" indent="-342900">
              <a:spcAft>
                <a:spcPts val="500"/>
              </a:spcAft>
              <a:buSzPct val="100000"/>
              <a:buChar char="•"/>
            </a:pPr>
            <a:r>
              <a:rPr lang="en-US" sz="1300" dirty="0">
                <a:solidFill>
                  <a:srgbClr val="374151"/>
                </a:solidFill>
                <a:latin typeface="Calibri" pitchFamily="34" charset="0"/>
                <a:ea typeface="Calibri" pitchFamily="34" charset="-122"/>
                <a:cs typeface="Calibri" pitchFamily="34" charset="-120"/>
              </a:rPr>
              <a:t>In this experiment K-Medoids scored slightly better on both Silhouette and Davies-Bouldin; the differences are small.</a:t>
            </a:r>
            <a:endParaRPr lang="en-US" sz="1300" dirty="0"/>
          </a:p>
          <a:p>
            <a:pPr marL="342900" indent="-342900">
              <a:spcAft>
                <a:spcPts val="500"/>
              </a:spcAft>
              <a:buSzPct val="100000"/>
              <a:buChar char="•"/>
            </a:pPr>
            <a:r>
              <a:rPr lang="en-US" sz="1300" dirty="0">
                <a:solidFill>
                  <a:srgbClr val="374151"/>
                </a:solidFill>
                <a:latin typeface="Calibri" pitchFamily="34" charset="0"/>
                <a:ea typeface="Calibri" pitchFamily="34" charset="-122"/>
                <a:cs typeface="Calibri" pitchFamily="34" charset="-120"/>
              </a:rPr>
              <a:t>197 of 200 customers fall in the same matching group; 3 low-income customers differ.</a:t>
            </a:r>
            <a:endParaRPr lang="en-US" sz="1300" dirty="0"/>
          </a:p>
          <a:p>
            <a:pPr marL="342900" indent="-342900">
              <a:spcAft>
                <a:spcPts val="500"/>
              </a:spcAft>
              <a:buSzPct val="100000"/>
              <a:buChar char="•"/>
            </a:pPr>
            <a:r>
              <a:rPr lang="en-US" sz="1300" dirty="0">
                <a:solidFill>
                  <a:srgbClr val="374151"/>
                </a:solidFill>
                <a:latin typeface="Calibri" pitchFamily="34" charset="0"/>
                <a:ea typeface="Calibri" pitchFamily="34" charset="-122"/>
                <a:cs typeface="Calibri" pitchFamily="34" charset="-120"/>
              </a:rPr>
              <a:t>Result applies to this dataset and setup, not to the algorithms in general.</a:t>
            </a:r>
            <a:endParaRPr lang="en-US" sz="13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8599"/>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64240" cy="777240"/>
          </a:xfrm>
          <a:prstGeom prst="rect">
            <a:avLst/>
          </a:prstGeom>
          <a:noFill/>
          <a:ln/>
        </p:spPr>
        <p:txBody>
          <a:bodyPr wrap="square" lIns="0" tIns="0" rIns="0" bIns="0" rtlCol="0" anchor="ctr"/>
          <a:lstStyle/>
          <a:p>
            <a:pPr marL="0" indent="0">
              <a:buNone/>
            </a:pPr>
            <a:r>
              <a:rPr lang="en-US" sz="3200" b="1" dirty="0">
                <a:solidFill>
                  <a:srgbClr val="1F2937"/>
                </a:solidFill>
                <a:latin typeface="Cambria" pitchFamily="34" charset="0"/>
                <a:ea typeface="Cambria" pitchFamily="34" charset="-122"/>
                <a:cs typeface="Cambria" pitchFamily="34" charset="-120"/>
              </a:rPr>
              <a:t>Business Insights: Descriptive Segments</a:t>
            </a:r>
            <a:endParaRPr lang="en-US" sz="3200" dirty="0"/>
          </a:p>
        </p:txBody>
      </p:sp>
      <p:sp>
        <p:nvSpPr>
          <p:cNvPr id="3" name="card"/>
          <p:cNvSpPr/>
          <p:nvPr/>
        </p:nvSpPr>
        <p:spPr>
          <a:xfrm>
            <a:off x="548640" y="1371600"/>
            <a:ext cx="2103120" cy="4160520"/>
          </a:xfrm>
          <a:prstGeom prst="roundRect">
            <a:avLst>
              <a:gd name="adj" fmla="val 1739"/>
            </a:avLst>
          </a:prstGeom>
          <a:solidFill>
            <a:srgbClr val="FFFFFF"/>
          </a:solidFill>
          <a:ln w="9525">
            <a:solidFill>
              <a:srgbClr val="D3DAE5"/>
            </a:solidFill>
            <a:prstDash val="solid"/>
          </a:ln>
        </p:spPr>
      </p:sp>
      <p:sp>
        <p:nvSpPr>
          <p:cNvPr id="4" name="Shape 2"/>
          <p:cNvSpPr/>
          <p:nvPr/>
        </p:nvSpPr>
        <p:spPr>
          <a:xfrm>
            <a:off x="731520" y="1554480"/>
            <a:ext cx="274320" cy="274320"/>
          </a:xfrm>
          <a:prstGeom prst="ellipse">
            <a:avLst/>
          </a:prstGeom>
          <a:solidFill>
            <a:srgbClr val="2CA02C"/>
          </a:solidFill>
          <a:ln w="9525">
            <a:solidFill>
              <a:srgbClr val="FFFFFF"/>
            </a:solidFill>
            <a:prstDash val="solid"/>
          </a:ln>
        </p:spPr>
      </p:sp>
      <p:sp>
        <p:nvSpPr>
          <p:cNvPr id="5" name="Text 3"/>
          <p:cNvSpPr txBox="1"/>
          <p:nvPr/>
        </p:nvSpPr>
        <p:spPr>
          <a:xfrm>
            <a:off x="731520" y="1920240"/>
            <a:ext cx="1737360" cy="777240"/>
          </a:xfrm>
          <a:prstGeom prst="rect">
            <a:avLst/>
          </a:prstGeom>
          <a:noFill/>
          <a:ln/>
        </p:spPr>
        <p:txBody>
          <a:bodyPr wrap="square" lIns="0" tIns="0" rIns="0" bIns="0" rtlCol="0" anchor="t"/>
          <a:lstStyle/>
          <a:p>
            <a:pPr marL="0" indent="0">
              <a:buNone/>
            </a:pPr>
            <a:r>
              <a:rPr lang="en-US" sz="1500" b="1" dirty="0">
                <a:solidFill>
                  <a:srgbClr val="1F2937"/>
                </a:solidFill>
                <a:latin typeface="Cambria" pitchFamily="34" charset="0"/>
                <a:ea typeface="Cambria" pitchFamily="34" charset="-122"/>
                <a:cs typeface="Cambria" pitchFamily="34" charset="-120"/>
              </a:rPr>
              <a:t>High-Value Customers</a:t>
            </a:r>
            <a:endParaRPr lang="en-US" sz="1500" dirty="0"/>
          </a:p>
        </p:txBody>
      </p:sp>
      <p:sp>
        <p:nvSpPr>
          <p:cNvPr id="6" name="Text 4"/>
          <p:cNvSpPr txBox="1"/>
          <p:nvPr/>
        </p:nvSpPr>
        <p:spPr>
          <a:xfrm>
            <a:off x="731520" y="2743200"/>
            <a:ext cx="1737360" cy="274320"/>
          </a:xfrm>
          <a:prstGeom prst="rect">
            <a:avLst/>
          </a:prstGeom>
          <a:noFill/>
          <a:ln/>
        </p:spPr>
        <p:txBody>
          <a:bodyPr wrap="square" lIns="0" tIns="0" rIns="0" bIns="0" rtlCol="0" anchor="t"/>
          <a:lstStyle/>
          <a:p>
            <a:pPr marL="0" indent="0">
              <a:buNone/>
            </a:pPr>
            <a:r>
              <a:rPr lang="en-US" sz="1200" b="1" dirty="0">
                <a:solidFill>
                  <a:srgbClr val="2F5D8C"/>
                </a:solidFill>
                <a:latin typeface="Calibri" pitchFamily="34" charset="0"/>
                <a:ea typeface="Calibri" pitchFamily="34" charset="-122"/>
                <a:cs typeface="Calibri" pitchFamily="34" charset="-120"/>
              </a:rPr>
              <a:t>39 • 19.5%</a:t>
            </a:r>
            <a:endParaRPr lang="en-US" sz="1200" dirty="0"/>
          </a:p>
        </p:txBody>
      </p:sp>
      <p:sp>
        <p:nvSpPr>
          <p:cNvPr id="7" name="Text 5"/>
          <p:cNvSpPr txBox="1"/>
          <p:nvPr/>
        </p:nvSpPr>
        <p:spPr>
          <a:xfrm>
            <a:off x="731520" y="3017520"/>
            <a:ext cx="1737360" cy="274320"/>
          </a:xfrm>
          <a:prstGeom prst="rect">
            <a:avLst/>
          </a:prstGeom>
          <a:noFill/>
          <a:ln/>
        </p:spPr>
        <p:txBody>
          <a:bodyPr wrap="square" lIns="0" tIns="0" rIns="0" bIns="0" rtlCol="0" anchor="t"/>
          <a:lstStyle/>
          <a:p>
            <a:pPr marL="0" indent="0">
              <a:buNone/>
            </a:pPr>
            <a:r>
              <a:rPr lang="en-US" sz="1100" dirty="0">
                <a:solidFill>
                  <a:srgbClr val="5B6678"/>
                </a:solidFill>
                <a:latin typeface="Calibri" pitchFamily="34" charset="0"/>
                <a:ea typeface="Calibri" pitchFamily="34" charset="-122"/>
                <a:cs typeface="Calibri" pitchFamily="34" charset="-120"/>
              </a:rPr>
              <a:t>Income 86.5k • Score 82.1</a:t>
            </a:r>
            <a:endParaRPr lang="en-US" sz="1100" dirty="0"/>
          </a:p>
        </p:txBody>
      </p:sp>
      <p:sp>
        <p:nvSpPr>
          <p:cNvPr id="8" name="Text 6"/>
          <p:cNvSpPr txBox="1"/>
          <p:nvPr/>
        </p:nvSpPr>
        <p:spPr>
          <a:xfrm>
            <a:off x="731520" y="3429000"/>
            <a:ext cx="1737360" cy="868680"/>
          </a:xfrm>
          <a:prstGeom prst="rect">
            <a:avLst/>
          </a:prstGeom>
          <a:noFill/>
          <a:ln/>
        </p:spPr>
        <p:txBody>
          <a:bodyPr wrap="square" lIns="0" tIns="0" rIns="0" bIns="0" rtlCol="0" anchor="t"/>
          <a:lstStyle/>
          <a:p>
            <a:pPr marL="0" indent="0">
              <a:buNone/>
            </a:pPr>
            <a:r>
              <a:rPr lang="en-US" sz="1200" dirty="0">
                <a:solidFill>
                  <a:srgbClr val="374151"/>
                </a:solidFill>
                <a:latin typeface="Calibri" pitchFamily="34" charset="0"/>
                <a:ea typeface="Calibri" pitchFamily="34" charset="-122"/>
                <a:cs typeface="Calibri" pitchFamily="34" charset="-120"/>
              </a:rPr>
              <a:t>Relatively high income and high spending score.</a:t>
            </a:r>
            <a:endParaRPr lang="en-US" sz="1200" dirty="0"/>
          </a:p>
        </p:txBody>
      </p:sp>
      <p:sp>
        <p:nvSpPr>
          <p:cNvPr id="9" name="Text 7"/>
          <p:cNvSpPr txBox="1"/>
          <p:nvPr/>
        </p:nvSpPr>
        <p:spPr>
          <a:xfrm>
            <a:off x="731520" y="4297680"/>
            <a:ext cx="1737360" cy="1143000"/>
          </a:xfrm>
          <a:prstGeom prst="rect">
            <a:avLst/>
          </a:prstGeom>
          <a:noFill/>
          <a:ln/>
        </p:spPr>
        <p:txBody>
          <a:bodyPr wrap="square" lIns="0" tIns="0" rIns="0" bIns="0" rtlCol="0" anchor="t"/>
          <a:lstStyle/>
          <a:p>
            <a:pPr marL="0" indent="0">
              <a:buNone/>
            </a:pPr>
            <a:r>
              <a:rPr lang="en-US" sz="1200" b="1" dirty="0">
                <a:solidFill>
                  <a:srgbClr val="6B5CA5"/>
                </a:solidFill>
                <a:latin typeface="Calibri" pitchFamily="34" charset="0"/>
                <a:ea typeface="Calibri" pitchFamily="34" charset="-122"/>
                <a:cs typeface="Calibri" pitchFamily="34" charset="-120"/>
              </a:rPr>
              <a:t>Possible action: </a:t>
            </a:r>
            <a:r>
              <a:rPr lang="en-US" sz="1200" dirty="0">
                <a:solidFill>
                  <a:srgbClr val="374151"/>
                </a:solidFill>
                <a:latin typeface="Calibri" pitchFamily="34" charset="0"/>
                <a:ea typeface="Calibri" pitchFamily="34" charset="-122"/>
                <a:cs typeface="Calibri" pitchFamily="34" charset="-120"/>
              </a:rPr>
              <a:t>Loyalty programmes, premium offers, retention.</a:t>
            </a:r>
            <a:endParaRPr lang="en-US" sz="1200" dirty="0"/>
          </a:p>
        </p:txBody>
      </p:sp>
      <p:sp>
        <p:nvSpPr>
          <p:cNvPr id="10" name="card"/>
          <p:cNvSpPr/>
          <p:nvPr/>
        </p:nvSpPr>
        <p:spPr>
          <a:xfrm>
            <a:off x="2788920" y="1371600"/>
            <a:ext cx="2103120" cy="4160520"/>
          </a:xfrm>
          <a:prstGeom prst="roundRect">
            <a:avLst>
              <a:gd name="adj" fmla="val 1739"/>
            </a:avLst>
          </a:prstGeom>
          <a:solidFill>
            <a:srgbClr val="FFFFFF"/>
          </a:solidFill>
          <a:ln w="9525">
            <a:solidFill>
              <a:srgbClr val="D3DAE5"/>
            </a:solidFill>
            <a:prstDash val="solid"/>
          </a:ln>
        </p:spPr>
      </p:sp>
      <p:sp>
        <p:nvSpPr>
          <p:cNvPr id="11" name="Shape 9"/>
          <p:cNvSpPr/>
          <p:nvPr/>
        </p:nvSpPr>
        <p:spPr>
          <a:xfrm>
            <a:off x="2971800" y="1554480"/>
            <a:ext cx="274320" cy="274320"/>
          </a:xfrm>
          <a:prstGeom prst="ellipse">
            <a:avLst/>
          </a:prstGeom>
          <a:solidFill>
            <a:srgbClr val="1F77B4"/>
          </a:solidFill>
          <a:ln w="9525">
            <a:solidFill>
              <a:srgbClr val="FFFFFF"/>
            </a:solidFill>
            <a:prstDash val="solid"/>
          </a:ln>
        </p:spPr>
      </p:sp>
      <p:sp>
        <p:nvSpPr>
          <p:cNvPr id="12" name="Text 10"/>
          <p:cNvSpPr txBox="1"/>
          <p:nvPr/>
        </p:nvSpPr>
        <p:spPr>
          <a:xfrm>
            <a:off x="2971800" y="1920240"/>
            <a:ext cx="1737360" cy="777240"/>
          </a:xfrm>
          <a:prstGeom prst="rect">
            <a:avLst/>
          </a:prstGeom>
          <a:noFill/>
          <a:ln/>
        </p:spPr>
        <p:txBody>
          <a:bodyPr wrap="square" lIns="0" tIns="0" rIns="0" bIns="0" rtlCol="0" anchor="t"/>
          <a:lstStyle/>
          <a:p>
            <a:pPr marL="0" indent="0">
              <a:buNone/>
            </a:pPr>
            <a:r>
              <a:rPr lang="en-US" sz="1500" b="1" dirty="0">
                <a:solidFill>
                  <a:srgbClr val="1F2937"/>
                </a:solidFill>
                <a:latin typeface="Cambria" pitchFamily="34" charset="0"/>
                <a:ea typeface="Cambria" pitchFamily="34" charset="-122"/>
                <a:cs typeface="Cambria" pitchFamily="34" charset="-120"/>
              </a:rPr>
              <a:t>Balanced / Moderate Customers</a:t>
            </a:r>
            <a:endParaRPr lang="en-US" sz="1500" dirty="0"/>
          </a:p>
        </p:txBody>
      </p:sp>
      <p:sp>
        <p:nvSpPr>
          <p:cNvPr id="13" name="Text 11"/>
          <p:cNvSpPr txBox="1"/>
          <p:nvPr/>
        </p:nvSpPr>
        <p:spPr>
          <a:xfrm>
            <a:off x="2971800" y="2743200"/>
            <a:ext cx="1737360" cy="274320"/>
          </a:xfrm>
          <a:prstGeom prst="rect">
            <a:avLst/>
          </a:prstGeom>
          <a:noFill/>
          <a:ln/>
        </p:spPr>
        <p:txBody>
          <a:bodyPr wrap="square" lIns="0" tIns="0" rIns="0" bIns="0" rtlCol="0" anchor="t"/>
          <a:lstStyle/>
          <a:p>
            <a:pPr marL="0" indent="0">
              <a:buNone/>
            </a:pPr>
            <a:r>
              <a:rPr lang="en-US" sz="1200" b="1" dirty="0">
                <a:solidFill>
                  <a:srgbClr val="2F5D8C"/>
                </a:solidFill>
                <a:latin typeface="Calibri" pitchFamily="34" charset="0"/>
                <a:ea typeface="Calibri" pitchFamily="34" charset="-122"/>
                <a:cs typeface="Calibri" pitchFamily="34" charset="-120"/>
              </a:rPr>
              <a:t>81 • 40.5%</a:t>
            </a:r>
            <a:endParaRPr lang="en-US" sz="1200" dirty="0"/>
          </a:p>
        </p:txBody>
      </p:sp>
      <p:sp>
        <p:nvSpPr>
          <p:cNvPr id="14" name="Text 12"/>
          <p:cNvSpPr txBox="1"/>
          <p:nvPr/>
        </p:nvSpPr>
        <p:spPr>
          <a:xfrm>
            <a:off x="2971800" y="3017520"/>
            <a:ext cx="1737360" cy="274320"/>
          </a:xfrm>
          <a:prstGeom prst="rect">
            <a:avLst/>
          </a:prstGeom>
          <a:noFill/>
          <a:ln/>
        </p:spPr>
        <p:txBody>
          <a:bodyPr wrap="square" lIns="0" tIns="0" rIns="0" bIns="0" rtlCol="0" anchor="t"/>
          <a:lstStyle/>
          <a:p>
            <a:pPr marL="0" indent="0">
              <a:buNone/>
            </a:pPr>
            <a:r>
              <a:rPr lang="en-US" sz="1100" dirty="0">
                <a:solidFill>
                  <a:srgbClr val="5B6678"/>
                </a:solidFill>
                <a:latin typeface="Calibri" pitchFamily="34" charset="0"/>
                <a:ea typeface="Calibri" pitchFamily="34" charset="-122"/>
                <a:cs typeface="Calibri" pitchFamily="34" charset="-120"/>
              </a:rPr>
              <a:t>Income 55.3k • Score 49.5</a:t>
            </a:r>
            <a:endParaRPr lang="en-US" sz="1100" dirty="0"/>
          </a:p>
        </p:txBody>
      </p:sp>
      <p:sp>
        <p:nvSpPr>
          <p:cNvPr id="15" name="Text 13"/>
          <p:cNvSpPr txBox="1"/>
          <p:nvPr/>
        </p:nvSpPr>
        <p:spPr>
          <a:xfrm>
            <a:off x="2971800" y="3429000"/>
            <a:ext cx="1737360" cy="868680"/>
          </a:xfrm>
          <a:prstGeom prst="rect">
            <a:avLst/>
          </a:prstGeom>
          <a:noFill/>
          <a:ln/>
        </p:spPr>
        <p:txBody>
          <a:bodyPr wrap="square" lIns="0" tIns="0" rIns="0" bIns="0" rtlCol="0" anchor="t"/>
          <a:lstStyle/>
          <a:p>
            <a:pPr marL="0" indent="0">
              <a:buNone/>
            </a:pPr>
            <a:r>
              <a:rPr lang="en-US" sz="1200" dirty="0">
                <a:solidFill>
                  <a:srgbClr val="374151"/>
                </a:solidFill>
                <a:latin typeface="Calibri" pitchFamily="34" charset="0"/>
                <a:ea typeface="Calibri" pitchFamily="34" charset="-122"/>
                <a:cs typeface="Calibri" pitchFamily="34" charset="-120"/>
              </a:rPr>
              <a:t>Moderate income and moderate spending behaviour.</a:t>
            </a:r>
            <a:endParaRPr lang="en-US" sz="1200" dirty="0"/>
          </a:p>
        </p:txBody>
      </p:sp>
      <p:sp>
        <p:nvSpPr>
          <p:cNvPr id="16" name="Text 14"/>
          <p:cNvSpPr txBox="1"/>
          <p:nvPr/>
        </p:nvSpPr>
        <p:spPr>
          <a:xfrm>
            <a:off x="2971800" y="4297680"/>
            <a:ext cx="1737360" cy="1143000"/>
          </a:xfrm>
          <a:prstGeom prst="rect">
            <a:avLst/>
          </a:prstGeom>
          <a:noFill/>
          <a:ln/>
        </p:spPr>
        <p:txBody>
          <a:bodyPr wrap="square" lIns="0" tIns="0" rIns="0" bIns="0" rtlCol="0" anchor="t"/>
          <a:lstStyle/>
          <a:p>
            <a:pPr marL="0" indent="0">
              <a:buNone/>
            </a:pPr>
            <a:r>
              <a:rPr lang="en-US" sz="1200" b="1" dirty="0">
                <a:solidFill>
                  <a:srgbClr val="6B5CA5"/>
                </a:solidFill>
                <a:latin typeface="Calibri" pitchFamily="34" charset="0"/>
                <a:ea typeface="Calibri" pitchFamily="34" charset="-122"/>
                <a:cs typeface="Calibri" pitchFamily="34" charset="-120"/>
              </a:rPr>
              <a:t>Possible action: </a:t>
            </a:r>
            <a:r>
              <a:rPr lang="en-US" sz="1200" dirty="0">
                <a:solidFill>
                  <a:srgbClr val="374151"/>
                </a:solidFill>
                <a:latin typeface="Calibri" pitchFamily="34" charset="0"/>
                <a:ea typeface="Calibri" pitchFamily="34" charset="-122"/>
                <a:cs typeface="Calibri" pitchFamily="34" charset="-120"/>
              </a:rPr>
              <a:t>Maintain engagement; personalised promotions.</a:t>
            </a:r>
            <a:endParaRPr lang="en-US" sz="1200" dirty="0"/>
          </a:p>
        </p:txBody>
      </p:sp>
      <p:sp>
        <p:nvSpPr>
          <p:cNvPr id="17" name="card"/>
          <p:cNvSpPr/>
          <p:nvPr/>
        </p:nvSpPr>
        <p:spPr>
          <a:xfrm>
            <a:off x="5029200" y="1371600"/>
            <a:ext cx="2103120" cy="4160520"/>
          </a:xfrm>
          <a:prstGeom prst="roundRect">
            <a:avLst>
              <a:gd name="adj" fmla="val 1739"/>
            </a:avLst>
          </a:prstGeom>
          <a:solidFill>
            <a:srgbClr val="FFFFFF"/>
          </a:solidFill>
          <a:ln w="9525">
            <a:solidFill>
              <a:srgbClr val="D3DAE5"/>
            </a:solidFill>
            <a:prstDash val="solid"/>
          </a:ln>
        </p:spPr>
      </p:sp>
      <p:sp>
        <p:nvSpPr>
          <p:cNvPr id="18" name="Shape 16"/>
          <p:cNvSpPr/>
          <p:nvPr/>
        </p:nvSpPr>
        <p:spPr>
          <a:xfrm>
            <a:off x="5212080" y="1554480"/>
            <a:ext cx="274320" cy="274320"/>
          </a:xfrm>
          <a:prstGeom prst="ellipse">
            <a:avLst/>
          </a:prstGeom>
          <a:solidFill>
            <a:srgbClr val="8C564B"/>
          </a:solidFill>
          <a:ln w="9525">
            <a:solidFill>
              <a:srgbClr val="FFFFFF"/>
            </a:solidFill>
            <a:prstDash val="solid"/>
          </a:ln>
        </p:spPr>
      </p:sp>
      <p:sp>
        <p:nvSpPr>
          <p:cNvPr id="19" name="Text 17"/>
          <p:cNvSpPr txBox="1"/>
          <p:nvPr/>
        </p:nvSpPr>
        <p:spPr>
          <a:xfrm>
            <a:off x="5212080" y="1920240"/>
            <a:ext cx="1737360" cy="777240"/>
          </a:xfrm>
          <a:prstGeom prst="rect">
            <a:avLst/>
          </a:prstGeom>
          <a:noFill/>
          <a:ln/>
        </p:spPr>
        <p:txBody>
          <a:bodyPr wrap="square" lIns="0" tIns="0" rIns="0" bIns="0" rtlCol="0" anchor="t"/>
          <a:lstStyle/>
          <a:p>
            <a:pPr marL="0" indent="0">
              <a:buNone/>
            </a:pPr>
            <a:r>
              <a:rPr lang="en-US" sz="1500" b="1" dirty="0">
                <a:solidFill>
                  <a:srgbClr val="1F2937"/>
                </a:solidFill>
                <a:latin typeface="Cambria" pitchFamily="34" charset="0"/>
                <a:ea typeface="Cambria" pitchFamily="34" charset="-122"/>
                <a:cs typeface="Cambria" pitchFamily="34" charset="-120"/>
              </a:rPr>
              <a:t>High-Spending Budget Customers</a:t>
            </a:r>
            <a:endParaRPr lang="en-US" sz="1500" dirty="0"/>
          </a:p>
        </p:txBody>
      </p:sp>
      <p:sp>
        <p:nvSpPr>
          <p:cNvPr id="20" name="Text 18"/>
          <p:cNvSpPr txBox="1"/>
          <p:nvPr/>
        </p:nvSpPr>
        <p:spPr>
          <a:xfrm>
            <a:off x="5212080" y="2743200"/>
            <a:ext cx="1737360" cy="274320"/>
          </a:xfrm>
          <a:prstGeom prst="rect">
            <a:avLst/>
          </a:prstGeom>
          <a:noFill/>
          <a:ln/>
        </p:spPr>
        <p:txBody>
          <a:bodyPr wrap="square" lIns="0" tIns="0" rIns="0" bIns="0" rtlCol="0" anchor="t"/>
          <a:lstStyle/>
          <a:p>
            <a:pPr marL="0" indent="0">
              <a:buNone/>
            </a:pPr>
            <a:r>
              <a:rPr lang="en-US" sz="1200" b="1" dirty="0">
                <a:solidFill>
                  <a:srgbClr val="2F5D8C"/>
                </a:solidFill>
                <a:latin typeface="Calibri" pitchFamily="34" charset="0"/>
                <a:ea typeface="Calibri" pitchFamily="34" charset="-122"/>
                <a:cs typeface="Calibri" pitchFamily="34" charset="-120"/>
              </a:rPr>
              <a:t>22 • 11.0%</a:t>
            </a:r>
            <a:endParaRPr lang="en-US" sz="1200" dirty="0"/>
          </a:p>
        </p:txBody>
      </p:sp>
      <p:sp>
        <p:nvSpPr>
          <p:cNvPr id="21" name="Text 19"/>
          <p:cNvSpPr txBox="1"/>
          <p:nvPr/>
        </p:nvSpPr>
        <p:spPr>
          <a:xfrm>
            <a:off x="5212080" y="3017520"/>
            <a:ext cx="1737360" cy="274320"/>
          </a:xfrm>
          <a:prstGeom prst="rect">
            <a:avLst/>
          </a:prstGeom>
          <a:noFill/>
          <a:ln/>
        </p:spPr>
        <p:txBody>
          <a:bodyPr wrap="square" lIns="0" tIns="0" rIns="0" bIns="0" rtlCol="0" anchor="t"/>
          <a:lstStyle/>
          <a:p>
            <a:pPr marL="0" indent="0">
              <a:buNone/>
            </a:pPr>
            <a:r>
              <a:rPr lang="en-US" sz="1100" dirty="0">
                <a:solidFill>
                  <a:srgbClr val="5B6678"/>
                </a:solidFill>
                <a:latin typeface="Calibri" pitchFamily="34" charset="0"/>
                <a:ea typeface="Calibri" pitchFamily="34" charset="-122"/>
                <a:cs typeface="Calibri" pitchFamily="34" charset="-120"/>
              </a:rPr>
              <a:t>Income 25.7k • Score 79.4</a:t>
            </a:r>
            <a:endParaRPr lang="en-US" sz="1100" dirty="0"/>
          </a:p>
        </p:txBody>
      </p:sp>
      <p:sp>
        <p:nvSpPr>
          <p:cNvPr id="22" name="Text 20"/>
          <p:cNvSpPr txBox="1"/>
          <p:nvPr/>
        </p:nvSpPr>
        <p:spPr>
          <a:xfrm>
            <a:off x="5212080" y="3429000"/>
            <a:ext cx="1737360" cy="868680"/>
          </a:xfrm>
          <a:prstGeom prst="rect">
            <a:avLst/>
          </a:prstGeom>
          <a:noFill/>
          <a:ln/>
        </p:spPr>
        <p:txBody>
          <a:bodyPr wrap="square" lIns="0" tIns="0" rIns="0" bIns="0" rtlCol="0" anchor="t"/>
          <a:lstStyle/>
          <a:p>
            <a:pPr marL="0" indent="0">
              <a:buNone/>
            </a:pPr>
            <a:r>
              <a:rPr lang="en-US" sz="1200" dirty="0">
                <a:solidFill>
                  <a:srgbClr val="374151"/>
                </a:solidFill>
                <a:latin typeface="Calibri" pitchFamily="34" charset="0"/>
                <a:ea typeface="Calibri" pitchFamily="34" charset="-122"/>
                <a:cs typeface="Calibri" pitchFamily="34" charset="-120"/>
              </a:rPr>
              <a:t>Lower income but relatively high spending score.</a:t>
            </a:r>
            <a:endParaRPr lang="en-US" sz="1200" dirty="0"/>
          </a:p>
        </p:txBody>
      </p:sp>
      <p:sp>
        <p:nvSpPr>
          <p:cNvPr id="23" name="Text 21"/>
          <p:cNvSpPr txBox="1"/>
          <p:nvPr/>
        </p:nvSpPr>
        <p:spPr>
          <a:xfrm>
            <a:off x="5212080" y="4297680"/>
            <a:ext cx="1737360" cy="1143000"/>
          </a:xfrm>
          <a:prstGeom prst="rect">
            <a:avLst/>
          </a:prstGeom>
          <a:noFill/>
          <a:ln/>
        </p:spPr>
        <p:txBody>
          <a:bodyPr wrap="square" lIns="0" tIns="0" rIns="0" bIns="0" rtlCol="0" anchor="t"/>
          <a:lstStyle/>
          <a:p>
            <a:pPr marL="0" indent="0">
              <a:buNone/>
            </a:pPr>
            <a:r>
              <a:rPr lang="en-US" sz="1200" b="1" dirty="0">
                <a:solidFill>
                  <a:srgbClr val="6B5CA5"/>
                </a:solidFill>
                <a:latin typeface="Calibri" pitchFamily="34" charset="0"/>
                <a:ea typeface="Calibri" pitchFamily="34" charset="-122"/>
                <a:cs typeface="Calibri" pitchFamily="34" charset="-120"/>
              </a:rPr>
              <a:t>Possible action: </a:t>
            </a:r>
            <a:r>
              <a:rPr lang="en-US" sz="1200" dirty="0">
                <a:solidFill>
                  <a:srgbClr val="374151"/>
                </a:solidFill>
                <a:latin typeface="Calibri" pitchFamily="34" charset="0"/>
                <a:ea typeface="Calibri" pitchFamily="34" charset="-122"/>
                <a:cs typeface="Calibri" pitchFamily="34" charset="-120"/>
              </a:rPr>
              <a:t>Affordable, value-oriented campaigns.</a:t>
            </a:r>
            <a:endParaRPr lang="en-US" sz="1200" dirty="0"/>
          </a:p>
        </p:txBody>
      </p:sp>
      <p:sp>
        <p:nvSpPr>
          <p:cNvPr id="24" name="card"/>
          <p:cNvSpPr/>
          <p:nvPr/>
        </p:nvSpPr>
        <p:spPr>
          <a:xfrm>
            <a:off x="7269480" y="1371600"/>
            <a:ext cx="2103120" cy="4160520"/>
          </a:xfrm>
          <a:prstGeom prst="roundRect">
            <a:avLst>
              <a:gd name="adj" fmla="val 1739"/>
            </a:avLst>
          </a:prstGeom>
          <a:solidFill>
            <a:srgbClr val="FFFFFF"/>
          </a:solidFill>
          <a:ln w="9525">
            <a:solidFill>
              <a:srgbClr val="D3DAE5"/>
            </a:solidFill>
            <a:prstDash val="solid"/>
          </a:ln>
        </p:spPr>
      </p:sp>
      <p:sp>
        <p:nvSpPr>
          <p:cNvPr id="25" name="Shape 23"/>
          <p:cNvSpPr/>
          <p:nvPr/>
        </p:nvSpPr>
        <p:spPr>
          <a:xfrm>
            <a:off x="7452360" y="1554480"/>
            <a:ext cx="274320" cy="274320"/>
          </a:xfrm>
          <a:prstGeom prst="ellipse">
            <a:avLst/>
          </a:prstGeom>
          <a:solidFill>
            <a:srgbClr val="7F7F7F"/>
          </a:solidFill>
          <a:ln w="9525">
            <a:solidFill>
              <a:srgbClr val="FFFFFF"/>
            </a:solidFill>
            <a:prstDash val="solid"/>
          </a:ln>
        </p:spPr>
      </p:sp>
      <p:sp>
        <p:nvSpPr>
          <p:cNvPr id="26" name="Text 24"/>
          <p:cNvSpPr txBox="1"/>
          <p:nvPr/>
        </p:nvSpPr>
        <p:spPr>
          <a:xfrm>
            <a:off x="7452360" y="1920240"/>
            <a:ext cx="1737360" cy="777240"/>
          </a:xfrm>
          <a:prstGeom prst="rect">
            <a:avLst/>
          </a:prstGeom>
          <a:noFill/>
          <a:ln/>
        </p:spPr>
        <p:txBody>
          <a:bodyPr wrap="square" lIns="0" tIns="0" rIns="0" bIns="0" rtlCol="0" anchor="t"/>
          <a:lstStyle/>
          <a:p>
            <a:pPr marL="0" indent="0">
              <a:buNone/>
            </a:pPr>
            <a:r>
              <a:rPr lang="en-US" sz="1500" b="1" dirty="0">
                <a:solidFill>
                  <a:srgbClr val="1F2937"/>
                </a:solidFill>
                <a:latin typeface="Cambria" pitchFamily="34" charset="0"/>
                <a:ea typeface="Cambria" pitchFamily="34" charset="-122"/>
                <a:cs typeface="Cambria" pitchFamily="34" charset="-120"/>
              </a:rPr>
              <a:t>High-Income Low-Spending Customers</a:t>
            </a:r>
            <a:endParaRPr lang="en-US" sz="1500" dirty="0"/>
          </a:p>
        </p:txBody>
      </p:sp>
      <p:sp>
        <p:nvSpPr>
          <p:cNvPr id="27" name="Text 25"/>
          <p:cNvSpPr txBox="1"/>
          <p:nvPr/>
        </p:nvSpPr>
        <p:spPr>
          <a:xfrm>
            <a:off x="7452360" y="2743200"/>
            <a:ext cx="1737360" cy="274320"/>
          </a:xfrm>
          <a:prstGeom prst="rect">
            <a:avLst/>
          </a:prstGeom>
          <a:noFill/>
          <a:ln/>
        </p:spPr>
        <p:txBody>
          <a:bodyPr wrap="square" lIns="0" tIns="0" rIns="0" bIns="0" rtlCol="0" anchor="t"/>
          <a:lstStyle/>
          <a:p>
            <a:pPr marL="0" indent="0">
              <a:buNone/>
            </a:pPr>
            <a:r>
              <a:rPr lang="en-US" sz="1200" b="1" dirty="0">
                <a:solidFill>
                  <a:srgbClr val="2F5D8C"/>
                </a:solidFill>
                <a:latin typeface="Calibri" pitchFamily="34" charset="0"/>
                <a:ea typeface="Calibri" pitchFamily="34" charset="-122"/>
                <a:cs typeface="Calibri" pitchFamily="34" charset="-120"/>
              </a:rPr>
              <a:t>35 • 17.5%</a:t>
            </a:r>
            <a:endParaRPr lang="en-US" sz="1200" dirty="0"/>
          </a:p>
        </p:txBody>
      </p:sp>
      <p:sp>
        <p:nvSpPr>
          <p:cNvPr id="28" name="Text 26"/>
          <p:cNvSpPr txBox="1"/>
          <p:nvPr/>
        </p:nvSpPr>
        <p:spPr>
          <a:xfrm>
            <a:off x="7452360" y="3017520"/>
            <a:ext cx="1737360" cy="274320"/>
          </a:xfrm>
          <a:prstGeom prst="rect">
            <a:avLst/>
          </a:prstGeom>
          <a:noFill/>
          <a:ln/>
        </p:spPr>
        <p:txBody>
          <a:bodyPr wrap="square" lIns="0" tIns="0" rIns="0" bIns="0" rtlCol="0" anchor="t"/>
          <a:lstStyle/>
          <a:p>
            <a:pPr marL="0" indent="0">
              <a:buNone/>
            </a:pPr>
            <a:r>
              <a:rPr lang="en-US" sz="1100" dirty="0">
                <a:solidFill>
                  <a:srgbClr val="5B6678"/>
                </a:solidFill>
                <a:latin typeface="Calibri" pitchFamily="34" charset="0"/>
                <a:ea typeface="Calibri" pitchFamily="34" charset="-122"/>
                <a:cs typeface="Calibri" pitchFamily="34" charset="-120"/>
              </a:rPr>
              <a:t>Income 88.2k • Score 17.1</a:t>
            </a:r>
            <a:endParaRPr lang="en-US" sz="1100" dirty="0"/>
          </a:p>
        </p:txBody>
      </p:sp>
      <p:sp>
        <p:nvSpPr>
          <p:cNvPr id="29" name="Text 27"/>
          <p:cNvSpPr txBox="1"/>
          <p:nvPr/>
        </p:nvSpPr>
        <p:spPr>
          <a:xfrm>
            <a:off x="7452360" y="3429000"/>
            <a:ext cx="1737360" cy="868680"/>
          </a:xfrm>
          <a:prstGeom prst="rect">
            <a:avLst/>
          </a:prstGeom>
          <a:noFill/>
          <a:ln/>
        </p:spPr>
        <p:txBody>
          <a:bodyPr wrap="square" lIns="0" tIns="0" rIns="0" bIns="0" rtlCol="0" anchor="t"/>
          <a:lstStyle/>
          <a:p>
            <a:pPr marL="0" indent="0">
              <a:buNone/>
            </a:pPr>
            <a:r>
              <a:rPr lang="en-US" sz="1200" dirty="0">
                <a:solidFill>
                  <a:srgbClr val="374151"/>
                </a:solidFill>
                <a:latin typeface="Calibri" pitchFamily="34" charset="0"/>
                <a:ea typeface="Calibri" pitchFamily="34" charset="-122"/>
                <a:cs typeface="Calibri" pitchFamily="34" charset="-120"/>
              </a:rPr>
              <a:t>High income but relatively low spending score.</a:t>
            </a:r>
            <a:endParaRPr lang="en-US" sz="1200" dirty="0"/>
          </a:p>
        </p:txBody>
      </p:sp>
      <p:sp>
        <p:nvSpPr>
          <p:cNvPr id="30" name="Text 28"/>
          <p:cNvSpPr txBox="1"/>
          <p:nvPr/>
        </p:nvSpPr>
        <p:spPr>
          <a:xfrm>
            <a:off x="7452360" y="4297680"/>
            <a:ext cx="1737360" cy="1143000"/>
          </a:xfrm>
          <a:prstGeom prst="rect">
            <a:avLst/>
          </a:prstGeom>
          <a:noFill/>
          <a:ln/>
        </p:spPr>
        <p:txBody>
          <a:bodyPr wrap="square" lIns="0" tIns="0" rIns="0" bIns="0" rtlCol="0" anchor="t"/>
          <a:lstStyle/>
          <a:p>
            <a:pPr marL="0" indent="0">
              <a:buNone/>
            </a:pPr>
            <a:r>
              <a:rPr lang="en-US" sz="1200" b="1" dirty="0">
                <a:solidFill>
                  <a:srgbClr val="6B5CA5"/>
                </a:solidFill>
                <a:latin typeface="Calibri" pitchFamily="34" charset="0"/>
                <a:ea typeface="Calibri" pitchFamily="34" charset="-122"/>
                <a:cs typeface="Calibri" pitchFamily="34" charset="-120"/>
              </a:rPr>
              <a:t>Possible action: </a:t>
            </a:r>
            <a:r>
              <a:rPr lang="en-US" sz="1200" dirty="0">
                <a:solidFill>
                  <a:srgbClr val="374151"/>
                </a:solidFill>
                <a:latin typeface="Calibri" pitchFamily="34" charset="0"/>
                <a:ea typeface="Calibri" pitchFamily="34" charset="-122"/>
                <a:cs typeface="Calibri" pitchFamily="34" charset="-120"/>
              </a:rPr>
              <a:t>Investigate barriers to spending; targeted engagement.</a:t>
            </a:r>
            <a:endParaRPr lang="en-US" sz="1200" dirty="0"/>
          </a:p>
        </p:txBody>
      </p:sp>
      <p:sp>
        <p:nvSpPr>
          <p:cNvPr id="31" name="card"/>
          <p:cNvSpPr/>
          <p:nvPr/>
        </p:nvSpPr>
        <p:spPr>
          <a:xfrm>
            <a:off x="9509760" y="1371600"/>
            <a:ext cx="2103120" cy="4160520"/>
          </a:xfrm>
          <a:prstGeom prst="roundRect">
            <a:avLst>
              <a:gd name="adj" fmla="val 1739"/>
            </a:avLst>
          </a:prstGeom>
          <a:solidFill>
            <a:srgbClr val="FFFFFF"/>
          </a:solidFill>
          <a:ln w="9525">
            <a:solidFill>
              <a:srgbClr val="D3DAE5"/>
            </a:solidFill>
            <a:prstDash val="solid"/>
          </a:ln>
        </p:spPr>
      </p:sp>
      <p:sp>
        <p:nvSpPr>
          <p:cNvPr id="32" name="Shape 30"/>
          <p:cNvSpPr/>
          <p:nvPr/>
        </p:nvSpPr>
        <p:spPr>
          <a:xfrm>
            <a:off x="9692640" y="1554480"/>
            <a:ext cx="274320" cy="274320"/>
          </a:xfrm>
          <a:prstGeom prst="ellipse">
            <a:avLst/>
          </a:prstGeom>
          <a:solidFill>
            <a:srgbClr val="17BECF"/>
          </a:solidFill>
          <a:ln w="9525">
            <a:solidFill>
              <a:srgbClr val="FFFFFF"/>
            </a:solidFill>
            <a:prstDash val="solid"/>
          </a:ln>
        </p:spPr>
      </p:sp>
      <p:sp>
        <p:nvSpPr>
          <p:cNvPr id="33" name="Text 31"/>
          <p:cNvSpPr txBox="1"/>
          <p:nvPr/>
        </p:nvSpPr>
        <p:spPr>
          <a:xfrm>
            <a:off x="9692640" y="1920240"/>
            <a:ext cx="1737360" cy="777240"/>
          </a:xfrm>
          <a:prstGeom prst="rect">
            <a:avLst/>
          </a:prstGeom>
          <a:noFill/>
          <a:ln/>
        </p:spPr>
        <p:txBody>
          <a:bodyPr wrap="square" lIns="0" tIns="0" rIns="0" bIns="0" rtlCol="0" anchor="t"/>
          <a:lstStyle/>
          <a:p>
            <a:pPr marL="0" indent="0">
              <a:buNone/>
            </a:pPr>
            <a:r>
              <a:rPr lang="en-US" sz="1500" b="1" dirty="0">
                <a:solidFill>
                  <a:srgbClr val="1F2937"/>
                </a:solidFill>
                <a:latin typeface="Cambria" pitchFamily="34" charset="0"/>
                <a:ea typeface="Cambria" pitchFamily="34" charset="-122"/>
                <a:cs typeface="Cambria" pitchFamily="34" charset="-120"/>
              </a:rPr>
              <a:t>Low-Engagement Customers</a:t>
            </a:r>
            <a:endParaRPr lang="en-US" sz="1500" dirty="0"/>
          </a:p>
        </p:txBody>
      </p:sp>
      <p:sp>
        <p:nvSpPr>
          <p:cNvPr id="34" name="Text 32"/>
          <p:cNvSpPr txBox="1"/>
          <p:nvPr/>
        </p:nvSpPr>
        <p:spPr>
          <a:xfrm>
            <a:off x="9692640" y="2743200"/>
            <a:ext cx="1737360" cy="274320"/>
          </a:xfrm>
          <a:prstGeom prst="rect">
            <a:avLst/>
          </a:prstGeom>
          <a:noFill/>
          <a:ln/>
        </p:spPr>
        <p:txBody>
          <a:bodyPr wrap="square" lIns="0" tIns="0" rIns="0" bIns="0" rtlCol="0" anchor="t"/>
          <a:lstStyle/>
          <a:p>
            <a:pPr marL="0" indent="0">
              <a:buNone/>
            </a:pPr>
            <a:r>
              <a:rPr lang="en-US" sz="1200" b="1" dirty="0">
                <a:solidFill>
                  <a:srgbClr val="2F5D8C"/>
                </a:solidFill>
                <a:latin typeface="Calibri" pitchFamily="34" charset="0"/>
                <a:ea typeface="Calibri" pitchFamily="34" charset="-122"/>
                <a:cs typeface="Calibri" pitchFamily="34" charset="-120"/>
              </a:rPr>
              <a:t>23 • 11.5%</a:t>
            </a:r>
            <a:endParaRPr lang="en-US" sz="1200" dirty="0"/>
          </a:p>
        </p:txBody>
      </p:sp>
      <p:sp>
        <p:nvSpPr>
          <p:cNvPr id="35" name="Text 33"/>
          <p:cNvSpPr txBox="1"/>
          <p:nvPr/>
        </p:nvSpPr>
        <p:spPr>
          <a:xfrm>
            <a:off x="9692640" y="3017520"/>
            <a:ext cx="1737360" cy="274320"/>
          </a:xfrm>
          <a:prstGeom prst="rect">
            <a:avLst/>
          </a:prstGeom>
          <a:noFill/>
          <a:ln/>
        </p:spPr>
        <p:txBody>
          <a:bodyPr wrap="square" lIns="0" tIns="0" rIns="0" bIns="0" rtlCol="0" anchor="t"/>
          <a:lstStyle/>
          <a:p>
            <a:pPr marL="0" indent="0">
              <a:buNone/>
            </a:pPr>
            <a:r>
              <a:rPr lang="en-US" sz="1100" dirty="0">
                <a:solidFill>
                  <a:srgbClr val="5B6678"/>
                </a:solidFill>
                <a:latin typeface="Calibri" pitchFamily="34" charset="0"/>
                <a:ea typeface="Calibri" pitchFamily="34" charset="-122"/>
                <a:cs typeface="Calibri" pitchFamily="34" charset="-120"/>
              </a:rPr>
              <a:t>Income 26.3k • Score 20.9</a:t>
            </a:r>
            <a:endParaRPr lang="en-US" sz="1100" dirty="0"/>
          </a:p>
        </p:txBody>
      </p:sp>
      <p:sp>
        <p:nvSpPr>
          <p:cNvPr id="36" name="Text 34"/>
          <p:cNvSpPr txBox="1"/>
          <p:nvPr/>
        </p:nvSpPr>
        <p:spPr>
          <a:xfrm>
            <a:off x="9692640" y="3429000"/>
            <a:ext cx="1737360" cy="868680"/>
          </a:xfrm>
          <a:prstGeom prst="rect">
            <a:avLst/>
          </a:prstGeom>
          <a:noFill/>
          <a:ln/>
        </p:spPr>
        <p:txBody>
          <a:bodyPr wrap="square" lIns="0" tIns="0" rIns="0" bIns="0" rtlCol="0" anchor="t"/>
          <a:lstStyle/>
          <a:p>
            <a:pPr marL="0" indent="0">
              <a:buNone/>
            </a:pPr>
            <a:r>
              <a:rPr lang="en-US" sz="1200" dirty="0">
                <a:solidFill>
                  <a:srgbClr val="374151"/>
                </a:solidFill>
                <a:latin typeface="Calibri" pitchFamily="34" charset="0"/>
                <a:ea typeface="Calibri" pitchFamily="34" charset="-122"/>
                <a:cs typeface="Calibri" pitchFamily="34" charset="-120"/>
              </a:rPr>
              <a:t>Relatively low income and low spending score.</a:t>
            </a:r>
            <a:endParaRPr lang="en-US" sz="1200" dirty="0"/>
          </a:p>
        </p:txBody>
      </p:sp>
      <p:sp>
        <p:nvSpPr>
          <p:cNvPr id="37" name="Text 35"/>
          <p:cNvSpPr txBox="1"/>
          <p:nvPr/>
        </p:nvSpPr>
        <p:spPr>
          <a:xfrm>
            <a:off x="9692640" y="4297680"/>
            <a:ext cx="1737360" cy="1143000"/>
          </a:xfrm>
          <a:prstGeom prst="rect">
            <a:avLst/>
          </a:prstGeom>
          <a:noFill/>
          <a:ln/>
        </p:spPr>
        <p:txBody>
          <a:bodyPr wrap="square" lIns="0" tIns="0" rIns="0" bIns="0" rtlCol="0" anchor="t"/>
          <a:lstStyle/>
          <a:p>
            <a:pPr marL="0" indent="0">
              <a:buNone/>
            </a:pPr>
            <a:r>
              <a:rPr lang="en-US" sz="1200" b="1" dirty="0">
                <a:solidFill>
                  <a:srgbClr val="6B5CA5"/>
                </a:solidFill>
                <a:latin typeface="Calibri" pitchFamily="34" charset="0"/>
                <a:ea typeface="Calibri" pitchFamily="34" charset="-122"/>
                <a:cs typeface="Calibri" pitchFamily="34" charset="-120"/>
              </a:rPr>
              <a:t>Possible action: </a:t>
            </a:r>
            <a:r>
              <a:rPr lang="en-US" sz="1200" dirty="0">
                <a:solidFill>
                  <a:srgbClr val="374151"/>
                </a:solidFill>
                <a:latin typeface="Calibri" pitchFamily="34" charset="0"/>
                <a:ea typeface="Calibri" pitchFamily="34" charset="-122"/>
                <a:cs typeface="Calibri" pitchFamily="34" charset="-120"/>
              </a:rPr>
              <a:t>Introductory offers and engagement campaigns.</a:t>
            </a:r>
            <a:endParaRPr lang="en-US" sz="1200" dirty="0"/>
          </a:p>
        </p:txBody>
      </p:sp>
      <p:sp>
        <p:nvSpPr>
          <p:cNvPr id="38" name="card"/>
          <p:cNvSpPr/>
          <p:nvPr/>
        </p:nvSpPr>
        <p:spPr>
          <a:xfrm>
            <a:off x="548640" y="5669280"/>
            <a:ext cx="11109960" cy="548640"/>
          </a:xfrm>
          <a:prstGeom prst="roundRect">
            <a:avLst>
              <a:gd name="adj" fmla="val 6667"/>
            </a:avLst>
          </a:prstGeom>
          <a:solidFill>
            <a:srgbClr val="FFF6E0"/>
          </a:solidFill>
          <a:ln w="9525">
            <a:solidFill>
              <a:srgbClr val="B7791F"/>
            </a:solidFill>
            <a:prstDash val="solid"/>
          </a:ln>
        </p:spPr>
      </p:sp>
      <p:sp>
        <p:nvSpPr>
          <p:cNvPr id="39" name="Text 37"/>
          <p:cNvSpPr txBox="1"/>
          <p:nvPr/>
        </p:nvSpPr>
        <p:spPr>
          <a:xfrm>
            <a:off x="731520" y="5669280"/>
            <a:ext cx="10789920" cy="548640"/>
          </a:xfrm>
          <a:prstGeom prst="rect">
            <a:avLst/>
          </a:prstGeom>
          <a:noFill/>
          <a:ln/>
        </p:spPr>
        <p:txBody>
          <a:bodyPr wrap="square" lIns="0" tIns="0" rIns="0" bIns="0" rtlCol="0" anchor="ctr"/>
          <a:lstStyle/>
          <a:p>
            <a:pPr marL="0" indent="0">
              <a:buNone/>
            </a:pPr>
            <a:r>
              <a:rPr lang="en-US" sz="1200" dirty="0">
                <a:solidFill>
                  <a:srgbClr val="6B4E0E"/>
                </a:solidFill>
                <a:latin typeface="Calibri" pitchFamily="34" charset="0"/>
                <a:ea typeface="Calibri" pitchFamily="34" charset="-122"/>
                <a:cs typeface="Calibri" pitchFamily="34" charset="-120"/>
              </a:rPr>
              <a:t>Labels are descriptive analytical interpretations of cluster averages — not ground-truth customer categories. Actions are suggestions, not tested outcomes.</a:t>
            </a:r>
            <a:endParaRPr lang="en-US" sz="1200" dirty="0"/>
          </a:p>
        </p:txBody>
      </p:sp>
      <p:sp>
        <p:nvSpPr>
          <p:cNvPr id="40"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8599"/>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64240" cy="777240"/>
          </a:xfrm>
          <a:prstGeom prst="rect">
            <a:avLst/>
          </a:prstGeom>
          <a:noFill/>
          <a:ln/>
        </p:spPr>
        <p:txBody>
          <a:bodyPr wrap="square" lIns="0" tIns="0" rIns="0" bIns="0" rtlCol="0" anchor="ctr"/>
          <a:lstStyle/>
          <a:p>
            <a:pPr marL="0" indent="0">
              <a:buNone/>
            </a:pPr>
            <a:r>
              <a:rPr lang="en-US" sz="3200" b="1" dirty="0">
                <a:solidFill>
                  <a:srgbClr val="1F2937"/>
                </a:solidFill>
                <a:latin typeface="Cambria" pitchFamily="34" charset="0"/>
                <a:ea typeface="Cambria" pitchFamily="34" charset="-122"/>
                <a:cs typeface="Cambria" pitchFamily="34" charset="-120"/>
              </a:rPr>
              <a:t>CustomerLens Application (React Dashboard)</a:t>
            </a:r>
            <a:endParaRPr lang="en-US" sz="3200" dirty="0"/>
          </a:p>
        </p:txBody>
      </p:sp>
      <p:sp>
        <p:nvSpPr>
          <p:cNvPr id="3" name="Shape 1"/>
          <p:cNvSpPr/>
          <p:nvPr/>
        </p:nvSpPr>
        <p:spPr>
          <a:xfrm>
            <a:off x="512064" y="1289304"/>
            <a:ext cx="2724912" cy="1717243"/>
          </a:xfrm>
          <a:prstGeom prst="roundRect">
            <a:avLst>
              <a:gd name="adj" fmla="val 3195"/>
            </a:avLst>
          </a:prstGeom>
          <a:solidFill>
            <a:srgbClr val="FFFFFF"/>
          </a:solidFill>
          <a:ln w="9525">
            <a:solidFill>
              <a:srgbClr val="D3DAE5"/>
            </a:solidFill>
            <a:prstDash val="solid"/>
          </a:ln>
        </p:spPr>
      </p:sp>
      <p:pic>
        <p:nvPicPr>
          <p:cNvPr id="4" name="Image 0" descr="CustomerLens React page: Overview"/>
          <p:cNvPicPr>
            <a:picLocks noChangeAspect="1"/>
          </p:cNvPicPr>
          <p:nvPr/>
        </p:nvPicPr>
        <p:blipFill>
          <a:blip r:embed="rId3"/>
          <a:stretch>
            <a:fillRect/>
          </a:stretch>
        </p:blipFill>
        <p:spPr>
          <a:xfrm>
            <a:off x="548640" y="1325880"/>
            <a:ext cx="2651760" cy="1644091"/>
          </a:xfrm>
          <a:prstGeom prst="rect">
            <a:avLst/>
          </a:prstGeom>
        </p:spPr>
      </p:pic>
      <p:sp>
        <p:nvSpPr>
          <p:cNvPr id="5" name="Text 2"/>
          <p:cNvSpPr txBox="1"/>
          <p:nvPr/>
        </p:nvSpPr>
        <p:spPr>
          <a:xfrm>
            <a:off x="548640" y="3061411"/>
            <a:ext cx="2651760" cy="274320"/>
          </a:xfrm>
          <a:prstGeom prst="rect">
            <a:avLst/>
          </a:prstGeom>
          <a:noFill/>
          <a:ln/>
        </p:spPr>
        <p:txBody>
          <a:bodyPr wrap="square" lIns="0" tIns="0" rIns="0" bIns="0" rtlCol="0" anchor="t"/>
          <a:lstStyle/>
          <a:p>
            <a:pPr marL="0" indent="0" algn="ctr">
              <a:buNone/>
            </a:pPr>
            <a:r>
              <a:rPr lang="en-US" sz="1300" b="1" dirty="0">
                <a:solidFill>
                  <a:srgbClr val="1F2937"/>
                </a:solidFill>
                <a:latin typeface="Calibri" pitchFamily="34" charset="0"/>
                <a:ea typeface="Calibri" pitchFamily="34" charset="-122"/>
                <a:cs typeface="Calibri" pitchFamily="34" charset="-120"/>
              </a:rPr>
              <a:t>Overview</a:t>
            </a:r>
            <a:endParaRPr lang="en-US" sz="1300" dirty="0"/>
          </a:p>
        </p:txBody>
      </p:sp>
      <p:sp>
        <p:nvSpPr>
          <p:cNvPr id="6" name="Shape 3"/>
          <p:cNvSpPr/>
          <p:nvPr/>
        </p:nvSpPr>
        <p:spPr>
          <a:xfrm>
            <a:off x="3328416" y="1289304"/>
            <a:ext cx="2724912" cy="1717243"/>
          </a:xfrm>
          <a:prstGeom prst="roundRect">
            <a:avLst>
              <a:gd name="adj" fmla="val 3195"/>
            </a:avLst>
          </a:prstGeom>
          <a:solidFill>
            <a:srgbClr val="FFFFFF"/>
          </a:solidFill>
          <a:ln w="9525">
            <a:solidFill>
              <a:srgbClr val="D3DAE5"/>
            </a:solidFill>
            <a:prstDash val="solid"/>
          </a:ln>
        </p:spPr>
      </p:sp>
      <p:pic>
        <p:nvPicPr>
          <p:cNvPr id="7" name="Image 1" descr="CustomerLens React page: Data Quality"/>
          <p:cNvPicPr>
            <a:picLocks noChangeAspect="1"/>
          </p:cNvPicPr>
          <p:nvPr/>
        </p:nvPicPr>
        <p:blipFill>
          <a:blip r:embed="rId4"/>
          <a:stretch>
            <a:fillRect/>
          </a:stretch>
        </p:blipFill>
        <p:spPr>
          <a:xfrm>
            <a:off x="3364992" y="1325880"/>
            <a:ext cx="2651760" cy="1644091"/>
          </a:xfrm>
          <a:prstGeom prst="rect">
            <a:avLst/>
          </a:prstGeom>
        </p:spPr>
      </p:pic>
      <p:sp>
        <p:nvSpPr>
          <p:cNvPr id="8" name="Text 4"/>
          <p:cNvSpPr txBox="1"/>
          <p:nvPr/>
        </p:nvSpPr>
        <p:spPr>
          <a:xfrm>
            <a:off x="3364992" y="3061411"/>
            <a:ext cx="2651760" cy="274320"/>
          </a:xfrm>
          <a:prstGeom prst="rect">
            <a:avLst/>
          </a:prstGeom>
          <a:noFill/>
          <a:ln/>
        </p:spPr>
        <p:txBody>
          <a:bodyPr wrap="square" lIns="0" tIns="0" rIns="0" bIns="0" rtlCol="0" anchor="t"/>
          <a:lstStyle/>
          <a:p>
            <a:pPr marL="0" indent="0" algn="ctr">
              <a:buNone/>
            </a:pPr>
            <a:r>
              <a:rPr lang="en-US" sz="1300" b="1" dirty="0">
                <a:solidFill>
                  <a:srgbClr val="1F2937"/>
                </a:solidFill>
                <a:latin typeface="Calibri" pitchFamily="34" charset="0"/>
                <a:ea typeface="Calibri" pitchFamily="34" charset="-122"/>
                <a:cs typeface="Calibri" pitchFamily="34" charset="-120"/>
              </a:rPr>
              <a:t>Data Quality</a:t>
            </a:r>
            <a:endParaRPr lang="en-US" sz="1300" dirty="0"/>
          </a:p>
        </p:txBody>
      </p:sp>
      <p:sp>
        <p:nvSpPr>
          <p:cNvPr id="9" name="Shape 5"/>
          <p:cNvSpPr/>
          <p:nvPr/>
        </p:nvSpPr>
        <p:spPr>
          <a:xfrm>
            <a:off x="6144768" y="1289304"/>
            <a:ext cx="2724912" cy="1717243"/>
          </a:xfrm>
          <a:prstGeom prst="roundRect">
            <a:avLst>
              <a:gd name="adj" fmla="val 3195"/>
            </a:avLst>
          </a:prstGeom>
          <a:solidFill>
            <a:srgbClr val="FFFFFF"/>
          </a:solidFill>
          <a:ln w="9525">
            <a:solidFill>
              <a:srgbClr val="D3DAE5"/>
            </a:solidFill>
            <a:prstDash val="solid"/>
          </a:ln>
        </p:spPr>
      </p:sp>
      <p:pic>
        <p:nvPicPr>
          <p:cNvPr id="10" name="Image 2" descr="CustomerLens React page: Optimal K"/>
          <p:cNvPicPr>
            <a:picLocks noChangeAspect="1"/>
          </p:cNvPicPr>
          <p:nvPr/>
        </p:nvPicPr>
        <p:blipFill>
          <a:blip r:embed="rId5"/>
          <a:stretch>
            <a:fillRect/>
          </a:stretch>
        </p:blipFill>
        <p:spPr>
          <a:xfrm>
            <a:off x="6181344" y="1325880"/>
            <a:ext cx="2651760" cy="1644091"/>
          </a:xfrm>
          <a:prstGeom prst="rect">
            <a:avLst/>
          </a:prstGeom>
        </p:spPr>
      </p:pic>
      <p:sp>
        <p:nvSpPr>
          <p:cNvPr id="11" name="Text 6"/>
          <p:cNvSpPr txBox="1"/>
          <p:nvPr/>
        </p:nvSpPr>
        <p:spPr>
          <a:xfrm>
            <a:off x="6181344" y="3061411"/>
            <a:ext cx="2651760" cy="274320"/>
          </a:xfrm>
          <a:prstGeom prst="rect">
            <a:avLst/>
          </a:prstGeom>
          <a:noFill/>
          <a:ln/>
        </p:spPr>
        <p:txBody>
          <a:bodyPr wrap="square" lIns="0" tIns="0" rIns="0" bIns="0" rtlCol="0" anchor="t"/>
          <a:lstStyle/>
          <a:p>
            <a:pPr marL="0" indent="0" algn="ctr">
              <a:buNone/>
            </a:pPr>
            <a:r>
              <a:rPr lang="en-US" sz="1300" b="1" dirty="0">
                <a:solidFill>
                  <a:srgbClr val="1F2937"/>
                </a:solidFill>
                <a:latin typeface="Calibri" pitchFamily="34" charset="0"/>
                <a:ea typeface="Calibri" pitchFamily="34" charset="-122"/>
                <a:cs typeface="Calibri" pitchFamily="34" charset="-120"/>
              </a:rPr>
              <a:t>Optimal K</a:t>
            </a:r>
            <a:endParaRPr lang="en-US" sz="1300" dirty="0"/>
          </a:p>
        </p:txBody>
      </p:sp>
      <p:sp>
        <p:nvSpPr>
          <p:cNvPr id="12" name="Shape 7"/>
          <p:cNvSpPr/>
          <p:nvPr/>
        </p:nvSpPr>
        <p:spPr>
          <a:xfrm>
            <a:off x="8961120" y="1289304"/>
            <a:ext cx="2724912" cy="1717243"/>
          </a:xfrm>
          <a:prstGeom prst="roundRect">
            <a:avLst>
              <a:gd name="adj" fmla="val 3195"/>
            </a:avLst>
          </a:prstGeom>
          <a:solidFill>
            <a:srgbClr val="FFFFFF"/>
          </a:solidFill>
          <a:ln w="9525">
            <a:solidFill>
              <a:srgbClr val="D3DAE5"/>
            </a:solidFill>
            <a:prstDash val="solid"/>
          </a:ln>
        </p:spPr>
      </p:sp>
      <p:pic>
        <p:nvPicPr>
          <p:cNvPr id="13" name="Image 3" descr="CustomerLens React page: Cluster Explorer"/>
          <p:cNvPicPr>
            <a:picLocks noChangeAspect="1"/>
          </p:cNvPicPr>
          <p:nvPr/>
        </p:nvPicPr>
        <p:blipFill>
          <a:blip r:embed="rId6"/>
          <a:stretch>
            <a:fillRect/>
          </a:stretch>
        </p:blipFill>
        <p:spPr>
          <a:xfrm>
            <a:off x="8997696" y="1325880"/>
            <a:ext cx="2651760" cy="1644091"/>
          </a:xfrm>
          <a:prstGeom prst="rect">
            <a:avLst/>
          </a:prstGeom>
        </p:spPr>
      </p:pic>
      <p:sp>
        <p:nvSpPr>
          <p:cNvPr id="14" name="Text 8"/>
          <p:cNvSpPr txBox="1"/>
          <p:nvPr/>
        </p:nvSpPr>
        <p:spPr>
          <a:xfrm>
            <a:off x="8997696" y="3061411"/>
            <a:ext cx="2651760" cy="274320"/>
          </a:xfrm>
          <a:prstGeom prst="rect">
            <a:avLst/>
          </a:prstGeom>
          <a:noFill/>
          <a:ln/>
        </p:spPr>
        <p:txBody>
          <a:bodyPr wrap="square" lIns="0" tIns="0" rIns="0" bIns="0" rtlCol="0" anchor="t"/>
          <a:lstStyle/>
          <a:p>
            <a:pPr marL="0" indent="0" algn="ctr">
              <a:buNone/>
            </a:pPr>
            <a:r>
              <a:rPr lang="en-US" sz="1300" b="1" dirty="0">
                <a:solidFill>
                  <a:srgbClr val="1F2937"/>
                </a:solidFill>
                <a:latin typeface="Calibri" pitchFamily="34" charset="0"/>
                <a:ea typeface="Calibri" pitchFamily="34" charset="-122"/>
                <a:cs typeface="Calibri" pitchFamily="34" charset="-120"/>
              </a:rPr>
              <a:t>Cluster Explorer</a:t>
            </a:r>
            <a:endParaRPr lang="en-US" sz="1300" dirty="0"/>
          </a:p>
        </p:txBody>
      </p:sp>
      <p:sp>
        <p:nvSpPr>
          <p:cNvPr id="15" name="Shape 9"/>
          <p:cNvSpPr/>
          <p:nvPr/>
        </p:nvSpPr>
        <p:spPr>
          <a:xfrm>
            <a:off x="512064" y="3500323"/>
            <a:ext cx="2724912" cy="1717243"/>
          </a:xfrm>
          <a:prstGeom prst="roundRect">
            <a:avLst>
              <a:gd name="adj" fmla="val 3195"/>
            </a:avLst>
          </a:prstGeom>
          <a:solidFill>
            <a:srgbClr val="FFFFFF"/>
          </a:solidFill>
          <a:ln w="9525">
            <a:solidFill>
              <a:srgbClr val="D3DAE5"/>
            </a:solidFill>
            <a:prstDash val="solid"/>
          </a:ln>
        </p:spPr>
      </p:sp>
      <p:pic>
        <p:nvPicPr>
          <p:cNvPr id="16" name="Image 4" descr="CustomerLens React page: Algorithm Comparison"/>
          <p:cNvPicPr>
            <a:picLocks noChangeAspect="1"/>
          </p:cNvPicPr>
          <p:nvPr/>
        </p:nvPicPr>
        <p:blipFill>
          <a:blip r:embed="rId7"/>
          <a:stretch>
            <a:fillRect/>
          </a:stretch>
        </p:blipFill>
        <p:spPr>
          <a:xfrm>
            <a:off x="548640" y="3536899"/>
            <a:ext cx="2651760" cy="1644091"/>
          </a:xfrm>
          <a:prstGeom prst="rect">
            <a:avLst/>
          </a:prstGeom>
        </p:spPr>
      </p:pic>
      <p:sp>
        <p:nvSpPr>
          <p:cNvPr id="17" name="Text 10"/>
          <p:cNvSpPr txBox="1"/>
          <p:nvPr/>
        </p:nvSpPr>
        <p:spPr>
          <a:xfrm>
            <a:off x="548640" y="5272430"/>
            <a:ext cx="2651760" cy="274320"/>
          </a:xfrm>
          <a:prstGeom prst="rect">
            <a:avLst/>
          </a:prstGeom>
          <a:noFill/>
          <a:ln/>
        </p:spPr>
        <p:txBody>
          <a:bodyPr wrap="square" lIns="0" tIns="0" rIns="0" bIns="0" rtlCol="0" anchor="t"/>
          <a:lstStyle/>
          <a:p>
            <a:pPr marL="0" indent="0" algn="ctr">
              <a:buNone/>
            </a:pPr>
            <a:r>
              <a:rPr lang="en-US" sz="1300" b="1" dirty="0">
                <a:solidFill>
                  <a:srgbClr val="1F2937"/>
                </a:solidFill>
                <a:latin typeface="Calibri" pitchFamily="34" charset="0"/>
                <a:ea typeface="Calibri" pitchFamily="34" charset="-122"/>
                <a:cs typeface="Calibri" pitchFamily="34" charset="-120"/>
              </a:rPr>
              <a:t>Algorithm Comparison</a:t>
            </a:r>
            <a:endParaRPr lang="en-US" sz="1300" dirty="0"/>
          </a:p>
        </p:txBody>
      </p:sp>
      <p:sp>
        <p:nvSpPr>
          <p:cNvPr id="18" name="Shape 11"/>
          <p:cNvSpPr/>
          <p:nvPr/>
        </p:nvSpPr>
        <p:spPr>
          <a:xfrm>
            <a:off x="3328416" y="3500323"/>
            <a:ext cx="2724912" cy="1717243"/>
          </a:xfrm>
          <a:prstGeom prst="roundRect">
            <a:avLst>
              <a:gd name="adj" fmla="val 3195"/>
            </a:avLst>
          </a:prstGeom>
          <a:solidFill>
            <a:srgbClr val="FFFFFF"/>
          </a:solidFill>
          <a:ln w="9525">
            <a:solidFill>
              <a:srgbClr val="D3DAE5"/>
            </a:solidFill>
            <a:prstDash val="solid"/>
          </a:ln>
        </p:spPr>
      </p:sp>
      <p:pic>
        <p:nvPicPr>
          <p:cNvPr id="19" name="Image 5" descr="CustomerLens React page: Business Insights"/>
          <p:cNvPicPr>
            <a:picLocks noChangeAspect="1"/>
          </p:cNvPicPr>
          <p:nvPr/>
        </p:nvPicPr>
        <p:blipFill>
          <a:blip r:embed="rId8"/>
          <a:stretch>
            <a:fillRect/>
          </a:stretch>
        </p:blipFill>
        <p:spPr>
          <a:xfrm>
            <a:off x="3364992" y="3536899"/>
            <a:ext cx="2651760" cy="1644091"/>
          </a:xfrm>
          <a:prstGeom prst="rect">
            <a:avLst/>
          </a:prstGeom>
        </p:spPr>
      </p:pic>
      <p:sp>
        <p:nvSpPr>
          <p:cNvPr id="20" name="Text 12"/>
          <p:cNvSpPr txBox="1"/>
          <p:nvPr/>
        </p:nvSpPr>
        <p:spPr>
          <a:xfrm>
            <a:off x="3364992" y="5272430"/>
            <a:ext cx="2651760" cy="274320"/>
          </a:xfrm>
          <a:prstGeom prst="rect">
            <a:avLst/>
          </a:prstGeom>
          <a:noFill/>
          <a:ln/>
        </p:spPr>
        <p:txBody>
          <a:bodyPr wrap="square" lIns="0" tIns="0" rIns="0" bIns="0" rtlCol="0" anchor="t"/>
          <a:lstStyle/>
          <a:p>
            <a:pPr marL="0" indent="0" algn="ctr">
              <a:buNone/>
            </a:pPr>
            <a:r>
              <a:rPr lang="en-US" sz="1300" b="1" dirty="0">
                <a:solidFill>
                  <a:srgbClr val="1F2937"/>
                </a:solidFill>
                <a:latin typeface="Calibri" pitchFamily="34" charset="0"/>
                <a:ea typeface="Calibri" pitchFamily="34" charset="-122"/>
                <a:cs typeface="Calibri" pitchFamily="34" charset="-120"/>
              </a:rPr>
              <a:t>Business Insights</a:t>
            </a:r>
            <a:endParaRPr lang="en-US" sz="1300" dirty="0"/>
          </a:p>
        </p:txBody>
      </p:sp>
      <p:sp>
        <p:nvSpPr>
          <p:cNvPr id="21" name="Shape 13"/>
          <p:cNvSpPr/>
          <p:nvPr/>
        </p:nvSpPr>
        <p:spPr>
          <a:xfrm>
            <a:off x="6144768" y="3500323"/>
            <a:ext cx="2724912" cy="1717243"/>
          </a:xfrm>
          <a:prstGeom prst="roundRect">
            <a:avLst>
              <a:gd name="adj" fmla="val 3195"/>
            </a:avLst>
          </a:prstGeom>
          <a:solidFill>
            <a:srgbClr val="FFFFFF"/>
          </a:solidFill>
          <a:ln w="9525">
            <a:solidFill>
              <a:srgbClr val="D3DAE5"/>
            </a:solidFill>
            <a:prstDash val="solid"/>
          </a:ln>
        </p:spPr>
      </p:sp>
      <p:pic>
        <p:nvPicPr>
          <p:cNvPr id="22" name="Image 6" descr="CustomerLens React page: Customer Explorer"/>
          <p:cNvPicPr>
            <a:picLocks noChangeAspect="1"/>
          </p:cNvPicPr>
          <p:nvPr/>
        </p:nvPicPr>
        <p:blipFill>
          <a:blip r:embed="rId9"/>
          <a:stretch>
            <a:fillRect/>
          </a:stretch>
        </p:blipFill>
        <p:spPr>
          <a:xfrm>
            <a:off x="6181344" y="3536899"/>
            <a:ext cx="2651760" cy="1644091"/>
          </a:xfrm>
          <a:prstGeom prst="rect">
            <a:avLst/>
          </a:prstGeom>
        </p:spPr>
      </p:pic>
      <p:sp>
        <p:nvSpPr>
          <p:cNvPr id="23" name="Text 14"/>
          <p:cNvSpPr txBox="1"/>
          <p:nvPr/>
        </p:nvSpPr>
        <p:spPr>
          <a:xfrm>
            <a:off x="6181344" y="5272430"/>
            <a:ext cx="2651760" cy="274320"/>
          </a:xfrm>
          <a:prstGeom prst="rect">
            <a:avLst/>
          </a:prstGeom>
          <a:noFill/>
          <a:ln/>
        </p:spPr>
        <p:txBody>
          <a:bodyPr wrap="square" lIns="0" tIns="0" rIns="0" bIns="0" rtlCol="0" anchor="t"/>
          <a:lstStyle/>
          <a:p>
            <a:pPr marL="0" indent="0" algn="ctr">
              <a:buNone/>
            </a:pPr>
            <a:r>
              <a:rPr lang="en-US" sz="1300" b="1" dirty="0">
                <a:solidFill>
                  <a:srgbClr val="1F2937"/>
                </a:solidFill>
                <a:latin typeface="Calibri" pitchFamily="34" charset="0"/>
                <a:ea typeface="Calibri" pitchFamily="34" charset="-122"/>
                <a:cs typeface="Calibri" pitchFamily="34" charset="-120"/>
              </a:rPr>
              <a:t>Customer Explorer</a:t>
            </a:r>
            <a:endParaRPr lang="en-US" sz="1300" dirty="0"/>
          </a:p>
        </p:txBody>
      </p:sp>
      <p:sp>
        <p:nvSpPr>
          <p:cNvPr id="24" name="card"/>
          <p:cNvSpPr/>
          <p:nvPr/>
        </p:nvSpPr>
        <p:spPr>
          <a:xfrm>
            <a:off x="8997696" y="3500323"/>
            <a:ext cx="2724912" cy="1717243"/>
          </a:xfrm>
          <a:prstGeom prst="roundRect">
            <a:avLst>
              <a:gd name="adj" fmla="val 2130"/>
            </a:avLst>
          </a:prstGeom>
          <a:solidFill>
            <a:srgbClr val="EDF1F7"/>
          </a:solidFill>
          <a:ln w="9525">
            <a:solidFill>
              <a:srgbClr val="D3DAE5"/>
            </a:solidFill>
            <a:prstDash val="solid"/>
          </a:ln>
        </p:spPr>
      </p:sp>
      <p:sp>
        <p:nvSpPr>
          <p:cNvPr id="25" name="Text 16"/>
          <p:cNvSpPr txBox="1"/>
          <p:nvPr/>
        </p:nvSpPr>
        <p:spPr>
          <a:xfrm>
            <a:off x="9134856" y="3591763"/>
            <a:ext cx="2468880" cy="1552651"/>
          </a:xfrm>
          <a:prstGeom prst="rect">
            <a:avLst/>
          </a:prstGeom>
          <a:noFill/>
          <a:ln/>
        </p:spPr>
        <p:txBody>
          <a:bodyPr wrap="square" lIns="0" tIns="0" rIns="0" bIns="0" rtlCol="0" anchor="ctr"/>
          <a:lstStyle/>
          <a:p>
            <a:pPr marL="0" indent="0">
              <a:spcAft>
                <a:spcPts val="400"/>
              </a:spcAft>
              <a:buNone/>
            </a:pPr>
            <a:r>
              <a:rPr lang="en-US" sz="1200" b="1" dirty="0">
                <a:solidFill>
                  <a:srgbClr val="2F5D8C"/>
                </a:solidFill>
                <a:latin typeface="Calibri" pitchFamily="34" charset="0"/>
                <a:ea typeface="Calibri" pitchFamily="34" charset="-122"/>
                <a:cs typeface="Calibri" pitchFamily="34" charset="-120"/>
              </a:rPr>
              <a:t>React + Vite + TypeScript</a:t>
            </a:r>
            <a:endParaRPr lang="en-US" sz="1200" dirty="0"/>
          </a:p>
          <a:p>
            <a:pPr marL="0" indent="0">
              <a:spcAft>
                <a:spcPts val="400"/>
              </a:spcAft>
              <a:buNone/>
            </a:pPr>
            <a:r>
              <a:rPr lang="en-US" sz="1200" dirty="0">
                <a:solidFill>
                  <a:srgbClr val="374151"/>
                </a:solidFill>
                <a:latin typeface="Calibri" pitchFamily="34" charset="0"/>
                <a:ea typeface="Calibri" pitchFamily="34" charset="-122"/>
                <a:cs typeface="Calibri" pitchFamily="34" charset="-120"/>
              </a:rPr>
              <a:t>Reads customerlens.json exported from the validated Python results</a:t>
            </a:r>
            <a:endParaRPr lang="en-US" sz="1200" dirty="0"/>
          </a:p>
          <a:p>
            <a:pPr marL="0" indent="0">
              <a:spcAft>
                <a:spcPts val="400"/>
              </a:spcAft>
              <a:buNone/>
            </a:pPr>
            <a:r>
              <a:rPr lang="en-US" sz="1200" dirty="0">
                <a:solidFill>
                  <a:srgbClr val="374151"/>
                </a:solidFill>
                <a:latin typeface="Calibri" pitchFamily="34" charset="0"/>
                <a:ea typeface="Calibri" pitchFamily="34" charset="-122"/>
                <a:cs typeface="Calibri" pitchFamily="34" charset="-120"/>
              </a:rPr>
              <a:t>Companion Streamlit app (app.py) with the same seven sections</a:t>
            </a:r>
            <a:endParaRPr lang="en-US" sz="1200" dirty="0"/>
          </a:p>
        </p:txBody>
      </p:sp>
      <p:sp>
        <p:nvSpPr>
          <p:cNvPr id="26" name="Text 17"/>
          <p:cNvSpPr txBox="1"/>
          <p:nvPr/>
        </p:nvSpPr>
        <p:spPr>
          <a:xfrm>
            <a:off x="548640" y="5897880"/>
            <a:ext cx="11064240" cy="457200"/>
          </a:xfrm>
          <a:prstGeom prst="rect">
            <a:avLst/>
          </a:prstGeom>
          <a:noFill/>
          <a:ln/>
        </p:spPr>
        <p:txBody>
          <a:bodyPr wrap="square" lIns="0" tIns="0" rIns="0" bIns="0" rtlCol="0" anchor="t"/>
          <a:lstStyle/>
          <a:p>
            <a:pPr marL="0" indent="0">
              <a:buNone/>
            </a:pPr>
            <a:r>
              <a:rPr lang="en-US" sz="1100" dirty="0">
                <a:solidFill>
                  <a:srgbClr val="5B6678"/>
                </a:solidFill>
                <a:latin typeface="Calibri" pitchFamily="34" charset="0"/>
                <a:ea typeface="Calibri" pitchFamily="34" charset="-122"/>
                <a:cs typeface="Calibri" pitchFamily="34" charset="-120"/>
              </a:rPr>
              <a:t>Overview montage only (cropped project screenshots; larger views on the next slide). Some dashboard pages show the legacy label "Low Income - Low Spending" for Cluster 0; this deck uses "Balanced / Moderate".</a:t>
            </a:r>
            <a:endParaRPr lang="en-US" sz="1100" dirty="0"/>
          </a:p>
        </p:txBody>
      </p:sp>
      <p:sp>
        <p:nvSpPr>
          <p:cNvPr id="27"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8599"/>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64240" cy="777240"/>
          </a:xfrm>
          <a:prstGeom prst="rect">
            <a:avLst/>
          </a:prstGeom>
          <a:noFill/>
          <a:ln/>
        </p:spPr>
        <p:txBody>
          <a:bodyPr wrap="square" lIns="0" tIns="0" rIns="0" bIns="0" rtlCol="0" anchor="ctr"/>
          <a:lstStyle/>
          <a:p>
            <a:pPr marL="0" indent="0">
              <a:buNone/>
            </a:pPr>
            <a:r>
              <a:rPr lang="en-US" sz="3200" b="1" dirty="0">
                <a:solidFill>
                  <a:srgbClr val="1F2937"/>
                </a:solidFill>
                <a:latin typeface="Cambria" pitchFamily="34" charset="0"/>
                <a:ea typeface="Cambria" pitchFamily="34" charset="-122"/>
                <a:cs typeface="Cambria" pitchFamily="34" charset="-120"/>
              </a:rPr>
              <a:t>Dashboard Detail: Optimal K and Comparison</a:t>
            </a:r>
            <a:endParaRPr lang="en-US" sz="3200" dirty="0"/>
          </a:p>
        </p:txBody>
      </p:sp>
      <p:sp>
        <p:nvSpPr>
          <p:cNvPr id="3" name="Shape 1"/>
          <p:cNvSpPr/>
          <p:nvPr/>
        </p:nvSpPr>
        <p:spPr>
          <a:xfrm>
            <a:off x="512064" y="1298448"/>
            <a:ext cx="4962835" cy="3639312"/>
          </a:xfrm>
          <a:prstGeom prst="roundRect">
            <a:avLst>
              <a:gd name="adj" fmla="val 754"/>
            </a:avLst>
          </a:prstGeom>
          <a:solidFill>
            <a:srgbClr val="FFFFFF"/>
          </a:solidFill>
          <a:ln w="9525">
            <a:solidFill>
              <a:srgbClr val="D3DAE5"/>
            </a:solidFill>
            <a:prstDash val="solid"/>
          </a:ln>
        </p:spPr>
      </p:sp>
      <p:pic>
        <p:nvPicPr>
          <p:cNvPr id="4" name="Image 0" descr="React Optimal K page"/>
          <p:cNvPicPr>
            <a:picLocks noChangeAspect="1"/>
          </p:cNvPicPr>
          <p:nvPr/>
        </p:nvPicPr>
        <p:blipFill>
          <a:blip r:embed="rId3"/>
          <a:stretch>
            <a:fillRect/>
          </a:stretch>
        </p:blipFill>
        <p:spPr>
          <a:xfrm>
            <a:off x="548640" y="1335024"/>
            <a:ext cx="4889683" cy="3566160"/>
          </a:xfrm>
          <a:prstGeom prst="rect">
            <a:avLst/>
          </a:prstGeom>
        </p:spPr>
      </p:pic>
      <p:sp>
        <p:nvSpPr>
          <p:cNvPr id="5" name="Shape 2"/>
          <p:cNvSpPr/>
          <p:nvPr/>
        </p:nvSpPr>
        <p:spPr>
          <a:xfrm>
            <a:off x="5767507" y="1298448"/>
            <a:ext cx="5857290" cy="3639312"/>
          </a:xfrm>
          <a:prstGeom prst="roundRect">
            <a:avLst>
              <a:gd name="adj" fmla="val 754"/>
            </a:avLst>
          </a:prstGeom>
          <a:solidFill>
            <a:srgbClr val="FFFFFF"/>
          </a:solidFill>
          <a:ln w="9525">
            <a:solidFill>
              <a:srgbClr val="D3DAE5"/>
            </a:solidFill>
            <a:prstDash val="solid"/>
          </a:ln>
        </p:spPr>
      </p:sp>
      <p:pic>
        <p:nvPicPr>
          <p:cNvPr id="6" name="Image 1" descr="React Algorithm Comparison page"/>
          <p:cNvPicPr>
            <a:picLocks noChangeAspect="1"/>
          </p:cNvPicPr>
          <p:nvPr/>
        </p:nvPicPr>
        <p:blipFill>
          <a:blip r:embed="rId4"/>
          <a:stretch>
            <a:fillRect/>
          </a:stretch>
        </p:blipFill>
        <p:spPr>
          <a:xfrm>
            <a:off x="5804083" y="1335024"/>
            <a:ext cx="5784138" cy="3566160"/>
          </a:xfrm>
          <a:prstGeom prst="rect">
            <a:avLst/>
          </a:prstGeom>
        </p:spPr>
      </p:pic>
      <p:sp>
        <p:nvSpPr>
          <p:cNvPr id="7" name="Text 3"/>
          <p:cNvSpPr txBox="1"/>
          <p:nvPr/>
        </p:nvSpPr>
        <p:spPr>
          <a:xfrm>
            <a:off x="548640" y="5029200"/>
            <a:ext cx="4889683" cy="457200"/>
          </a:xfrm>
          <a:prstGeom prst="rect">
            <a:avLst/>
          </a:prstGeom>
          <a:noFill/>
          <a:ln/>
        </p:spPr>
        <p:txBody>
          <a:bodyPr wrap="square" lIns="0" tIns="0" rIns="0" bIns="0" rtlCol="0" anchor="t"/>
          <a:lstStyle/>
          <a:p>
            <a:pPr marL="0" indent="0" algn="ctr">
              <a:buNone/>
            </a:pPr>
            <a:r>
              <a:rPr lang="en-US" sz="1200" dirty="0">
                <a:solidFill>
                  <a:srgbClr val="5B6678"/>
                </a:solidFill>
                <a:latin typeface="Calibri" pitchFamily="34" charset="0"/>
                <a:ea typeface="Calibri" pitchFamily="34" charset="-122"/>
                <a:cs typeface="Calibri" pitchFamily="34" charset="-120"/>
              </a:rPr>
              <a:t>Optimal K page: selected K and silhouette curve (Davies-Bouldin and objective curves are further down the page)</a:t>
            </a:r>
            <a:endParaRPr lang="en-US" sz="1200" dirty="0"/>
          </a:p>
        </p:txBody>
      </p:sp>
      <p:sp>
        <p:nvSpPr>
          <p:cNvPr id="8" name="Text 4"/>
          <p:cNvSpPr txBox="1"/>
          <p:nvPr/>
        </p:nvSpPr>
        <p:spPr>
          <a:xfrm>
            <a:off x="5804083" y="5029200"/>
            <a:ext cx="5784138" cy="457200"/>
          </a:xfrm>
          <a:prstGeom prst="rect">
            <a:avLst/>
          </a:prstGeom>
          <a:noFill/>
          <a:ln/>
        </p:spPr>
        <p:txBody>
          <a:bodyPr wrap="square" lIns="0" tIns="0" rIns="0" bIns="0" rtlCol="0" anchor="t"/>
          <a:lstStyle/>
          <a:p>
            <a:pPr marL="0" indent="0" algn="ctr">
              <a:buNone/>
            </a:pPr>
            <a:r>
              <a:rPr lang="en-US" sz="1200" dirty="0">
                <a:solidFill>
                  <a:srgbClr val="5B6678"/>
                </a:solidFill>
                <a:latin typeface="Calibri" pitchFamily="34" charset="0"/>
                <a:ea typeface="Calibri" pitchFamily="34" charset="-122"/>
                <a:cs typeface="Calibri" pitchFamily="34" charset="-120"/>
              </a:rPr>
              <a:t>Algorithm Comparison page: silhouette and Davies-Bouldin of both algorithms</a:t>
            </a:r>
            <a:endParaRPr lang="en-US" sz="1200" dirty="0"/>
          </a:p>
        </p:txBody>
      </p:sp>
      <p:sp>
        <p:nvSpPr>
          <p:cNvPr id="9" name="Text 5"/>
          <p:cNvSpPr txBox="1"/>
          <p:nvPr/>
        </p:nvSpPr>
        <p:spPr>
          <a:xfrm>
            <a:off x="548640" y="5669280"/>
            <a:ext cx="11064240" cy="274320"/>
          </a:xfrm>
          <a:prstGeom prst="rect">
            <a:avLst/>
          </a:prstGeom>
          <a:noFill/>
          <a:ln/>
        </p:spPr>
        <p:txBody>
          <a:bodyPr wrap="square" lIns="0" tIns="0" rIns="0" bIns="0" rtlCol="0" anchor="t"/>
          <a:lstStyle/>
          <a:p>
            <a:pPr marL="0" indent="0">
              <a:buNone/>
            </a:pPr>
            <a:r>
              <a:rPr lang="en-US" sz="1100" dirty="0">
                <a:solidFill>
                  <a:srgbClr val="5B6678"/>
                </a:solidFill>
                <a:latin typeface="Calibri" pitchFamily="34" charset="0"/>
                <a:ea typeface="Calibri" pitchFamily="34" charset="-122"/>
                <a:cs typeface="Calibri" pitchFamily="34" charset="-120"/>
              </a:rPr>
              <a:t>Cropped regions of the project's own screenshots. The dashboard reads exported results; it does not retrain models.</a:t>
            </a:r>
            <a:endParaRPr lang="en-US" sz="11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8599"/>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64240" cy="777240"/>
          </a:xfrm>
          <a:prstGeom prst="rect">
            <a:avLst/>
          </a:prstGeom>
          <a:noFill/>
          <a:ln/>
        </p:spPr>
        <p:txBody>
          <a:bodyPr wrap="square" lIns="0" tIns="0" rIns="0" bIns="0" rtlCol="0" anchor="ctr"/>
          <a:lstStyle/>
          <a:p>
            <a:pPr marL="0" indent="0">
              <a:buNone/>
            </a:pPr>
            <a:r>
              <a:rPr lang="en-US" sz="3200" b="1" dirty="0">
                <a:solidFill>
                  <a:srgbClr val="1F2937"/>
                </a:solidFill>
                <a:latin typeface="Cambria" pitchFamily="34" charset="0"/>
                <a:ea typeface="Cambria" pitchFamily="34" charset="-122"/>
                <a:cs typeface="Cambria" pitchFamily="34" charset="-120"/>
              </a:rPr>
              <a:t>Testing and Validation</a:t>
            </a:r>
            <a:endParaRPr lang="en-US" sz="3200" dirty="0"/>
          </a:p>
        </p:txBody>
      </p:sp>
      <p:sp>
        <p:nvSpPr>
          <p:cNvPr id="3" name="card"/>
          <p:cNvSpPr/>
          <p:nvPr/>
        </p:nvSpPr>
        <p:spPr>
          <a:xfrm>
            <a:off x="548640" y="1371600"/>
            <a:ext cx="3611880" cy="1463040"/>
          </a:xfrm>
          <a:prstGeom prst="roundRect">
            <a:avLst>
              <a:gd name="adj" fmla="val 2500"/>
            </a:avLst>
          </a:prstGeom>
          <a:solidFill>
            <a:srgbClr val="FFFFFF"/>
          </a:solidFill>
          <a:ln w="9525">
            <a:solidFill>
              <a:srgbClr val="D3DAE5"/>
            </a:solidFill>
            <a:prstDash val="solid"/>
          </a:ln>
        </p:spPr>
      </p:sp>
      <p:pic>
        <p:nvPicPr>
          <p:cNvPr id="4" name="Image 0" descr="passed"/>
          <p:cNvPicPr>
            <a:picLocks noChangeAspect="1"/>
          </p:cNvPicPr>
          <p:nvPr/>
        </p:nvPicPr>
        <p:blipFill>
          <a:blip r:embed="rId3"/>
          <a:stretch>
            <a:fillRect/>
          </a:stretch>
        </p:blipFill>
        <p:spPr>
          <a:xfrm>
            <a:off x="777240" y="1600200"/>
            <a:ext cx="384048" cy="384048"/>
          </a:xfrm>
          <a:prstGeom prst="rect">
            <a:avLst/>
          </a:prstGeom>
        </p:spPr>
      </p:pic>
      <p:sp>
        <p:nvSpPr>
          <p:cNvPr id="5" name="Text 2"/>
          <p:cNvSpPr txBox="1"/>
          <p:nvPr/>
        </p:nvSpPr>
        <p:spPr>
          <a:xfrm>
            <a:off x="1325880" y="1508760"/>
            <a:ext cx="2651760" cy="640080"/>
          </a:xfrm>
          <a:prstGeom prst="rect">
            <a:avLst/>
          </a:prstGeom>
          <a:noFill/>
          <a:ln/>
        </p:spPr>
        <p:txBody>
          <a:bodyPr wrap="square" lIns="0" tIns="0" rIns="0" bIns="0" rtlCol="0" anchor="ctr"/>
          <a:lstStyle/>
          <a:p>
            <a:pPr marL="0" indent="0">
              <a:buNone/>
            </a:pPr>
            <a:r>
              <a:rPr lang="en-US" sz="3200" b="1" dirty="0">
                <a:solidFill>
                  <a:srgbClr val="2E7D5B"/>
                </a:solidFill>
                <a:latin typeface="Cambria" pitchFamily="34" charset="0"/>
                <a:ea typeface="Cambria" pitchFamily="34" charset="-122"/>
                <a:cs typeface="Cambria" pitchFamily="34" charset="-120"/>
              </a:rPr>
              <a:t>8 / 8</a:t>
            </a:r>
            <a:endParaRPr lang="en-US" sz="3200" dirty="0"/>
          </a:p>
        </p:txBody>
      </p:sp>
      <p:sp>
        <p:nvSpPr>
          <p:cNvPr id="6" name="Text 3"/>
          <p:cNvSpPr txBox="1"/>
          <p:nvPr/>
        </p:nvSpPr>
        <p:spPr>
          <a:xfrm>
            <a:off x="777240" y="2148840"/>
            <a:ext cx="3200400" cy="320040"/>
          </a:xfrm>
          <a:prstGeom prst="rect">
            <a:avLst/>
          </a:prstGeom>
          <a:noFill/>
          <a:ln/>
        </p:spPr>
        <p:txBody>
          <a:bodyPr wrap="square" lIns="0" tIns="0" rIns="0" bIns="0" rtlCol="0" anchor="t"/>
          <a:lstStyle/>
          <a:p>
            <a:pPr marL="0" indent="0">
              <a:buNone/>
            </a:pPr>
            <a:r>
              <a:rPr lang="en-US" sz="1500" b="1" dirty="0">
                <a:solidFill>
                  <a:srgbClr val="1F2937"/>
                </a:solidFill>
                <a:latin typeface="Calibri" pitchFamily="34" charset="0"/>
                <a:ea typeface="Calibri" pitchFamily="34" charset="-122"/>
                <a:cs typeface="Calibri" pitchFamily="34" charset="-120"/>
              </a:rPr>
              <a:t>automated tests passed</a:t>
            </a:r>
            <a:endParaRPr lang="en-US" sz="1500" dirty="0"/>
          </a:p>
        </p:txBody>
      </p:sp>
      <p:sp>
        <p:nvSpPr>
          <p:cNvPr id="7" name="Text 4"/>
          <p:cNvSpPr txBox="1"/>
          <p:nvPr/>
        </p:nvSpPr>
        <p:spPr>
          <a:xfrm>
            <a:off x="777240" y="2487168"/>
            <a:ext cx="3200400" cy="274320"/>
          </a:xfrm>
          <a:prstGeom prst="rect">
            <a:avLst/>
          </a:prstGeom>
          <a:noFill/>
          <a:ln/>
        </p:spPr>
        <p:txBody>
          <a:bodyPr wrap="square" lIns="0" tIns="0" rIns="0" bIns="0" rtlCol="0" anchor="t"/>
          <a:lstStyle/>
          <a:p>
            <a:pPr marL="0" indent="0">
              <a:buNone/>
            </a:pPr>
            <a:r>
              <a:rPr lang="en-US" sz="1100" dirty="0">
                <a:solidFill>
                  <a:srgbClr val="5B6678"/>
                </a:solidFill>
                <a:latin typeface="Calibri" pitchFamily="34" charset="0"/>
                <a:ea typeface="Calibri" pitchFamily="34" charset="-122"/>
                <a:cs typeface="Calibri" pitchFamily="34" charset="-120"/>
              </a:rPr>
              <a:t>recorded status — tests/test_clustering.py</a:t>
            </a:r>
            <a:endParaRPr lang="en-US" sz="1100" dirty="0"/>
          </a:p>
        </p:txBody>
      </p:sp>
      <p:sp>
        <p:nvSpPr>
          <p:cNvPr id="8" name="card"/>
          <p:cNvSpPr/>
          <p:nvPr/>
        </p:nvSpPr>
        <p:spPr>
          <a:xfrm>
            <a:off x="4343400" y="1371600"/>
            <a:ext cx="3611880" cy="1463040"/>
          </a:xfrm>
          <a:prstGeom prst="roundRect">
            <a:avLst>
              <a:gd name="adj" fmla="val 2500"/>
            </a:avLst>
          </a:prstGeom>
          <a:solidFill>
            <a:srgbClr val="FFFFFF"/>
          </a:solidFill>
          <a:ln w="9525">
            <a:solidFill>
              <a:srgbClr val="D3DAE5"/>
            </a:solidFill>
            <a:prstDash val="solid"/>
          </a:ln>
        </p:spPr>
      </p:sp>
      <p:pic>
        <p:nvPicPr>
          <p:cNvPr id="9" name="Image 1" descr="passed"/>
          <p:cNvPicPr>
            <a:picLocks noChangeAspect="1"/>
          </p:cNvPicPr>
          <p:nvPr/>
        </p:nvPicPr>
        <p:blipFill>
          <a:blip r:embed="rId3"/>
          <a:stretch>
            <a:fillRect/>
          </a:stretch>
        </p:blipFill>
        <p:spPr>
          <a:xfrm>
            <a:off x="4572000" y="1600200"/>
            <a:ext cx="384048" cy="384048"/>
          </a:xfrm>
          <a:prstGeom prst="rect">
            <a:avLst/>
          </a:prstGeom>
        </p:spPr>
      </p:pic>
      <p:sp>
        <p:nvSpPr>
          <p:cNvPr id="10" name="Text 6"/>
          <p:cNvSpPr txBox="1"/>
          <p:nvPr/>
        </p:nvSpPr>
        <p:spPr>
          <a:xfrm>
            <a:off x="5120640" y="1508760"/>
            <a:ext cx="2651760" cy="640080"/>
          </a:xfrm>
          <a:prstGeom prst="rect">
            <a:avLst/>
          </a:prstGeom>
          <a:noFill/>
          <a:ln/>
        </p:spPr>
        <p:txBody>
          <a:bodyPr wrap="square" lIns="0" tIns="0" rIns="0" bIns="0" rtlCol="0" anchor="ctr"/>
          <a:lstStyle/>
          <a:p>
            <a:pPr marL="0" indent="0">
              <a:buNone/>
            </a:pPr>
            <a:r>
              <a:rPr lang="en-US" sz="3200" b="1" dirty="0">
                <a:solidFill>
                  <a:srgbClr val="2E7D5B"/>
                </a:solidFill>
                <a:latin typeface="Cambria" pitchFamily="34" charset="0"/>
                <a:ea typeface="Cambria" pitchFamily="34" charset="-122"/>
                <a:cs typeface="Cambria" pitchFamily="34" charset="-120"/>
              </a:rPr>
              <a:t>Passed</a:t>
            </a:r>
            <a:endParaRPr lang="en-US" sz="3200" dirty="0"/>
          </a:p>
        </p:txBody>
      </p:sp>
      <p:sp>
        <p:nvSpPr>
          <p:cNvPr id="11" name="Text 7"/>
          <p:cNvSpPr txBox="1"/>
          <p:nvPr/>
        </p:nvSpPr>
        <p:spPr>
          <a:xfrm>
            <a:off x="4572000" y="2148840"/>
            <a:ext cx="3200400" cy="320040"/>
          </a:xfrm>
          <a:prstGeom prst="rect">
            <a:avLst/>
          </a:prstGeom>
          <a:noFill/>
          <a:ln/>
        </p:spPr>
        <p:txBody>
          <a:bodyPr wrap="square" lIns="0" tIns="0" rIns="0" bIns="0" rtlCol="0" anchor="t"/>
          <a:lstStyle/>
          <a:p>
            <a:pPr marL="0" indent="0">
              <a:buNone/>
            </a:pPr>
            <a:r>
              <a:rPr lang="en-US" sz="1500" b="1" dirty="0">
                <a:solidFill>
                  <a:srgbClr val="1F2937"/>
                </a:solidFill>
                <a:latin typeface="Calibri" pitchFamily="34" charset="0"/>
                <a:ea typeface="Calibri" pitchFamily="34" charset="-122"/>
                <a:cs typeface="Calibri" pitchFamily="34" charset="-120"/>
              </a:rPr>
              <a:t>frontend production build</a:t>
            </a:r>
            <a:endParaRPr lang="en-US" sz="1500" dirty="0"/>
          </a:p>
        </p:txBody>
      </p:sp>
      <p:sp>
        <p:nvSpPr>
          <p:cNvPr id="12" name="Text 8"/>
          <p:cNvSpPr txBox="1"/>
          <p:nvPr/>
        </p:nvSpPr>
        <p:spPr>
          <a:xfrm>
            <a:off x="4572000" y="2487168"/>
            <a:ext cx="3200400" cy="274320"/>
          </a:xfrm>
          <a:prstGeom prst="rect">
            <a:avLst/>
          </a:prstGeom>
          <a:noFill/>
          <a:ln/>
        </p:spPr>
        <p:txBody>
          <a:bodyPr wrap="square" lIns="0" tIns="0" rIns="0" bIns="0" rtlCol="0" anchor="t"/>
          <a:lstStyle/>
          <a:p>
            <a:pPr marL="0" indent="0">
              <a:buNone/>
            </a:pPr>
            <a:r>
              <a:rPr lang="en-US" sz="1100" dirty="0">
                <a:solidFill>
                  <a:srgbClr val="5B6678"/>
                </a:solidFill>
                <a:latin typeface="Calibri" pitchFamily="34" charset="0"/>
                <a:ea typeface="Calibri" pitchFamily="34" charset="-122"/>
                <a:cs typeface="Calibri" pitchFamily="34" charset="-120"/>
              </a:rPr>
              <a:t>recorded status — npm run build</a:t>
            </a:r>
            <a:endParaRPr lang="en-US" sz="1100" dirty="0"/>
          </a:p>
        </p:txBody>
      </p:sp>
      <p:sp>
        <p:nvSpPr>
          <p:cNvPr id="13" name="card"/>
          <p:cNvSpPr/>
          <p:nvPr/>
        </p:nvSpPr>
        <p:spPr>
          <a:xfrm>
            <a:off x="8138160" y="1371600"/>
            <a:ext cx="3611880" cy="1463040"/>
          </a:xfrm>
          <a:prstGeom prst="roundRect">
            <a:avLst>
              <a:gd name="adj" fmla="val 2500"/>
            </a:avLst>
          </a:prstGeom>
          <a:solidFill>
            <a:srgbClr val="FFFFFF"/>
          </a:solidFill>
          <a:ln w="9525">
            <a:solidFill>
              <a:srgbClr val="D3DAE5"/>
            </a:solidFill>
            <a:prstDash val="solid"/>
          </a:ln>
        </p:spPr>
      </p:sp>
      <p:pic>
        <p:nvPicPr>
          <p:cNvPr id="14" name="Image 2" descr="passed"/>
          <p:cNvPicPr>
            <a:picLocks noChangeAspect="1"/>
          </p:cNvPicPr>
          <p:nvPr/>
        </p:nvPicPr>
        <p:blipFill>
          <a:blip r:embed="rId3"/>
          <a:stretch>
            <a:fillRect/>
          </a:stretch>
        </p:blipFill>
        <p:spPr>
          <a:xfrm>
            <a:off x="8366760" y="1600200"/>
            <a:ext cx="384048" cy="384048"/>
          </a:xfrm>
          <a:prstGeom prst="rect">
            <a:avLst/>
          </a:prstGeom>
        </p:spPr>
      </p:pic>
      <p:sp>
        <p:nvSpPr>
          <p:cNvPr id="15" name="Text 10"/>
          <p:cNvSpPr txBox="1"/>
          <p:nvPr/>
        </p:nvSpPr>
        <p:spPr>
          <a:xfrm>
            <a:off x="8915400" y="1508760"/>
            <a:ext cx="2651760" cy="640080"/>
          </a:xfrm>
          <a:prstGeom prst="rect">
            <a:avLst/>
          </a:prstGeom>
          <a:noFill/>
          <a:ln/>
        </p:spPr>
        <p:txBody>
          <a:bodyPr wrap="square" lIns="0" tIns="0" rIns="0" bIns="0" rtlCol="0" anchor="ctr"/>
          <a:lstStyle/>
          <a:p>
            <a:pPr marL="0" indent="0">
              <a:buNone/>
            </a:pPr>
            <a:r>
              <a:rPr lang="en-US" sz="3200" b="1" dirty="0">
                <a:solidFill>
                  <a:srgbClr val="2E7D5B"/>
                </a:solidFill>
                <a:latin typeface="Cambria" pitchFamily="34" charset="0"/>
                <a:ea typeface="Cambria" pitchFamily="34" charset="-122"/>
                <a:cs typeface="Cambria" pitchFamily="34" charset="-120"/>
              </a:rPr>
              <a:t>Passed</a:t>
            </a:r>
            <a:endParaRPr lang="en-US" sz="3200" dirty="0"/>
          </a:p>
        </p:txBody>
      </p:sp>
      <p:sp>
        <p:nvSpPr>
          <p:cNvPr id="16" name="Text 11"/>
          <p:cNvSpPr txBox="1"/>
          <p:nvPr/>
        </p:nvSpPr>
        <p:spPr>
          <a:xfrm>
            <a:off x="8366760" y="2148840"/>
            <a:ext cx="3200400" cy="320040"/>
          </a:xfrm>
          <a:prstGeom prst="rect">
            <a:avLst/>
          </a:prstGeom>
          <a:noFill/>
          <a:ln/>
        </p:spPr>
        <p:txBody>
          <a:bodyPr wrap="square" lIns="0" tIns="0" rIns="0" bIns="0" rtlCol="0" anchor="t"/>
          <a:lstStyle/>
          <a:p>
            <a:pPr marL="0" indent="0">
              <a:buNone/>
            </a:pPr>
            <a:r>
              <a:rPr lang="en-US" sz="1500" b="1" dirty="0">
                <a:solidFill>
                  <a:srgbClr val="1F2937"/>
                </a:solidFill>
                <a:latin typeface="Calibri" pitchFamily="34" charset="0"/>
                <a:ea typeface="Calibri" pitchFamily="34" charset="-122"/>
                <a:cs typeface="Calibri" pitchFamily="34" charset="-120"/>
              </a:rPr>
              <a:t>frontend lint</a:t>
            </a:r>
            <a:endParaRPr lang="en-US" sz="1500" dirty="0"/>
          </a:p>
        </p:txBody>
      </p:sp>
      <p:sp>
        <p:nvSpPr>
          <p:cNvPr id="17" name="Text 12"/>
          <p:cNvSpPr txBox="1"/>
          <p:nvPr/>
        </p:nvSpPr>
        <p:spPr>
          <a:xfrm>
            <a:off x="8366760" y="2487168"/>
            <a:ext cx="3200400" cy="274320"/>
          </a:xfrm>
          <a:prstGeom prst="rect">
            <a:avLst/>
          </a:prstGeom>
          <a:noFill/>
          <a:ln/>
        </p:spPr>
        <p:txBody>
          <a:bodyPr wrap="square" lIns="0" tIns="0" rIns="0" bIns="0" rtlCol="0" anchor="t"/>
          <a:lstStyle/>
          <a:p>
            <a:pPr marL="0" indent="0">
              <a:buNone/>
            </a:pPr>
            <a:r>
              <a:rPr lang="en-US" sz="1100" dirty="0">
                <a:solidFill>
                  <a:srgbClr val="5B6678"/>
                </a:solidFill>
                <a:latin typeface="Calibri" pitchFamily="34" charset="0"/>
                <a:ea typeface="Calibri" pitchFamily="34" charset="-122"/>
                <a:cs typeface="Calibri" pitchFamily="34" charset="-120"/>
              </a:rPr>
              <a:t>recorded status — npm run lint</a:t>
            </a:r>
            <a:endParaRPr lang="en-US" sz="1100" dirty="0"/>
          </a:p>
        </p:txBody>
      </p:sp>
      <p:sp>
        <p:nvSpPr>
          <p:cNvPr id="18" name="Text 13"/>
          <p:cNvSpPr txBox="1"/>
          <p:nvPr/>
        </p:nvSpPr>
        <p:spPr>
          <a:xfrm>
            <a:off x="548640" y="3063240"/>
            <a:ext cx="7315200" cy="365760"/>
          </a:xfrm>
          <a:prstGeom prst="rect">
            <a:avLst/>
          </a:prstGeom>
          <a:noFill/>
          <a:ln/>
        </p:spPr>
        <p:txBody>
          <a:bodyPr wrap="square" lIns="0" tIns="0" rIns="0" bIns="0" rtlCol="0" anchor="t"/>
          <a:lstStyle/>
          <a:p>
            <a:pPr marL="0" indent="0">
              <a:buNone/>
            </a:pPr>
            <a:r>
              <a:rPr lang="en-US" sz="1800" b="1" dirty="0">
                <a:solidFill>
                  <a:srgbClr val="2F5D8C"/>
                </a:solidFill>
                <a:latin typeface="Cambria" pitchFamily="34" charset="0"/>
                <a:ea typeface="Cambria" pitchFamily="34" charset="-122"/>
                <a:cs typeface="Cambria" pitchFamily="34" charset="-120"/>
              </a:rPr>
              <a:t>What the 8 tests verify</a:t>
            </a:r>
            <a:endParaRPr lang="en-US" sz="1800" dirty="0"/>
          </a:p>
        </p:txBody>
      </p:sp>
      <p:sp>
        <p:nvSpPr>
          <p:cNvPr id="19" name="card"/>
          <p:cNvSpPr/>
          <p:nvPr/>
        </p:nvSpPr>
        <p:spPr>
          <a:xfrm>
            <a:off x="548640" y="3520440"/>
            <a:ext cx="5486400" cy="530352"/>
          </a:xfrm>
          <a:prstGeom prst="roundRect">
            <a:avLst>
              <a:gd name="adj" fmla="val 6897"/>
            </a:avLst>
          </a:prstGeom>
          <a:solidFill>
            <a:srgbClr val="FFFFFF"/>
          </a:solidFill>
          <a:ln w="9525">
            <a:solidFill>
              <a:srgbClr val="D3DAE5"/>
            </a:solidFill>
            <a:prstDash val="solid"/>
          </a:ln>
        </p:spPr>
      </p:sp>
      <p:pic>
        <p:nvPicPr>
          <p:cNvPr id="20" name="Image 3" descr="ok"/>
          <p:cNvPicPr>
            <a:picLocks noChangeAspect="1"/>
          </p:cNvPicPr>
          <p:nvPr/>
        </p:nvPicPr>
        <p:blipFill>
          <a:blip r:embed="rId3"/>
          <a:stretch>
            <a:fillRect/>
          </a:stretch>
        </p:blipFill>
        <p:spPr>
          <a:xfrm>
            <a:off x="713232" y="3657600"/>
            <a:ext cx="256032" cy="256032"/>
          </a:xfrm>
          <a:prstGeom prst="rect">
            <a:avLst/>
          </a:prstGeom>
        </p:spPr>
      </p:pic>
      <p:sp>
        <p:nvSpPr>
          <p:cNvPr id="21" name="Text 15"/>
          <p:cNvSpPr txBox="1"/>
          <p:nvPr/>
        </p:nvSpPr>
        <p:spPr>
          <a:xfrm>
            <a:off x="1115568" y="3520440"/>
            <a:ext cx="4800600" cy="530352"/>
          </a:xfrm>
          <a:prstGeom prst="rect">
            <a:avLst/>
          </a:prstGeom>
          <a:noFill/>
          <a:ln/>
        </p:spPr>
        <p:txBody>
          <a:bodyPr wrap="square" lIns="0" tIns="0" rIns="0" bIns="0" rtlCol="0" anchor="ctr"/>
          <a:lstStyle/>
          <a:p>
            <a:pPr marL="0" indent="0">
              <a:buNone/>
            </a:pPr>
            <a:r>
              <a:rPr lang="en-US" sz="1300" dirty="0">
                <a:solidFill>
                  <a:srgbClr val="1F2937"/>
                </a:solidFill>
                <a:latin typeface="Calibri" pitchFamily="34" charset="0"/>
                <a:ea typeface="Calibri" pitchFamily="34" charset="-122"/>
                <a:cs typeface="Calibri" pitchFamily="34" charset="-120"/>
              </a:rPr>
              <a:t>Dataset has 200 records and at least 5 columns</a:t>
            </a:r>
            <a:endParaRPr lang="en-US" sz="1300" dirty="0"/>
          </a:p>
        </p:txBody>
      </p:sp>
      <p:sp>
        <p:nvSpPr>
          <p:cNvPr id="22" name="card"/>
          <p:cNvSpPr/>
          <p:nvPr/>
        </p:nvSpPr>
        <p:spPr>
          <a:xfrm>
            <a:off x="6172200" y="3520440"/>
            <a:ext cx="5486400" cy="530352"/>
          </a:xfrm>
          <a:prstGeom prst="roundRect">
            <a:avLst>
              <a:gd name="adj" fmla="val 6897"/>
            </a:avLst>
          </a:prstGeom>
          <a:solidFill>
            <a:srgbClr val="FFFFFF"/>
          </a:solidFill>
          <a:ln w="9525">
            <a:solidFill>
              <a:srgbClr val="D3DAE5"/>
            </a:solidFill>
            <a:prstDash val="solid"/>
          </a:ln>
        </p:spPr>
      </p:sp>
      <p:pic>
        <p:nvPicPr>
          <p:cNvPr id="23" name="Image 4" descr="ok"/>
          <p:cNvPicPr>
            <a:picLocks noChangeAspect="1"/>
          </p:cNvPicPr>
          <p:nvPr/>
        </p:nvPicPr>
        <p:blipFill>
          <a:blip r:embed="rId3"/>
          <a:stretch>
            <a:fillRect/>
          </a:stretch>
        </p:blipFill>
        <p:spPr>
          <a:xfrm>
            <a:off x="6336792" y="3657600"/>
            <a:ext cx="256032" cy="256032"/>
          </a:xfrm>
          <a:prstGeom prst="rect">
            <a:avLst/>
          </a:prstGeom>
        </p:spPr>
      </p:pic>
      <p:sp>
        <p:nvSpPr>
          <p:cNvPr id="24" name="Text 17"/>
          <p:cNvSpPr txBox="1"/>
          <p:nvPr/>
        </p:nvSpPr>
        <p:spPr>
          <a:xfrm>
            <a:off x="6739128" y="3520440"/>
            <a:ext cx="4800600" cy="530352"/>
          </a:xfrm>
          <a:prstGeom prst="rect">
            <a:avLst/>
          </a:prstGeom>
          <a:noFill/>
          <a:ln/>
        </p:spPr>
        <p:txBody>
          <a:bodyPr wrap="square" lIns="0" tIns="0" rIns="0" bIns="0" rtlCol="0" anchor="ctr"/>
          <a:lstStyle/>
          <a:p>
            <a:pPr marL="0" indent="0">
              <a:buNone/>
            </a:pPr>
            <a:r>
              <a:rPr lang="en-US" sz="1300" dirty="0">
                <a:solidFill>
                  <a:srgbClr val="1F2937"/>
                </a:solidFill>
                <a:latin typeface="Calibri" pitchFamily="34" charset="0"/>
                <a:ea typeface="Calibri" pitchFamily="34" charset="-122"/>
                <a:cs typeface="Calibri" pitchFamily="34" charset="-120"/>
              </a:rPr>
              <a:t>Clustering features are Annual Income and Spending Score</a:t>
            </a:r>
            <a:endParaRPr lang="en-US" sz="1300" dirty="0"/>
          </a:p>
        </p:txBody>
      </p:sp>
      <p:sp>
        <p:nvSpPr>
          <p:cNvPr id="25" name="card"/>
          <p:cNvSpPr/>
          <p:nvPr/>
        </p:nvSpPr>
        <p:spPr>
          <a:xfrm>
            <a:off x="548640" y="4142232"/>
            <a:ext cx="5486400" cy="530352"/>
          </a:xfrm>
          <a:prstGeom prst="roundRect">
            <a:avLst>
              <a:gd name="adj" fmla="val 6897"/>
            </a:avLst>
          </a:prstGeom>
          <a:solidFill>
            <a:srgbClr val="FFFFFF"/>
          </a:solidFill>
          <a:ln w="9525">
            <a:solidFill>
              <a:srgbClr val="D3DAE5"/>
            </a:solidFill>
            <a:prstDash val="solid"/>
          </a:ln>
        </p:spPr>
      </p:sp>
      <p:pic>
        <p:nvPicPr>
          <p:cNvPr id="26" name="Image 5" descr="ok"/>
          <p:cNvPicPr>
            <a:picLocks noChangeAspect="1"/>
          </p:cNvPicPr>
          <p:nvPr/>
        </p:nvPicPr>
        <p:blipFill>
          <a:blip r:embed="rId3"/>
          <a:stretch>
            <a:fillRect/>
          </a:stretch>
        </p:blipFill>
        <p:spPr>
          <a:xfrm>
            <a:off x="713232" y="4279392"/>
            <a:ext cx="256032" cy="256032"/>
          </a:xfrm>
          <a:prstGeom prst="rect">
            <a:avLst/>
          </a:prstGeom>
        </p:spPr>
      </p:pic>
      <p:sp>
        <p:nvSpPr>
          <p:cNvPr id="27" name="Text 19"/>
          <p:cNvSpPr txBox="1"/>
          <p:nvPr/>
        </p:nvSpPr>
        <p:spPr>
          <a:xfrm>
            <a:off x="1115568" y="4142232"/>
            <a:ext cx="4800600" cy="530352"/>
          </a:xfrm>
          <a:prstGeom prst="rect">
            <a:avLst/>
          </a:prstGeom>
          <a:noFill/>
          <a:ln/>
        </p:spPr>
        <p:txBody>
          <a:bodyPr wrap="square" lIns="0" tIns="0" rIns="0" bIns="0" rtlCol="0" anchor="ctr"/>
          <a:lstStyle/>
          <a:p>
            <a:pPr marL="0" indent="0">
              <a:buNone/>
            </a:pPr>
            <a:r>
              <a:rPr lang="en-US" sz="1300" dirty="0">
                <a:solidFill>
                  <a:srgbClr val="1F2937"/>
                </a:solidFill>
                <a:latin typeface="Calibri" pitchFamily="34" charset="0"/>
                <a:ea typeface="Calibri" pitchFamily="34" charset="-122"/>
                <a:cs typeface="Calibri" pitchFamily="34" charset="-120"/>
              </a:rPr>
              <a:t>Clustering features contain no missing values</a:t>
            </a:r>
            <a:endParaRPr lang="en-US" sz="1300" dirty="0"/>
          </a:p>
        </p:txBody>
      </p:sp>
      <p:sp>
        <p:nvSpPr>
          <p:cNvPr id="28" name="card"/>
          <p:cNvSpPr/>
          <p:nvPr/>
        </p:nvSpPr>
        <p:spPr>
          <a:xfrm>
            <a:off x="6172200" y="4142232"/>
            <a:ext cx="5486400" cy="530352"/>
          </a:xfrm>
          <a:prstGeom prst="roundRect">
            <a:avLst>
              <a:gd name="adj" fmla="val 6897"/>
            </a:avLst>
          </a:prstGeom>
          <a:solidFill>
            <a:srgbClr val="FFFFFF"/>
          </a:solidFill>
          <a:ln w="9525">
            <a:solidFill>
              <a:srgbClr val="D3DAE5"/>
            </a:solidFill>
            <a:prstDash val="solid"/>
          </a:ln>
        </p:spPr>
      </p:sp>
      <p:pic>
        <p:nvPicPr>
          <p:cNvPr id="29" name="Image 6" descr="ok"/>
          <p:cNvPicPr>
            <a:picLocks noChangeAspect="1"/>
          </p:cNvPicPr>
          <p:nvPr/>
        </p:nvPicPr>
        <p:blipFill>
          <a:blip r:embed="rId3"/>
          <a:stretch>
            <a:fillRect/>
          </a:stretch>
        </p:blipFill>
        <p:spPr>
          <a:xfrm>
            <a:off x="6336792" y="4279392"/>
            <a:ext cx="256032" cy="256032"/>
          </a:xfrm>
          <a:prstGeom prst="rect">
            <a:avLst/>
          </a:prstGeom>
        </p:spPr>
      </p:pic>
      <p:sp>
        <p:nvSpPr>
          <p:cNvPr id="30" name="Text 21"/>
          <p:cNvSpPr txBox="1"/>
          <p:nvPr/>
        </p:nvSpPr>
        <p:spPr>
          <a:xfrm>
            <a:off x="6739128" y="4142232"/>
            <a:ext cx="4800600" cy="530352"/>
          </a:xfrm>
          <a:prstGeom prst="rect">
            <a:avLst/>
          </a:prstGeom>
          <a:noFill/>
          <a:ln/>
        </p:spPr>
        <p:txBody>
          <a:bodyPr wrap="square" lIns="0" tIns="0" rIns="0" bIns="0" rtlCol="0" anchor="ctr"/>
          <a:lstStyle/>
          <a:p>
            <a:pPr marL="0" indent="0">
              <a:buNone/>
            </a:pPr>
            <a:r>
              <a:rPr lang="en-US" sz="1300" dirty="0">
                <a:solidFill>
                  <a:srgbClr val="1F2937"/>
                </a:solidFill>
                <a:latin typeface="Calibri" pitchFamily="34" charset="0"/>
                <a:ea typeface="Calibri" pitchFamily="34" charset="-122"/>
                <a:cs typeface="Calibri" pitchFamily="34" charset="-120"/>
              </a:rPr>
              <a:t>Selected optimal K is 5</a:t>
            </a:r>
            <a:endParaRPr lang="en-US" sz="1300" dirty="0"/>
          </a:p>
        </p:txBody>
      </p:sp>
      <p:sp>
        <p:nvSpPr>
          <p:cNvPr id="31" name="card"/>
          <p:cNvSpPr/>
          <p:nvPr/>
        </p:nvSpPr>
        <p:spPr>
          <a:xfrm>
            <a:off x="548640" y="4764024"/>
            <a:ext cx="5486400" cy="530352"/>
          </a:xfrm>
          <a:prstGeom prst="roundRect">
            <a:avLst>
              <a:gd name="adj" fmla="val 6897"/>
            </a:avLst>
          </a:prstGeom>
          <a:solidFill>
            <a:srgbClr val="FFFFFF"/>
          </a:solidFill>
          <a:ln w="9525">
            <a:solidFill>
              <a:srgbClr val="D3DAE5"/>
            </a:solidFill>
            <a:prstDash val="solid"/>
          </a:ln>
        </p:spPr>
      </p:sp>
      <p:pic>
        <p:nvPicPr>
          <p:cNvPr id="32" name="Image 7" descr="ok"/>
          <p:cNvPicPr>
            <a:picLocks noChangeAspect="1"/>
          </p:cNvPicPr>
          <p:nvPr/>
        </p:nvPicPr>
        <p:blipFill>
          <a:blip r:embed="rId3"/>
          <a:stretch>
            <a:fillRect/>
          </a:stretch>
        </p:blipFill>
        <p:spPr>
          <a:xfrm>
            <a:off x="713232" y="4901184"/>
            <a:ext cx="256032" cy="256032"/>
          </a:xfrm>
          <a:prstGeom prst="rect">
            <a:avLst/>
          </a:prstGeom>
        </p:spPr>
      </p:pic>
      <p:sp>
        <p:nvSpPr>
          <p:cNvPr id="33" name="Text 23"/>
          <p:cNvSpPr txBox="1"/>
          <p:nvPr/>
        </p:nvSpPr>
        <p:spPr>
          <a:xfrm>
            <a:off x="1115568" y="4764024"/>
            <a:ext cx="4800600" cy="530352"/>
          </a:xfrm>
          <a:prstGeom prst="rect">
            <a:avLst/>
          </a:prstGeom>
          <a:noFill/>
          <a:ln/>
        </p:spPr>
        <p:txBody>
          <a:bodyPr wrap="square" lIns="0" tIns="0" rIns="0" bIns="0" rtlCol="0" anchor="ctr"/>
          <a:lstStyle/>
          <a:p>
            <a:pPr marL="0" indent="0">
              <a:buNone/>
            </a:pPr>
            <a:r>
              <a:rPr lang="en-US" sz="1300" dirty="0">
                <a:solidFill>
                  <a:srgbClr val="1F2937"/>
                </a:solidFill>
                <a:latin typeface="Calibri" pitchFamily="34" charset="0"/>
                <a:ea typeface="Calibri" pitchFamily="34" charset="-122"/>
                <a:cs typeface="Calibri" pitchFamily="34" charset="-120"/>
              </a:rPr>
              <a:t>K-Means model has 5 clusters</a:t>
            </a:r>
            <a:endParaRPr lang="en-US" sz="1300" dirty="0"/>
          </a:p>
        </p:txBody>
      </p:sp>
      <p:sp>
        <p:nvSpPr>
          <p:cNvPr id="34" name="card"/>
          <p:cNvSpPr/>
          <p:nvPr/>
        </p:nvSpPr>
        <p:spPr>
          <a:xfrm>
            <a:off x="6172200" y="4764024"/>
            <a:ext cx="5486400" cy="530352"/>
          </a:xfrm>
          <a:prstGeom prst="roundRect">
            <a:avLst>
              <a:gd name="adj" fmla="val 6897"/>
            </a:avLst>
          </a:prstGeom>
          <a:solidFill>
            <a:srgbClr val="FFFFFF"/>
          </a:solidFill>
          <a:ln w="9525">
            <a:solidFill>
              <a:srgbClr val="D3DAE5"/>
            </a:solidFill>
            <a:prstDash val="solid"/>
          </a:ln>
        </p:spPr>
      </p:sp>
      <p:pic>
        <p:nvPicPr>
          <p:cNvPr id="35" name="Image 8" descr="ok"/>
          <p:cNvPicPr>
            <a:picLocks noChangeAspect="1"/>
          </p:cNvPicPr>
          <p:nvPr/>
        </p:nvPicPr>
        <p:blipFill>
          <a:blip r:embed="rId3"/>
          <a:stretch>
            <a:fillRect/>
          </a:stretch>
        </p:blipFill>
        <p:spPr>
          <a:xfrm>
            <a:off x="6336792" y="4901184"/>
            <a:ext cx="256032" cy="256032"/>
          </a:xfrm>
          <a:prstGeom prst="rect">
            <a:avLst/>
          </a:prstGeom>
        </p:spPr>
      </p:pic>
      <p:sp>
        <p:nvSpPr>
          <p:cNvPr id="36" name="Text 25"/>
          <p:cNvSpPr txBox="1"/>
          <p:nvPr/>
        </p:nvSpPr>
        <p:spPr>
          <a:xfrm>
            <a:off x="6739128" y="4764024"/>
            <a:ext cx="4800600" cy="530352"/>
          </a:xfrm>
          <a:prstGeom prst="rect">
            <a:avLst/>
          </a:prstGeom>
          <a:noFill/>
          <a:ln/>
        </p:spPr>
        <p:txBody>
          <a:bodyPr wrap="square" lIns="0" tIns="0" rIns="0" bIns="0" rtlCol="0" anchor="ctr"/>
          <a:lstStyle/>
          <a:p>
            <a:pPr marL="0" indent="0">
              <a:buNone/>
            </a:pPr>
            <a:r>
              <a:rPr lang="en-US" sz="1300" dirty="0">
                <a:solidFill>
                  <a:srgbClr val="1F2937"/>
                </a:solidFill>
                <a:latin typeface="Calibri" pitchFamily="34" charset="0"/>
                <a:ea typeface="Calibri" pitchFamily="34" charset="-122"/>
                <a:cs typeface="Calibri" pitchFamily="34" charset="-120"/>
              </a:rPr>
              <a:t>K-Medoids artifact has 5 medoids</a:t>
            </a:r>
            <a:endParaRPr lang="en-US" sz="1300" dirty="0"/>
          </a:p>
        </p:txBody>
      </p:sp>
      <p:sp>
        <p:nvSpPr>
          <p:cNvPr id="37" name="card"/>
          <p:cNvSpPr/>
          <p:nvPr/>
        </p:nvSpPr>
        <p:spPr>
          <a:xfrm>
            <a:off x="548640" y="5385816"/>
            <a:ext cx="5486400" cy="530352"/>
          </a:xfrm>
          <a:prstGeom prst="roundRect">
            <a:avLst>
              <a:gd name="adj" fmla="val 6897"/>
            </a:avLst>
          </a:prstGeom>
          <a:solidFill>
            <a:srgbClr val="FFFFFF"/>
          </a:solidFill>
          <a:ln w="9525">
            <a:solidFill>
              <a:srgbClr val="D3DAE5"/>
            </a:solidFill>
            <a:prstDash val="solid"/>
          </a:ln>
        </p:spPr>
      </p:sp>
      <p:pic>
        <p:nvPicPr>
          <p:cNvPr id="38" name="Image 9" descr="ok"/>
          <p:cNvPicPr>
            <a:picLocks noChangeAspect="1"/>
          </p:cNvPicPr>
          <p:nvPr/>
        </p:nvPicPr>
        <p:blipFill>
          <a:blip r:embed="rId3"/>
          <a:stretch>
            <a:fillRect/>
          </a:stretch>
        </p:blipFill>
        <p:spPr>
          <a:xfrm>
            <a:off x="713232" y="5522976"/>
            <a:ext cx="256032" cy="256032"/>
          </a:xfrm>
          <a:prstGeom prst="rect">
            <a:avLst/>
          </a:prstGeom>
        </p:spPr>
      </p:pic>
      <p:sp>
        <p:nvSpPr>
          <p:cNvPr id="39" name="Text 27"/>
          <p:cNvSpPr txBox="1"/>
          <p:nvPr/>
        </p:nvSpPr>
        <p:spPr>
          <a:xfrm>
            <a:off x="1115568" y="5385816"/>
            <a:ext cx="4800600" cy="530352"/>
          </a:xfrm>
          <a:prstGeom prst="rect">
            <a:avLst/>
          </a:prstGeom>
          <a:noFill/>
          <a:ln/>
        </p:spPr>
        <p:txBody>
          <a:bodyPr wrap="square" lIns="0" tIns="0" rIns="0" bIns="0" rtlCol="0" anchor="ctr"/>
          <a:lstStyle/>
          <a:p>
            <a:pPr marL="0" indent="0">
              <a:buNone/>
            </a:pPr>
            <a:r>
              <a:rPr lang="en-US" sz="1300" dirty="0">
                <a:solidFill>
                  <a:srgbClr val="1F2937"/>
                </a:solidFill>
                <a:latin typeface="Calibri" pitchFamily="34" charset="0"/>
                <a:ea typeface="Calibri" pitchFamily="34" charset="-122"/>
                <a:cs typeface="Calibri" pitchFamily="34" charset="-120"/>
              </a:rPr>
              <a:t>K-Means assigns every customer to a cluster 0–4</a:t>
            </a:r>
            <a:endParaRPr lang="en-US" sz="1300" dirty="0"/>
          </a:p>
        </p:txBody>
      </p:sp>
      <p:sp>
        <p:nvSpPr>
          <p:cNvPr id="40" name="card"/>
          <p:cNvSpPr/>
          <p:nvPr/>
        </p:nvSpPr>
        <p:spPr>
          <a:xfrm>
            <a:off x="6172200" y="5385816"/>
            <a:ext cx="5486400" cy="530352"/>
          </a:xfrm>
          <a:prstGeom prst="roundRect">
            <a:avLst>
              <a:gd name="adj" fmla="val 6897"/>
            </a:avLst>
          </a:prstGeom>
          <a:solidFill>
            <a:srgbClr val="FFFFFF"/>
          </a:solidFill>
          <a:ln w="9525">
            <a:solidFill>
              <a:srgbClr val="D3DAE5"/>
            </a:solidFill>
            <a:prstDash val="solid"/>
          </a:ln>
        </p:spPr>
      </p:sp>
      <p:pic>
        <p:nvPicPr>
          <p:cNvPr id="41" name="Image 10" descr="ok"/>
          <p:cNvPicPr>
            <a:picLocks noChangeAspect="1"/>
          </p:cNvPicPr>
          <p:nvPr/>
        </p:nvPicPr>
        <p:blipFill>
          <a:blip r:embed="rId3"/>
          <a:stretch>
            <a:fillRect/>
          </a:stretch>
        </p:blipFill>
        <p:spPr>
          <a:xfrm>
            <a:off x="6336792" y="5522976"/>
            <a:ext cx="256032" cy="256032"/>
          </a:xfrm>
          <a:prstGeom prst="rect">
            <a:avLst/>
          </a:prstGeom>
        </p:spPr>
      </p:pic>
      <p:sp>
        <p:nvSpPr>
          <p:cNvPr id="42" name="Text 29"/>
          <p:cNvSpPr txBox="1"/>
          <p:nvPr/>
        </p:nvSpPr>
        <p:spPr>
          <a:xfrm>
            <a:off x="6739128" y="5385816"/>
            <a:ext cx="4800600" cy="530352"/>
          </a:xfrm>
          <a:prstGeom prst="rect">
            <a:avLst/>
          </a:prstGeom>
          <a:noFill/>
          <a:ln/>
        </p:spPr>
        <p:txBody>
          <a:bodyPr wrap="square" lIns="0" tIns="0" rIns="0" bIns="0" rtlCol="0" anchor="ctr"/>
          <a:lstStyle/>
          <a:p>
            <a:pPr marL="0" indent="0">
              <a:buNone/>
            </a:pPr>
            <a:r>
              <a:rPr lang="en-US" sz="1300" dirty="0">
                <a:solidFill>
                  <a:srgbClr val="1F2937"/>
                </a:solidFill>
                <a:latin typeface="Calibri" pitchFamily="34" charset="0"/>
                <a:ea typeface="Calibri" pitchFamily="34" charset="-122"/>
                <a:cs typeface="Calibri" pitchFamily="34" charset="-120"/>
              </a:rPr>
              <a:t>K-Medoids assigns every customer to a cluster 0–4</a:t>
            </a:r>
            <a:endParaRPr lang="en-US" sz="1300" dirty="0"/>
          </a:p>
        </p:txBody>
      </p:sp>
      <p:sp>
        <p:nvSpPr>
          <p:cNvPr id="43" name="Text 30"/>
          <p:cNvSpPr txBox="1"/>
          <p:nvPr/>
        </p:nvSpPr>
        <p:spPr>
          <a:xfrm>
            <a:off x="548640" y="6035040"/>
            <a:ext cx="11064240" cy="365760"/>
          </a:xfrm>
          <a:prstGeom prst="rect">
            <a:avLst/>
          </a:prstGeom>
          <a:noFill/>
          <a:ln/>
        </p:spPr>
        <p:txBody>
          <a:bodyPr wrap="square" lIns="0" tIns="0" rIns="0" bIns="0" rtlCol="0" anchor="t"/>
          <a:lstStyle/>
          <a:p>
            <a:pPr marL="0" indent="0">
              <a:buNone/>
            </a:pPr>
            <a:r>
              <a:rPr lang="en-US" sz="1100" dirty="0">
                <a:solidFill>
                  <a:srgbClr val="5B6678"/>
                </a:solidFill>
                <a:latin typeface="Calibri" pitchFamily="34" charset="0"/>
                <a:ea typeface="Calibri" pitchFamily="34" charset="-122"/>
                <a:cs typeface="Calibri" pitchFamily="34" charset="-120"/>
              </a:rPr>
              <a:t>Tests validate configuration and assignment completeness; clustering quality is assessed separately with Silhouette, Davies-Bouldin and ARI. Reported metrics were cross-checked against the saved cluster assignments.</a:t>
            </a:r>
            <a:endParaRPr lang="en-US" sz="1100" dirty="0"/>
          </a:p>
        </p:txBody>
      </p:sp>
      <p:sp>
        <p:nvSpPr>
          <p:cNvPr id="44"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8599"/>
                </a:solidFill>
                <a:latin typeface="Calibri"/>
                <a:ea typeface="Calibri"/>
                <a:cs typeface="Calibri"/>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64240" cy="777240"/>
          </a:xfrm>
          <a:prstGeom prst="rect">
            <a:avLst/>
          </a:prstGeom>
          <a:noFill/>
          <a:ln/>
        </p:spPr>
        <p:txBody>
          <a:bodyPr wrap="square" lIns="0" tIns="0" rIns="0" bIns="0" rtlCol="0" anchor="ctr"/>
          <a:lstStyle/>
          <a:p>
            <a:pPr marL="0" indent="0">
              <a:buNone/>
            </a:pPr>
            <a:r>
              <a:rPr lang="en-US" sz="3200" b="1" dirty="0">
                <a:solidFill>
                  <a:srgbClr val="1F2937"/>
                </a:solidFill>
                <a:latin typeface="Cambria" pitchFamily="34" charset="0"/>
                <a:ea typeface="Cambria" pitchFamily="34" charset="-122"/>
                <a:cs typeface="Cambria" pitchFamily="34" charset="-120"/>
              </a:rPr>
              <a:t>Conclusion and Future Scope</a:t>
            </a:r>
            <a:endParaRPr lang="en-US" sz="3200" dirty="0"/>
          </a:p>
        </p:txBody>
      </p:sp>
      <p:sp>
        <p:nvSpPr>
          <p:cNvPr id="3" name="card"/>
          <p:cNvSpPr/>
          <p:nvPr/>
        </p:nvSpPr>
        <p:spPr>
          <a:xfrm>
            <a:off x="548640" y="1371600"/>
            <a:ext cx="6309360" cy="4800600"/>
          </a:xfrm>
          <a:prstGeom prst="roundRect">
            <a:avLst>
              <a:gd name="adj" fmla="val 762"/>
            </a:avLst>
          </a:prstGeom>
          <a:solidFill>
            <a:srgbClr val="FFFFFF"/>
          </a:solidFill>
          <a:ln w="9525">
            <a:solidFill>
              <a:srgbClr val="D3DAE5"/>
            </a:solidFill>
            <a:prstDash val="solid"/>
          </a:ln>
        </p:spPr>
      </p:sp>
      <p:pic>
        <p:nvPicPr>
          <p:cNvPr id="4" name="Image 0" descr="conclusion"/>
          <p:cNvPicPr>
            <a:picLocks noChangeAspect="1"/>
          </p:cNvPicPr>
          <p:nvPr/>
        </p:nvPicPr>
        <p:blipFill>
          <a:blip r:embed="rId3"/>
          <a:stretch>
            <a:fillRect/>
          </a:stretch>
        </p:blipFill>
        <p:spPr>
          <a:xfrm>
            <a:off x="777240" y="1572768"/>
            <a:ext cx="365760" cy="365760"/>
          </a:xfrm>
          <a:prstGeom prst="rect">
            <a:avLst/>
          </a:prstGeom>
        </p:spPr>
      </p:pic>
      <p:sp>
        <p:nvSpPr>
          <p:cNvPr id="5" name="Text 2"/>
          <p:cNvSpPr txBox="1"/>
          <p:nvPr/>
        </p:nvSpPr>
        <p:spPr>
          <a:xfrm>
            <a:off x="1280160" y="1554480"/>
            <a:ext cx="5303520" cy="411480"/>
          </a:xfrm>
          <a:prstGeom prst="rect">
            <a:avLst/>
          </a:prstGeom>
          <a:noFill/>
          <a:ln/>
        </p:spPr>
        <p:txBody>
          <a:bodyPr wrap="square" lIns="0" tIns="0" rIns="0" bIns="0" rtlCol="0" anchor="ctr"/>
          <a:lstStyle/>
          <a:p>
            <a:pPr marL="0" indent="0">
              <a:buNone/>
            </a:pPr>
            <a:r>
              <a:rPr lang="en-US" sz="2000" b="1" dirty="0">
                <a:solidFill>
                  <a:srgbClr val="1F2937"/>
                </a:solidFill>
                <a:latin typeface="Cambria" pitchFamily="34" charset="0"/>
                <a:ea typeface="Cambria" pitchFamily="34" charset="-122"/>
                <a:cs typeface="Cambria" pitchFamily="34" charset="-120"/>
              </a:rPr>
              <a:t>What was achieved</a:t>
            </a:r>
            <a:endParaRPr lang="en-US" sz="2000" dirty="0"/>
          </a:p>
        </p:txBody>
      </p:sp>
      <p:sp>
        <p:nvSpPr>
          <p:cNvPr id="6" name="Text 3"/>
          <p:cNvSpPr txBox="1"/>
          <p:nvPr/>
        </p:nvSpPr>
        <p:spPr>
          <a:xfrm>
            <a:off x="777240" y="2148840"/>
            <a:ext cx="5852160" cy="3931920"/>
          </a:xfrm>
          <a:prstGeom prst="rect">
            <a:avLst/>
          </a:prstGeom>
          <a:noFill/>
          <a:ln/>
        </p:spPr>
        <p:txBody>
          <a:bodyPr wrap="square" lIns="0" tIns="0" rIns="0" bIns="0" rtlCol="0" anchor="t"/>
          <a:lstStyle/>
          <a:p>
            <a:pPr marL="342900" indent="-342900">
              <a:spcAft>
                <a:spcPts val="900"/>
              </a:spcAft>
              <a:buSzPct val="100000"/>
              <a:buChar char="•"/>
            </a:pPr>
            <a:r>
              <a:rPr lang="en-US" sz="1600" dirty="0">
                <a:solidFill>
                  <a:srgbClr val="374151"/>
                </a:solidFill>
                <a:latin typeface="Calibri" pitchFamily="34" charset="0"/>
                <a:ea typeface="Calibri" pitchFamily="34" charset="-122"/>
                <a:cs typeface="Calibri" pitchFamily="34" charset="-120"/>
              </a:rPr>
              <a:t>End-to-end pipeline on 200 customers: quality checks, scaling, clustering, profiling</a:t>
            </a:r>
            <a:endParaRPr lang="en-US" sz="1600" dirty="0"/>
          </a:p>
          <a:p>
            <a:pPr marL="342900" indent="-342900">
              <a:spcAft>
                <a:spcPts val="900"/>
              </a:spcAft>
              <a:buSzPct val="100000"/>
              <a:buChar char="•"/>
            </a:pPr>
            <a:r>
              <a:rPr lang="en-US" sz="1600" dirty="0">
                <a:solidFill>
                  <a:srgbClr val="374151"/>
                </a:solidFill>
                <a:latin typeface="Calibri" pitchFamily="34" charset="0"/>
                <a:ea typeface="Calibri" pitchFamily="34" charset="-122"/>
                <a:cs typeface="Calibri" pitchFamily="34" charset="-120"/>
              </a:rPr>
              <a:t>K = 5 selected for both algorithms using Silhouette and Davies-Bouldin, supported by objective curves</a:t>
            </a:r>
            <a:endParaRPr lang="en-US" sz="1600" dirty="0"/>
          </a:p>
          <a:p>
            <a:pPr marL="342900" indent="-342900">
              <a:spcAft>
                <a:spcPts val="900"/>
              </a:spcAft>
              <a:buSzPct val="100000"/>
              <a:buChar char="•"/>
            </a:pPr>
            <a:r>
              <a:rPr lang="en-US" sz="1600" dirty="0">
                <a:solidFill>
                  <a:srgbClr val="374151"/>
                </a:solidFill>
                <a:latin typeface="Calibri" pitchFamily="34" charset="0"/>
                <a:ea typeface="Calibri" pitchFamily="34" charset="-122"/>
                <a:cs typeface="Calibri" pitchFamily="34" charset="-120"/>
              </a:rPr>
              <a:t>K-Means and K-Medoids (PAM) produced very similar partitions (ARI 0.9597); K-Medoids was marginally better on both quality measures here</a:t>
            </a:r>
            <a:endParaRPr lang="en-US" sz="1600" dirty="0"/>
          </a:p>
          <a:p>
            <a:pPr marL="342900" indent="-342900">
              <a:spcAft>
                <a:spcPts val="900"/>
              </a:spcAft>
              <a:buSzPct val="100000"/>
              <a:buChar char="•"/>
            </a:pPr>
            <a:r>
              <a:rPr lang="en-US" sz="1600" dirty="0">
                <a:solidFill>
                  <a:srgbClr val="374151"/>
                </a:solidFill>
                <a:latin typeface="Calibri" pitchFamily="34" charset="0"/>
                <a:ea typeface="Calibri" pitchFamily="34" charset="-122"/>
                <a:cs typeface="Calibri" pitchFamily="34" charset="-120"/>
              </a:rPr>
              <a:t>Five descriptive segments profiled by size, income, spending and age</a:t>
            </a:r>
            <a:endParaRPr lang="en-US" sz="1600" dirty="0"/>
          </a:p>
          <a:p>
            <a:pPr marL="342900" indent="-342900">
              <a:spcAft>
                <a:spcPts val="900"/>
              </a:spcAft>
              <a:buSzPct val="100000"/>
              <a:buChar char="•"/>
            </a:pPr>
            <a:r>
              <a:rPr lang="en-US" sz="1600" dirty="0">
                <a:solidFill>
                  <a:srgbClr val="374151"/>
                </a:solidFill>
                <a:latin typeface="Calibri" pitchFamily="34" charset="0"/>
                <a:ea typeface="Calibri" pitchFamily="34" charset="-122"/>
                <a:cs typeface="Calibri" pitchFamily="34" charset="-120"/>
              </a:rPr>
              <a:t>Streamlit and React dashboards expose the validated results; 8/8 tests passed</a:t>
            </a:r>
            <a:endParaRPr lang="en-US" sz="1600" dirty="0"/>
          </a:p>
        </p:txBody>
      </p:sp>
      <p:sp>
        <p:nvSpPr>
          <p:cNvPr id="7" name="card"/>
          <p:cNvSpPr/>
          <p:nvPr/>
        </p:nvSpPr>
        <p:spPr>
          <a:xfrm>
            <a:off x="7132320" y="1371600"/>
            <a:ext cx="4526280" cy="3337560"/>
          </a:xfrm>
          <a:prstGeom prst="roundRect">
            <a:avLst>
              <a:gd name="adj" fmla="val 1096"/>
            </a:avLst>
          </a:prstGeom>
          <a:solidFill>
            <a:srgbClr val="EDF1F7"/>
          </a:solidFill>
          <a:ln w="9525">
            <a:solidFill>
              <a:srgbClr val="6B5CA5"/>
            </a:solidFill>
            <a:prstDash val="solid"/>
          </a:ln>
        </p:spPr>
      </p:sp>
      <p:pic>
        <p:nvPicPr>
          <p:cNvPr id="8" name="Image 1" descr="future"/>
          <p:cNvPicPr>
            <a:picLocks noChangeAspect="1"/>
          </p:cNvPicPr>
          <p:nvPr/>
        </p:nvPicPr>
        <p:blipFill>
          <a:blip r:embed="rId4"/>
          <a:stretch>
            <a:fillRect/>
          </a:stretch>
        </p:blipFill>
        <p:spPr>
          <a:xfrm>
            <a:off x="7360920" y="1572768"/>
            <a:ext cx="365760" cy="365760"/>
          </a:xfrm>
          <a:prstGeom prst="rect">
            <a:avLst/>
          </a:prstGeom>
        </p:spPr>
      </p:pic>
      <p:sp>
        <p:nvSpPr>
          <p:cNvPr id="9" name="Text 5"/>
          <p:cNvSpPr txBox="1"/>
          <p:nvPr/>
        </p:nvSpPr>
        <p:spPr>
          <a:xfrm>
            <a:off x="7863840" y="1554480"/>
            <a:ext cx="3657600" cy="411480"/>
          </a:xfrm>
          <a:prstGeom prst="rect">
            <a:avLst/>
          </a:prstGeom>
          <a:noFill/>
          <a:ln/>
        </p:spPr>
        <p:txBody>
          <a:bodyPr wrap="square" lIns="0" tIns="0" rIns="0" bIns="0" rtlCol="0" anchor="ctr"/>
          <a:lstStyle/>
          <a:p>
            <a:pPr marL="0" indent="0">
              <a:buNone/>
            </a:pPr>
            <a:r>
              <a:rPr lang="en-US" sz="1800" b="1" dirty="0">
                <a:solidFill>
                  <a:srgbClr val="6B5CA5"/>
                </a:solidFill>
                <a:latin typeface="Cambria" pitchFamily="34" charset="0"/>
                <a:ea typeface="Cambria" pitchFamily="34" charset="-122"/>
                <a:cs typeface="Cambria" pitchFamily="34" charset="-120"/>
              </a:rPr>
              <a:t>Future scope (not implemented)</a:t>
            </a:r>
            <a:endParaRPr lang="en-US" sz="1800" dirty="0"/>
          </a:p>
        </p:txBody>
      </p:sp>
      <p:sp>
        <p:nvSpPr>
          <p:cNvPr id="10" name="Text 6"/>
          <p:cNvSpPr txBox="1"/>
          <p:nvPr/>
        </p:nvSpPr>
        <p:spPr>
          <a:xfrm>
            <a:off x="7360920" y="2194560"/>
            <a:ext cx="4114800" cy="23774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374151"/>
                </a:solidFill>
                <a:latin typeface="Calibri" pitchFamily="34" charset="0"/>
                <a:ea typeface="Calibri" pitchFamily="34" charset="-122"/>
                <a:cs typeface="Calibri" pitchFamily="34" charset="-120"/>
              </a:rPr>
              <a:t>Larger, real-world customer data</a:t>
            </a:r>
            <a:endParaRPr lang="en-US" sz="1400" dirty="0"/>
          </a:p>
          <a:p>
            <a:pPr marL="342900" indent="-342900">
              <a:spcAft>
                <a:spcPts val="600"/>
              </a:spcAft>
              <a:buSzPct val="100000"/>
              <a:buChar char="•"/>
            </a:pPr>
            <a:r>
              <a:rPr lang="en-US" sz="1400" dirty="0">
                <a:solidFill>
                  <a:srgbClr val="374151"/>
                </a:solidFill>
                <a:latin typeface="Calibri" pitchFamily="34" charset="0"/>
                <a:ea typeface="Calibri" pitchFamily="34" charset="-122"/>
                <a:cs typeface="Calibri" pitchFamily="34" charset="-120"/>
              </a:rPr>
              <a:t>Additional behavioural features</a:t>
            </a:r>
            <a:endParaRPr lang="en-US" sz="1400" dirty="0"/>
          </a:p>
          <a:p>
            <a:pPr marL="342900" indent="-342900">
              <a:spcAft>
                <a:spcPts val="600"/>
              </a:spcAft>
              <a:buSzPct val="100000"/>
              <a:buChar char="•"/>
            </a:pPr>
            <a:r>
              <a:rPr lang="en-US" sz="1400" dirty="0">
                <a:solidFill>
                  <a:srgbClr val="374151"/>
                </a:solidFill>
                <a:latin typeface="Calibri" pitchFamily="34" charset="0"/>
                <a:ea typeface="Calibri" pitchFamily="34" charset="-122"/>
                <a:cs typeface="Calibri" pitchFamily="34" charset="-120"/>
              </a:rPr>
              <a:t>Temporal customer behaviour</a:t>
            </a:r>
            <a:endParaRPr lang="en-US" sz="1400" dirty="0"/>
          </a:p>
          <a:p>
            <a:pPr marL="342900" indent="-342900">
              <a:spcAft>
                <a:spcPts val="600"/>
              </a:spcAft>
              <a:buSzPct val="100000"/>
              <a:buChar char="•"/>
            </a:pPr>
            <a:r>
              <a:rPr lang="en-US" sz="1400" dirty="0">
                <a:solidFill>
                  <a:srgbClr val="374151"/>
                </a:solidFill>
                <a:latin typeface="Calibri" pitchFamily="34" charset="0"/>
                <a:ea typeface="Calibri" pitchFamily="34" charset="-122"/>
                <a:cs typeface="Calibri" pitchFamily="34" charset="-120"/>
              </a:rPr>
              <a:t>Deployment and monitoring</a:t>
            </a:r>
            <a:endParaRPr lang="en-US" sz="1400" dirty="0"/>
          </a:p>
          <a:p>
            <a:pPr marL="342900" indent="-342900">
              <a:spcAft>
                <a:spcPts val="600"/>
              </a:spcAft>
              <a:buSzPct val="100000"/>
              <a:buChar char="•"/>
            </a:pPr>
            <a:r>
              <a:rPr lang="en-US" sz="1400" dirty="0">
                <a:solidFill>
                  <a:srgbClr val="374151"/>
                </a:solidFill>
                <a:latin typeface="Calibri" pitchFamily="34" charset="0"/>
                <a:ea typeface="Calibri" pitchFamily="34" charset="-122"/>
                <a:cs typeface="Calibri" pitchFamily="34" charset="-120"/>
              </a:rPr>
              <a:t>Richer segmentation features</a:t>
            </a:r>
            <a:endParaRPr lang="en-US" sz="1400" dirty="0"/>
          </a:p>
        </p:txBody>
      </p:sp>
      <p:sp>
        <p:nvSpPr>
          <p:cNvPr id="11" name="card"/>
          <p:cNvSpPr/>
          <p:nvPr/>
        </p:nvSpPr>
        <p:spPr>
          <a:xfrm>
            <a:off x="7132320" y="4846320"/>
            <a:ext cx="4526280" cy="1325880"/>
          </a:xfrm>
          <a:prstGeom prst="roundRect">
            <a:avLst>
              <a:gd name="adj" fmla="val 2759"/>
            </a:avLst>
          </a:prstGeom>
          <a:solidFill>
            <a:srgbClr val="FFF6E0"/>
          </a:solidFill>
          <a:ln w="9525">
            <a:solidFill>
              <a:srgbClr val="B7791F"/>
            </a:solidFill>
            <a:prstDash val="solid"/>
          </a:ln>
        </p:spPr>
      </p:sp>
      <p:sp>
        <p:nvSpPr>
          <p:cNvPr id="12" name="Text 8"/>
          <p:cNvSpPr txBox="1"/>
          <p:nvPr/>
        </p:nvSpPr>
        <p:spPr>
          <a:xfrm>
            <a:off x="7315200" y="4892040"/>
            <a:ext cx="4160520" cy="1234440"/>
          </a:xfrm>
          <a:prstGeom prst="rect">
            <a:avLst/>
          </a:prstGeom>
          <a:noFill/>
          <a:ln/>
        </p:spPr>
        <p:txBody>
          <a:bodyPr wrap="square" lIns="0" tIns="0" rIns="0" bIns="0" rtlCol="0" anchor="ctr"/>
          <a:lstStyle/>
          <a:p>
            <a:pPr marL="0" indent="0">
              <a:buNone/>
            </a:pPr>
            <a:r>
              <a:rPr lang="en-US" sz="1200" b="1" dirty="0">
                <a:solidFill>
                  <a:srgbClr val="B7791F"/>
                </a:solidFill>
                <a:latin typeface="Calibri" pitchFamily="34" charset="0"/>
                <a:ea typeface="Calibri" pitchFamily="34" charset="-122"/>
                <a:cs typeface="Calibri" pitchFamily="34" charset="-120"/>
              </a:rPr>
              <a:t>Limitations: </a:t>
            </a:r>
            <a:r>
              <a:rPr lang="en-US" sz="1200" dirty="0">
                <a:solidFill>
                  <a:srgbClr val="6B4E0E"/>
                </a:solidFill>
                <a:latin typeface="Calibri" pitchFamily="34" charset="0"/>
                <a:ea typeface="Calibri" pitchFamily="34" charset="-122"/>
                <a:cs typeface="Calibri" pitchFamily="34" charset="-120"/>
              </a:rPr>
              <a:t>only 200 customers and two features; Spending Score is a dataset-supplied behavioural score; segments are interpretations, not ground truth; no prediction of future behaviour.</a:t>
            </a:r>
            <a:endParaRPr lang="en-US" sz="12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8599"/>
                </a:solidFill>
                <a:latin typeface="Calibri"/>
                <a:ea typeface="Calibri"/>
                <a:cs typeface="Calibri"/>
              </a:defRPr>
            </a:lvl1pPr>
          </a:lstStyle>
          <a:p>
            <a:pPr algn="r"/>
            <a:fld id="{F7021451-1387-4CA6-816F-3879F97B5CBC}" type="slidenum">
              <a:rPr lang="en-US" b="0"/>
              <a:t>16</a:t>
            </a:fld>
            <a:endParaRPr lang="en-US"/>
          </a:p>
        </p:txBody>
      </p:sp>
    </p:spTree>
  </p:cSld>
  <p:clrMapOvr>
    <a:masterClrMapping/>
  </p:clrMapOvr>
</p:sld>
</file>

<file path=ppt/theme/theme1.xml><?xml version="1.0" encoding="utf-8"?>
<a:theme xmlns:a="http://schemas.openxmlformats.org/drawingml/2006/main" name="CustomerLens Light">
  <a:themeElements>
    <a:clrScheme name="CustomerLens Light">
      <a:dk1>
        <a:srgbClr val="1F2937"/>
      </a:dk1>
      <a:lt1>
        <a:srgbClr val="FFFFFF"/>
      </a:lt1>
      <a:dk2>
        <a:srgbClr val="5B6678"/>
      </a:dk2>
      <a:lt2>
        <a:srgbClr val="F6F7F9"/>
      </a:lt2>
      <a:accent1>
        <a:srgbClr val="2F5D8C"/>
      </a:accent1>
      <a:accent2>
        <a:srgbClr val="3B6EA8"/>
      </a:accent2>
      <a:accent3>
        <a:srgbClr val="6B5CA5"/>
      </a:accent3>
      <a:accent4>
        <a:srgbClr val="2E7D5B"/>
      </a:accent4>
      <a:accent5>
        <a:srgbClr val="B7791F"/>
      </a:accent5>
      <a:accent6>
        <a:srgbClr val="F472B6"/>
      </a:accent6>
      <a:hlink>
        <a:srgbClr val="2F5D8C"/>
      </a:hlink>
      <a:folHlink>
        <a:srgbClr val="6B5CA5"/>
      </a:folHlink>
    </a:clrScheme>
    <a:fontScheme name="CustomerLens Ligh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3374</Words>
  <Application>Microsoft Office PowerPoint</Application>
  <PresentationFormat>Widescreen</PresentationFormat>
  <Paragraphs>482</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vt:lpstr>
      <vt:lpstr>CustomerLens Light</vt:lpstr>
      <vt:lpstr>PowerPoint Presentation</vt:lpstr>
      <vt:lpstr>Problem Statement</vt:lpstr>
      <vt:lpstr>Objectives</vt:lpstr>
      <vt:lpstr>Dataset: Mall Customer Segmentation Data</vt:lpstr>
      <vt:lpstr>Data Preprocessing and EDA</vt:lpstr>
      <vt:lpstr>Methodology Pipeline</vt:lpstr>
      <vt:lpstr>Optimal K Selection: K = 5 (best of K = 2…10)</vt:lpstr>
      <vt:lpstr>K-Means Segmentation: Income vs Spending Score</vt:lpstr>
      <vt:lpstr>K-Medoids (PAM) Segmentation</vt:lpstr>
      <vt:lpstr>Cluster Profiles (K-Means, K = 5)</vt:lpstr>
      <vt:lpstr>Algorithm Comparison at K = 5</vt:lpstr>
      <vt:lpstr>Business Insights: Descriptive Segments</vt:lpstr>
      <vt:lpstr>CustomerLens Application (React Dashboard)</vt:lpstr>
      <vt:lpstr>Dashboard Detail: Optimal K and Comparison</vt:lpstr>
      <vt:lpstr>Testing and Validation</vt:lpstr>
      <vt:lpstr>Conclusion and Future Scope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CustomerLens — Customer Segmentation Using K-Means and K-Medoids Clustering</dc:title>
  <dc:subject>Data Mining and Data Warehousing — Open Ended Project</dc:subject>
  <dc:creator>CustomerLens OEP Team, SCET</dc:creator>
  <cp:lastModifiedBy>Drashtant Mevada</cp:lastModifiedBy>
  <cp:revision>2</cp:revision>
  <dcterms:created xsi:type="dcterms:W3CDTF">2026-10-24T17:59:18Z</dcterms:created>
  <dcterms:modified xsi:type="dcterms:W3CDTF">2026-10-25T11:45:15Z</dcterms:modified>
</cp:coreProperties>
</file>